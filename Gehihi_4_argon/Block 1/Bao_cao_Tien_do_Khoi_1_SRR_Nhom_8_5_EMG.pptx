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9"/>
  </p:notesMasterIdLst>
  <p:sldIdLst>
    <p:sldId id="256" r:id="rId5"/>
    <p:sldId id="257" r:id="rId23"/>
    <p:sldId id="258" r:id="rId24"/>
    <p:sldId id="259" r:id="rId25"/>
    <p:sldId id="260" r:id="rId26"/>
    <p:sldId id="261" r:id="rId27"/>
    <p:sldId id="262" r:id="rId28"/>
    <p:sldId id="263" r:id="rId22"/>
    <p:sldId id="264" r:id="rId21"/>
    <p:sldId id="265" r:id="rId20"/>
    <p:sldId id="266" r:id="rId19"/>
    <p:sldId id="267" r:id="rId18"/>
    <p:sldId id="268" r:id="rId17"/>
    <p:sldId id="269" r:id="rId16"/>
    <p:sldId id="270" r:id="rId15"/>
    <p:sldId id="271" r:id="rId14"/>
    <p:sldId id="272" r:id="rId13"/>
    <p:sldId id="273" r:id="rId39"/>
    <p:sldId id="274" r:id="rId40"/>
    <p:sldId id="275" r:id="rId41"/>
    <p:sldId id="276" r:id="rId42"/>
    <p:sldId id="277" r:id="rId43"/>
    <p:sldId id="278" r:id="rId44"/>
  </p:sldIdLst>
  <p:sldSz cx="12192000" cy="6858000"/>
  <p:notesSz cx="6858000" cy="9144000"/>
  <p:embeddedFontLst>
    <p:embeddedFont>
      <p:font typeface="Cambria Math" panose="02040503050406030204" pitchFamily="18" charset="0"/>
      <p:regular r:id="rId30"/>
    </p:embeddedFont>
    <p:embeddedFont>
      <p:font typeface="Lato" panose="020F0502020204030203" pitchFamily="34" charset="0"/>
      <p:regular r:id="rId31"/>
      <p:bold r:id="rId32"/>
      <p:italic r:id="rId33"/>
      <p:boldItalic r:id="rId34"/>
    </p:embeddedFont>
    <p:embeddedFont>
      <p:font typeface="Noto Sans Symbols" pitchFamily="2" charset="0"/>
      <p:regular r:id="rId35"/>
      <p:bold r:id="rId36"/>
    </p:embeddedFont>
    <p:embeddedFont>
      <p:font typeface="Play"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jTbylwPHvuKknkjjXrvZp77kea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657A3-E630-4079-906E-AE80930A9115}" v="5" dt="2026-09-23T22:17:49.159"/>
  </p1510:revLst>
</p1510:revInfo>
</file>

<file path=ppt/tableStyles.xml><?xml version="1.0" encoding="utf-8"?>
<a:tblStyleLst xmlns:a="http://schemas.openxmlformats.org/drawingml/2006/main" def="{E41CC682-E587-408B-B26E-CDB9D8103082}">
  <a:tblStyle styleId="{E41CC682-E587-408B-B26E-CDB9D810308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71"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3" Type="http://schemas.openxmlformats.org/officeDocument/2006/relationships/slide" Target="slides/slide17.xml"/><Relationship Id="rId14" Type="http://schemas.openxmlformats.org/officeDocument/2006/relationships/slide" Target="slides/slide16.xml"/><Relationship Id="rId15" Type="http://schemas.openxmlformats.org/officeDocument/2006/relationships/slide" Target="slides/slide15.xml"/><Relationship Id="rId16" Type="http://schemas.openxmlformats.org/officeDocument/2006/relationships/slide" Target="slides/slide14.xml"/><Relationship Id="rId17" Type="http://schemas.openxmlformats.org/officeDocument/2006/relationships/slide" Target="slides/slide13.xml"/><Relationship Id="rId18" Type="http://schemas.openxmlformats.org/officeDocument/2006/relationships/slide" Target="slides/slide12.xml"/><Relationship Id="rId19" Type="http://schemas.openxmlformats.org/officeDocument/2006/relationships/slide" Target="slides/slide11.xml"/><Relationship Id="rId20" Type="http://schemas.openxmlformats.org/officeDocument/2006/relationships/slide" Target="slides/slide10.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notesMaster" Target="notesMasters/notesMaster1.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 Id="rId34" Type="http://schemas.openxmlformats.org/officeDocument/2006/relationships/font" Target="fonts/font5.fntdata"/><Relationship Id="rId35" Type="http://schemas.openxmlformats.org/officeDocument/2006/relationships/font" Target="fonts/font6.fntdata"/><Relationship Id="rId36" Type="http://schemas.openxmlformats.org/officeDocument/2006/relationships/font" Target="fonts/font7.fntdata"/><Relationship Id="rId37" Type="http://schemas.openxmlformats.org/officeDocument/2006/relationships/font" Target="fonts/font8.fntdata"/><Relationship Id="rId38" Type="http://schemas.openxmlformats.org/officeDocument/2006/relationships/font" Target="fonts/font9.fntdata"/><Relationship Id="rId39" Type="http://schemas.openxmlformats.org/officeDocument/2006/relationships/slide" Target="slides/slide18.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22.xml"/><Relationship Id="rId44" Type="http://schemas.openxmlformats.org/officeDocument/2006/relationships/slide" Target="slides/slide23.xml"/><Relationship Id="rId53" Type="http://customschemas.google.com/relationships/presentationmetadata" Target="meta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microsoft.com/office/2016/11/relationships/changesInfo" Target="changesInfos/changesInfo1.xml"/><Relationship Id="rId5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hiem Trong Dong 20232001" userId="56e34706-450f-47f0-870f-bffa4484e1b2" providerId="ADAL" clId="{B5C36D3C-48DE-49DA-B118-220276D09E4E}"/>
    <pc:docChg chg="addSld delSld modSld">
      <pc:chgData name="Nghiem Trong Dong 20232001" userId="56e34706-450f-47f0-870f-bffa4484e1b2" providerId="ADAL" clId="{B5C36D3C-48DE-49DA-B118-220276D09E4E}" dt="2026-09-23T22:20:34.519" v="8" actId="47"/>
      <pc:docMkLst>
        <pc:docMk/>
      </pc:docMkLst>
      <pc:sldChg chg="addSp">
        <pc:chgData name="Nghiem Trong Dong 20232001" userId="56e34706-450f-47f0-870f-bffa4484e1b2" providerId="ADAL" clId="{B5C36D3C-48DE-49DA-B118-220276D09E4E}" dt="2026-09-23T22:12:40.610" v="0"/>
        <pc:sldMkLst>
          <pc:docMk/>
          <pc:sldMk cId="0" sldId="262"/>
        </pc:sldMkLst>
        <pc:picChg chg="add">
          <ac:chgData name="Nghiem Trong Dong 20232001" userId="56e34706-450f-47f0-870f-bffa4484e1b2" providerId="ADAL" clId="{B5C36D3C-48DE-49DA-B118-220276D09E4E}" dt="2026-09-23T22:12:40.610" v="0"/>
          <ac:picMkLst>
            <pc:docMk/>
            <pc:sldMk cId="0" sldId="262"/>
            <ac:picMk id="4" creationId="{889E46BD-3EF7-765D-34FF-045EF01F6D0A}"/>
          </ac:picMkLst>
        </pc:picChg>
      </pc:sldChg>
      <pc:sldChg chg="add">
        <pc:chgData name="Nghiem Trong Dong 20232001" userId="56e34706-450f-47f0-870f-bffa4484e1b2" providerId="ADAL" clId="{B5C36D3C-48DE-49DA-B118-220276D09E4E}" dt="2026-09-23T22:17:17.365" v="3"/>
        <pc:sldMkLst>
          <pc:docMk/>
          <pc:sldMk cId="0" sldId="265"/>
        </pc:sldMkLst>
      </pc:sldChg>
      <pc:sldChg chg="add">
        <pc:chgData name="Nghiem Trong Dong 20232001" userId="56e34706-450f-47f0-870f-bffa4484e1b2" providerId="ADAL" clId="{B5C36D3C-48DE-49DA-B118-220276D09E4E}" dt="2026-09-23T22:17:25.508" v="4"/>
        <pc:sldMkLst>
          <pc:docMk/>
          <pc:sldMk cId="0" sldId="266"/>
        </pc:sldMkLst>
      </pc:sldChg>
      <pc:sldChg chg="add">
        <pc:chgData name="Nghiem Trong Dong 20232001" userId="56e34706-450f-47f0-870f-bffa4484e1b2" providerId="ADAL" clId="{B5C36D3C-48DE-49DA-B118-220276D09E4E}" dt="2026-09-23T22:17:33.161" v="5"/>
        <pc:sldMkLst>
          <pc:docMk/>
          <pc:sldMk cId="0" sldId="267"/>
        </pc:sldMkLst>
      </pc:sldChg>
      <pc:sldChg chg="add">
        <pc:chgData name="Nghiem Trong Dong 20232001" userId="56e34706-450f-47f0-870f-bffa4484e1b2" providerId="ADAL" clId="{B5C36D3C-48DE-49DA-B118-220276D09E4E}" dt="2026-09-23T22:17:40.896" v="6"/>
        <pc:sldMkLst>
          <pc:docMk/>
          <pc:sldMk cId="0" sldId="268"/>
        </pc:sldMkLst>
      </pc:sldChg>
      <pc:sldChg chg="add">
        <pc:chgData name="Nghiem Trong Dong 20232001" userId="56e34706-450f-47f0-870f-bffa4484e1b2" providerId="ADAL" clId="{B5C36D3C-48DE-49DA-B118-220276D09E4E}" dt="2026-09-23T22:17:49.148" v="7"/>
        <pc:sldMkLst>
          <pc:docMk/>
          <pc:sldMk cId="0" sldId="269"/>
        </pc:sldMkLst>
      </pc:sldChg>
      <pc:sldChg chg="del">
        <pc:chgData name="Nghiem Trong Dong 20232001" userId="56e34706-450f-47f0-870f-bffa4484e1b2" providerId="ADAL" clId="{B5C36D3C-48DE-49DA-B118-220276D09E4E}" dt="2026-09-23T22:20:34.519" v="8" actId="47"/>
        <pc:sldMkLst>
          <pc:docMk/>
          <pc:sldMk cId="0" sldId="291"/>
        </pc:sldMkLst>
      </pc:sldChg>
      <pc:sldChg chg="addSp">
        <pc:chgData name="Nghiem Trong Dong 20232001" userId="56e34706-450f-47f0-870f-bffa4484e1b2" providerId="ADAL" clId="{B5C36D3C-48DE-49DA-B118-220276D09E4E}" dt="2026-09-23T22:14:18.957" v="1"/>
        <pc:sldMkLst>
          <pc:docMk/>
          <pc:sldMk cId="0" sldId="306"/>
        </pc:sldMkLst>
        <pc:picChg chg="add">
          <ac:chgData name="Nghiem Trong Dong 20232001" userId="56e34706-450f-47f0-870f-bffa4484e1b2" providerId="ADAL" clId="{B5C36D3C-48DE-49DA-B118-220276D09E4E}" dt="2026-09-23T22:14:18.957" v="1"/>
          <ac:picMkLst>
            <pc:docMk/>
            <pc:sldMk cId="0" sldId="306"/>
            <ac:picMk id="5" creationId="{44C5D52D-73BC-4E7B-E7C6-78D9D714DCC9}"/>
          </ac:picMkLst>
        </pc:picChg>
      </pc:sldChg>
      <pc:sldChg chg="addSp">
        <pc:chgData name="Nghiem Trong Dong 20232001" userId="56e34706-450f-47f0-870f-bffa4484e1b2" providerId="ADAL" clId="{B5C36D3C-48DE-49DA-B118-220276D09E4E}" dt="2026-09-23T22:15:23.256" v="2"/>
        <pc:sldMkLst>
          <pc:docMk/>
          <pc:sldMk cId="0" sldId="307"/>
        </pc:sldMkLst>
        <pc:picChg chg="add">
          <ac:chgData name="Nghiem Trong Dong 20232001" userId="56e34706-450f-47f0-870f-bffa4484e1b2" providerId="ADAL" clId="{B5C36D3C-48DE-49DA-B118-220276D09E4E}" dt="2026-09-23T22:15:23.256" v="2"/>
          <ac:picMkLst>
            <pc:docMk/>
            <pc:sldMk cId="0" sldId="307"/>
            <ac:picMk id="5" creationId="{557D065F-B96E-2C23-AA88-A4CB24A5534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01 — BÌA BÁO CÁO KHỐI 1 (GATE 2: SRR-EVT — SYSTEM REQUIREMENTS REVIEW):</a:t>
            </a:r>
          </a:p>
          <a:p>
            <a:r>
              <a:t>- Chào mừng Hội đồng thẩm định đến với báo cáo Khối 1 (System Requirements &amp; Verification Planning) của Nhóm 8.5-EMG (Đề x = 2).</a:t>
            </a:r>
          </a:p>
          <a:p>
            <a:r>
              <a:t>- Nhận bàn giao từ Gate 1 (MCR) với Phương án C (Động cơ KĐB 3 pha + Biến tần 4Q Vector vòng kín có Encoder + Hộp giảm tốc bánh răng + Điện trở xả R_h, đạt 812/1000 điểm), nhiệm vụ của Khối 1 là chuyển hóa 8 nhu cầu khách hàng (PRD) và 8 đặc tính kỹ thuật (HoQ EC) thành bản Đặc tả Yêu cầu Hệ thống (SRS) gồm 14 yêu cầu nguyên tử định lượng và Kế hoạch Kiểm chứng DVP&amp;R Level 0 khép kín 2 chiều.</a:t>
            </a: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02 — TỔNG QUAN KHỐI 1 (WBS 1.0) &amp; MỤC TIÊU CỔNG GATE 2 (SRR-EVT):</a:t>
            </a:r>
          </a:p>
          <a:p>
            <a:r>
              <a:t>1. Tư duy cốt lõi của Khối 1 theo NASA SP-2016-6105 &amp; IEEE 29148-2018:</a:t>
            </a:r>
          </a:p>
          <a:p>
            <a:r>
              <a:t>   - Khối 0 trả lời câu hỏi 'Làm cái gì và chọn cấu hình nào?' (Phương án C).</a:t>
            </a:r>
          </a:p>
          <a:p>
            <a:r>
              <a:t>   - Khối 1 trả lời câu hỏi 'Hệ thống phải đạt chính xác những ngưỡng định lượng nào và kiểm chứng bằng bài đo nào trước khi tính chọn phần cứng?'.</a:t>
            </a:r>
          </a:p>
          <a:p>
            <a:r>
              <a:t>2. Phân rã 3 gói công việc WBS 1.0:</a:t>
            </a:r>
          </a:p>
          <a:p>
            <a:r>
              <a:t>   - SOW-1.1 (Boundary &amp; P-Diagram): Khoanh vùng ranh giới hệ thống SoI theo IEC 61800-2, định nghĩa 10 luồng giao diện [P/E/I/M], lập sơ đồ P-Diagram (4 Nhiễu N1..N4, 6 Tham số điều khiển CF1..CF6, 4 Lỗi E1..E4) và trích xuất 8 CTQ + 5 CTS.</a:t>
            </a:r>
          </a:p>
          <a:p>
            <a:r>
              <a:t>   - SOW-1.2 (Atomic SRS Baseline): Phân rã 8 PRD + 8 HoQ EC thành 14 yêu cầu SRS nguyên tử (7 FUNC + 7 PERM) theo cú pháp 5 thành phần IEEE 29148.</a:t>
            </a:r>
          </a:p>
          <a:p>
            <a:r>
              <a:t>   - SOW-1.3 (Bidirectional RTM &amp; DVP&amp;R L0): Thiết lập ma trận truy vết 2 chiều (Forward + Backward DMAIC) và 14 bài kiểm chứng DVP-L0 gom trong 4 kịch bản mô phỏng TS-01..04.</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03 — SƠ ĐỒ RANH GIỚI HỆ THỐNG (SYSTEM BOUNDARY DIAGRAM):</a:t>
            </a:r>
          </a:p>
          <a:p>
            <a:r>
              <a:t>1. Căn cứ tiêu chuẩn IEC 61800-2:2021 (Hình 1 — Cấu trúc Power Drive System):</a:t>
            </a:r>
          </a:p>
          <a:p>
            <a:r>
              <a:t>   - Hệ thống truyền động điện hoàn chỉnh bao gồm: Mô-đun biến đổi công suất (CDM: Biến tần 4Q + Bộ hãm Chopper + Điện trở xả R_h), Động cơ KĐB 3 pha có tích hợp Phanh điện từ và Encoder, cùng Cơ cấu chấp hành cơ khí (Hộp giảm tốc + Khớp nối + Bánh xe trên ray).</a:t>
            </a:r>
          </a:p>
          <a:p>
            <a:r>
              <a:t>2. Phân định rõ Ranh giới Trong phạm vi (In-Scope) và Ngoài phạm vi (Out-of-Scope):</a:t>
            </a:r>
          </a:p>
          <a:p>
            <a:r>
              <a:t>   - Bốn tác nhân ngoài (External Actors): Lưới điện nhà máy 3 pha 380V±10%/50Hz (IF-PWR), Người vận hành/PLC bàn điều khiển (IF-CMD), Tải hàng Q = 12,222 kg + móc 222 kg treo qua cáp h = 12 m và ray cầu trục (IF-MECH-IN), Môi trường nhà xưởng 40°C (IF-ENV).</a:t>
            </a:r>
          </a:p>
          <a:p>
            <a:r>
              <a:t>   - Cơ cấu nâng hạ (Hoist) và cơ cấu di chuyển cầu trục lớn (Bridge) nằm ngoài phạm vi thiết kế mạch lực, nhưng thông số chiều cao nâng h = 12 m được nhận làm tham số biên để tính tần số lắc cáp tự nhiên ω_p = √(g/h) ≈ 0.904 rad/s (chu kỳ T_p ≈ 6.95 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04 — GIẢI PHẪU CHI TIẾT 3 PHÂN VÙNG &amp; 10 LUỒNG GIAO DIỆN [P/E/I/M]:</a:t>
            </a:r>
          </a:p>
          <a:p>
            <a:r>
              <a:t>1. Để người xem đọc rõ từng chi tiết trên sơ đồ Boundary lớn ở Slide 03, chúng tôi bóc tách thành 3 lát cắt ngang (Zone 1, Zone 2, Zone 3) kết xuất trực tiếp từ bộ sơ đồ Draw.io 05 &amp; 06:</a:t>
            </a:r>
          </a:p>
          <a:p>
            <a:r>
              <a:t>   - Phân vùng 1 (Trên): Tác nhân ngoài — Nguồn 3 pha (IF-01), Lệnh vận hành &amp; Stop Cat. 1 (IF-02), Môi trường 40°C &amp; Tản nhiệt (IF-03).</a:t>
            </a:r>
          </a:p>
          <a:p>
            <a:r>
              <a:t>   - Phân vùng 2 (Giữa): Cụm Biến tần 4Q + Bộ hãm Chopper + Điện trở xả R_h xuất áp PWM 3 pha (IF-04), Động cơ KĐB + Phanh từ (IF-06) + Encoder (IF-07) &amp; Cơ khí chấp hành.</a:t>
            </a:r>
          </a:p>
          <a:p>
            <a:r>
              <a:t>   - Phân vùng 3 (Dưới): Sơ đồ chi tiết 10 giao diện vật lý IF-01..IF-10 (Draw.io 06) tương tác ma sát lăn &amp; bám μ=0.20 với ray và chịu lực căng ngang từ cáp treo tải Q=12,222 kg ở độ cao h=12 m.</a:t>
            </a:r>
          </a:p>
          <a:p>
            <a:r>
              <a:t>2. Phân loại 4 nhóm luồng giao diện chuẩn SE:</a:t>
            </a:r>
          </a:p>
          <a:p>
            <a:r>
              <a:t>   - [E] Energy (Năng lượng điện / nhiệt), [P] Physical/Mechanical (Cơ học: lực, mô-men, chuyển vị), [I] Information (Tín hiệu điều khiển, xung đo), [M] Material (Vật chất/Bụi môi trường).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05 — SƠ ĐỒ THÔNG SỐ HỆ THỐNG (SYSTEM P-DIAGRAM — SOW-1.1):</a:t>
            </a:r>
          </a:p>
          <a:p>
            <a:r>
              <a:t>1. P-Diagram (Parameter Diagram theo IATF 16949 &amp; Six Sigma DFSS) là cầu nối trực tiếp giữa Rủi ro vật lý và Yêu cầu kỹ thuật:</a:t>
            </a:r>
          </a:p>
          <a:p>
            <a:r>
              <a:t>   - Đầu vào tín hiệu (Input Signals): Lệnh vận hành v_ref(t) ∈ {0; ±0.030÷0.036; ±0.12 m/s}, lệnh dừng chủ động Stop Cat. 1.</a:t>
            </a:r>
          </a:p>
          <a:p>
            <a:r>
              <a:t>   - 4 Nhiễu tác động (Noise Factors N1..N4): N1 Biến thiên khối lượng 7.04 lần (2,022 kg → 14,244 kg) &amp; lắc cáp h=12 m; N2 Dao động áp lưới 380V±10% (342÷418V); N3 Biến thiên ma sát ray μ=0.20 (rơi xuống 0.12 khi dính dầu); N4 Nhiệt độ 40°C làm tăng R_r (20÷25%).</a:t>
            </a:r>
          </a:p>
          <a:p>
            <a:r>
              <a:t>   - 6 Tham số điều khiển (Control Factors CF1..CF6): CF1 Quỹ đạo S-Curve (a_max≤0.5, ρ_max≤2.0, t_j≥0.25s); CF2 Vòng kín RFOC có Encoder (PI dòng &amp; tốc độ); CF3 Luật phối hợp phanh 0 rpm (100÷150% M_đm); CF4 Bộ hãm Chopper + R_h (&lt;780V DC); CF5 Hệ số dự trữ nhiệt k_dt ∈ [1.20; 1.50] ở S3-40%; CF6 Tỷ số truyền i &amp; hiệu suất η=0.96.</a:t>
            </a:r>
          </a:p>
          <a:p>
            <a:r>
              <a:t>   - Đầu ra lý tưởng: 8 chỉ tiêu CTQ-01..08; Trạng thái lỗi bị chặn: E1..E4.</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06 — MA TRẬN 8 CHỈ TIÊU CHẤT LƯỢNG (CTQ) &amp; 5 AN TOÀN TỚI HẠN (CTS):</a:t>
            </a:r>
          </a:p>
          <a:p>
            <a:r>
              <a:t>1. Bảng trái: 8 chỉ tiêu CTQ (Critical-to-Quality) được trích xuất trực tiếp từ 8 cột HoQ EC của Khối 0, có miền dung sai toán học rõ ràng cho Đề x = 2.</a:t>
            </a:r>
          </a:p>
          <a:p>
            <a:r>
              <a:t>2. Bảng phải: Điểm đặc biệt trong kiến trúc SRS của nhóm (theo đúng báo cáo rtm_dvp_xe_con_cau_truc_x2_nhom_8_5_emg.md Mục 1.3):</a:t>
            </a:r>
          </a:p>
          <a:p>
            <a:r>
              <a:t>   - Thay vì tách các yêu cầu an toàn thành một mục văn bản rời rạc khó kiểm chứng bằng mô phỏng, nhóm đã nhúng trực tiếp 5 chỉ tiêu An toàn Tới hạn (Critical-to-Safety: CTS-01..05) vào các yêu cầu chức năng (SRS-FUNC) và hiệu năng (SRS-PERM).</a:t>
            </a:r>
          </a:p>
          <a:p>
            <a:r>
              <a:t>   - Mọi chỉ tiêu CTS đều áp dụng tiêu chí Zero-Tolerance (không dung thứ sai lệch): bất kỳ vi phạm nào trên CTS-01..05 đều đánh trượt thiết kế ngay tại cổng SRR/CDR.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07 — PHƯƠNG PHÁP PHÂN RÃ YÊU CẦU NGUYÊN TỬ (SOW-1.2 — IEEE 29148:2018):</a:t>
            </a:r>
          </a:p>
          <a:p>
            <a:r>
              <a:t>1. Tại sao 8 PRD ở Khối 0 lại sinh ra đúng 14 yêu cầu SRS ở Khối 1?</a:t>
            </a:r>
          </a:p>
          <a:p>
            <a:r>
              <a:t>   - Theo tiêu chuẩn ISO/IEC/IEEE 29148:2018 (Mục 5.2.5 — Singular/Atomic Requirement), một yêu cầu kỹ thuật không được phép gộp chung 'Thuật toán xử lý logic/cấu trúc' (Functional) với 'Ngưỡng biên độ vật lý đầu ra' (Performance), vì chúng thuộc hai nhóm thiết kế khác nhau (Software/Control Logic vs. Power Sizing/Tuning) và cần các phép đo kiểm chứng độc lập.</a:t>
            </a:r>
          </a:p>
          <a:p>
            <a:r>
              <a:t>2. Quy luật phân rã 8 PRD → 14 SRS:</a:t>
            </a:r>
          </a:p>
          <a:p>
            <a:r>
              <a:t>   - 4 PRD đơn lẻ giữ tỷ lệ 1→1 (PRD-03 → SRS-PERM-01; PRD-04 → SRS-FUNC-04; PRD-05 → SRS-FUNC-06; PRD-08 → SRS-PERM-06).</a:t>
            </a:r>
          </a:p>
          <a:p>
            <a:r>
              <a:t>   - 2 PRD tách tỷ lệ 1→2 (PRD-01 tách thành khóa liên động đảo chiều FUNC-01 và định cỡ cơ học PERM-07; PRD-07 tách thành quy hoạch quỹ đạo S-Curve FUNC-07 và công suất đẳng trị S3-40% PERM-04).</a:t>
            </a:r>
          </a:p>
          <a:p>
            <a:r>
              <a:t>   - 2 PRD tách tỷ lệ 1→3 (PRD-02 tách thành FUNC-02, FUNC-05, PERM-02; PRD-06 tách thành FUNC-03, PERM-03, PERM-05).</a:t>
            </a:r>
          </a:p>
          <a:p>
            <a:r>
              <a:t>   =&gt; Tổng cộng: 4×1 + 2×2 + 2×3 = 14 yêu cầu SRS nguyên tử (7 SRS-FUNC + 7 SRS-PERM).</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08 — ĐẶC TẢ NHÓM 1: 7 YÊU CẦU CHỨC NĂNG &amp; LOGIC ĐIỀU KHIỂN (SRS-FUNC-01..07):</a:t>
            </a:r>
          </a:p>
          <a:p>
            <a:r>
              <a:t>1. Bảng trên tóm tắt 7 yêu cầu SRS-FUNC-01..07 theo đúng báo cáo srs_xe_con_cau_truc_x2_nhom_8_5_emg (1).md (Mục 4.1).</a:t>
            </a:r>
          </a:p>
          <a:p>
            <a:r>
              <a:t>2. Sơ đồ khối bên dưới minh họa 2 cơ chế an toàn phức tạp nhất trong nhóm FUNC:</a:t>
            </a:r>
          </a:p>
          <a:p>
            <a:r>
              <a:t>   - Chu trình khởi động &amp; phối hợp phanh tại tốc độ 0 (SRS-FUNC-04 / CTS-03): Khi có lệnh chạy, biến tần KHÔNG mở phanh ngay mà bơm dòng từ hóa i_sd để lập từ thông rô-to và dựng mô-men giữ M_hold ∈ [100%; 150%] M_đm tại 0 rpm. Chỉ khi mô-men điện từ đã thắng sức căng cáp, lệnh nhả phanh mới được xuất ra =&gt; Độ trôi tải Δx_trôi = 0 mm.</a:t>
            </a:r>
          </a:p>
          <a:p>
            <a:r>
              <a:t>   - Chu trình dừng chủ động Stop Category 1 &amp; Đảo chiều (SRS-FUNC-01, 03 / CTS-01, 02): Khi đang chạy +0.12 m/s mà người vận hành bấm nút chạy ngược (-0.12 m/s), bộ điều khiển bắt buộc ép quỹ đạo giảm tốc S-Curve về đúng v = 0 m/s (quá độ qua điểm 0 tốc độ có kiểm soát) rồi mới cho phép gia tốc theo chiều ngược lại.</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09 — ĐẶC TẢ NHÓM 2: 7 YÊU CẦU HIỆU NĂNG ĐỊNH LƯỢNG (SRS-PERM-01..07):</a:t>
            </a:r>
          </a:p>
          <a:p>
            <a:r>
              <a:t>1. Bảng trên trình bày đầy đủ 7 yêu cầu SRS-PERM-01..07 theo đúng báo cáo gốc Mục 4.2.</a:t>
            </a:r>
          </a:p>
          <a:p>
            <a:r>
              <a:t>2. Ba hộp toán học phía dưới chứng minh cơ sở vật lý của các con số định lượng:</a:t>
            </a:r>
          </a:p>
          <a:p>
            <a:r>
              <a:t>   - Hộp 1 (Cơ học &amp; Hệ số bám): Tổng khối lượng đầy tải M_Σ = 12,222 + 222 + 1,800 = 14,244 kg =&gt; Lực cản tĩnh F_c,đầy ≈ 27,947 N; Không tải m_tĩnh = 2,022 kg =&gt; F_c,không ≈ 3,967 N (biến thiên 7.04 lần). Với μ = 0.20 và |a_max| ≤ 0.50 m/s², hệ số an toàn chống trượt bánh xe k_bám = μ·g / a_max = 1.962 / 0.50 ≈ 3.92 &gt;&gt; 1.0.</a:t>
            </a:r>
          </a:p>
          <a:p>
            <a:r>
              <a:t>   - Hộp 2 (Quỹ đạo S-Curve &amp; Góc lắc cáp): Thời gian vát góc gia tốc t_j = a_max / ρ_max = 0.50 / 2.00 = 0.25 s. Góc lệch tĩnh của cáp treo dài h = 12 m là θ_0 = arctan(a_max / g) = arctan(0.50 / 9.81) ≈ 2.92°.</a:t>
            </a:r>
          </a:p>
          <a:p>
            <a:r>
              <a:t>   - Hộp 3 (Nhiệt S3-40% &amp; Quá tải mô-men): Hệ số dự trữ công suất nhiệt k_dt = P_đm / P_eq,S340% ∈ [1.20; 1.50] giúp tránh cháy động cơ ở 40°C đồng thời không chọn dư công suất gây lãng phí (Over-sizing); bội số mô-men cực đại λ_max ≥ 2.0.</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10 — MA TRẬN TRUY VẾT 2 CHIỀU (RTM) — PHẦN 1: TRUY VẾT XUÔI (FORWARD TRACEABILITY):</a:t>
            </a:r>
          </a:p>
          <a:p>
            <a:r>
              <a:t>1. Mục đích của Truy vết xuôi (Forward Traceability theo NASA SP-2016-6105):</a:t>
            </a:r>
          </a:p>
          <a:p>
            <a:r>
              <a:t>   - Chứng minh mọi nhu cầu khách hàng trong phạm vi (8 PRD-01..08) và mọi đặc tính kỹ thuật từ Ngôi nhà Chất lượng (8 HoQ EC-01..08) đều đã được cụ thể hóa thành ít nhất một yêu cầu SRS nguyên tử và có bài đo kiểm chứng DVP-L0 tương ứng.</a:t>
            </a:r>
          </a:p>
          <a:p>
            <a:r>
              <a:t>2. Kết quả kiểm toán độ phủ (Coverage Audit — Mục 2.3 báo cáo RTM):</a:t>
            </a:r>
          </a:p>
          <a:p>
            <a:r>
              <a:t>   - Độ phủ PRD → SRS: 8/8 PRD = 100%.</a:t>
            </a:r>
          </a:p>
          <a:p>
            <a:r>
              <a:t>   - Độ phủ HoQ EC → SRS: 8/8 EC = 100%.</a:t>
            </a:r>
          </a:p>
          <a:p>
            <a:r>
              <a:t>   - Độ phủ SRS → DVP-L0: 14/14 SRS = 100%.</a:t>
            </a:r>
          </a:p>
          <a:p>
            <a:r>
              <a:t>   - Yêu cầu mồ côi (Orphan Requirements): 0%.</a:t>
            </a:r>
          </a:p>
          <a:p>
            <a:r>
              <a:t>   - Yêu cầu mạ vàng thừa thãi (Gold-Plating): 0%.</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11 — MA TRẬN TRUY VẾT 2 CHIỀU (RTM) — PHẦN 2: TRUY VẾT NGƯỢC &amp; VÒNG ĐỜI DMAIC:</a:t>
            </a:r>
          </a:p>
          <a:p>
            <a:r>
              <a:t>1. Tại sao cần Truy vết ngược (Backward Traceability) kết hợp vòng đời DMAIC (Mục 2.2 báo cáo RTM)?</a:t>
            </a:r>
          </a:p>
          <a:p>
            <a:r>
              <a:t>   - Truy vết ngược trả lời câu hỏi chất vấn của Hội đồng: 'Tại sao nhóm lại đặt ra yêu cầu SRS này? Có phải tự bịa thêm tính năng (Gold-Plating) không?'.</a:t>
            </a:r>
          </a:p>
          <a:p>
            <a:r>
              <a:t>   - Bảng trên chứng minh: mỗi yêu cầu trong 14 SRS đều bắt nguồn trực tiếp từ một Khoảng trống khảo sát (GAP-01..07), một cặp Nhiễu/Tham số P-Diagram (N1..N4 / CF1..CF6) và một Rủi ro kỹ thuật (RRM-01..05).</a:t>
            </a:r>
          </a:p>
          <a:p>
            <a:r>
              <a:t>2. Liên kết dọc theo vòng đời dự án (Lifecycle Allocation):</a:t>
            </a:r>
          </a:p>
          <a:p>
            <a:r>
              <a:t>   - Cột phải chỉ rõ gói công việc WBS ở Khối 2 (PDR - Thiết kế cơ sở), Khối 3 (CDR - Thiết kế điều khiển), Khối 4 (Tích hợp Simulink) và Khối 5 (ORR - Nghiệm thu) cùng vai trò kỹ sư chịu trách nhiệm chính (Lead Owner). (Bảng chi tiết đầy đủ 14 dòng từng yêu cầu được trình bày tại Slide Backup B1-4 và B1-5).</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12 — KẾ HOẠCH KIỂM CHỨNG DVP&amp;R LEVEL 0 &amp; 4 KỊCH BẢN MÔ PHỎNG MASTER (TS-01..04):</a:t>
            </a:r>
          </a:p>
          <a:p>
            <a:r>
              <a:t>1. Ba phương pháp kiểm chứng chuẩn SE áp dụng cho đồ án mô phỏng (không có phần cứng vật lý):</a:t>
            </a:r>
          </a:p>
          <a:p>
            <a:r>
              <a:t>   - A (Analysis — Giải tích): Tính toán công thức động lực học, công suất đẳng trị S3-40%, điện trở xả R_h, hệ số bám k_bám.</a:t>
            </a:r>
          </a:p>
          <a:p>
            <a:r>
              <a:t>   - S (Simulation — Mô phỏng): Chạy mô hình MATLAB/Simulink miền thời gian để đo trực tiếp đường đặc tính v(t), a(t), ρ(t), M_e(t), U_dc(t), θ(t).</a:t>
            </a:r>
          </a:p>
          <a:p>
            <a:r>
              <a:t>   - I (Inspection — Thanh tra cấu trúc): Kiểm tra sơ đồ khối, bảng tham số cài đặt và logic khóa liên động.</a:t>
            </a:r>
          </a:p>
          <a:p>
            <a:r>
              <a:t>2. Tại sao gom 14 bài đo DVP-L0-01..14 vào 4 kịch bản mô phỏng Master (TS-01..04)?</a:t>
            </a:r>
          </a:p>
          <a:p>
            <a:r>
              <a:t>   - Thay vì chạy 14 file mô phỏng rời rạc thiếu tính liên kết thực tế, nhóm thiết kế 4 kịch bản vận hành tổng hợp tái hiện đúng chu trình làm việc khắc nghiệt nhất của xe con cầu trục Đề x = 2 (có tiêm đồng thời 4 nhiễu N1..N4 của P-Diagram).</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13 — TIÊU CHÍ NGHIỆM THU PASS/FAIL CHO 14 BÀI TEST DVP&amp;R LEVEL 0:</a:t>
            </a:r>
          </a:p>
          <a:p>
            <a:r>
              <a:t>1. Slide này hiển thị trọn vẹn 14 bài đo nguyên tử DVP-L0-01 đến DVP-L0-14 (Mục 3.3 báo cáo RTM &amp; DVP&amp;R):</a:t>
            </a:r>
          </a:p>
          <a:p>
            <a:r>
              <a:t>   - Bảng bên trái (DVP-L0-01..07): Nghiệm thu 7 yêu cầu chức năng &amp; an toàn (SRS-FUNC-01..07).</a:t>
            </a:r>
          </a:p>
          <a:p>
            <a:r>
              <a:t>   - Bảng bên phải (DVP-L0-08..14): Nghiệm thu 7 yêu cầu hiệu năng định lượng (SRS-PERM-01..07).</a:t>
            </a:r>
          </a:p>
          <a:p>
            <a:r>
              <a:t>2. Quy tắc nghiệm thu tại Gate 5 (ORR):</a:t>
            </a:r>
          </a:p>
          <a:p>
            <a:r>
              <a:t>   - Thiết kế chỉ được đánh giá đạt (PASS) khi cả 14/14 bài đo đồng thời thỏa mãn tiêu chí Pass/Fail dưới các kịch bản TS-01..04.</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14 — CHUẨN HÓA KỸ THUẬT ĐO LƯỜNG MÔ PHỎNG SIMULINK (KIỂM SOÁT RỦI RO RRM-05):</a:t>
            </a:r>
          </a:p>
          <a:p>
            <a:r>
              <a:t>1. Tại sao phải quy định chuẩn đo lường Simulink ngay từ Khối 1 (Mục 3.4 báo cáo RTM &amp; DVP&amp;R)?</a:t>
            </a:r>
          </a:p>
          <a:p>
            <a:r>
              <a:t>   - Trong mô phỏng truyền động điện có nghịch lưu PWM hoặc nhiễu lượng tử hóa Encoder, nếu sinh viên nối trực tiếp hai khối đạo hàm thuần túy 'Derivative (du/dt)' nối tiếp nhau từ vận tốc v(t) để đo gia tốc a(t) và độ giật ρ(t), nhiễu tần số cao sẽ bị khuếch đại lên hàng trăm m/s³ (Numerical Spike).</a:t>
            </a:r>
          </a:p>
          <a:p>
            <a:r>
              <a:t>   - Điều này dẫn đến báo lỗi giả (False Fail) cho yêu cầu SRS-PERM-03 (|a| ≤ 0.50 m/s², |ρ| ≤ 2.00 m/s³) dù cơ học thực tế rất êm.</a:t>
            </a:r>
          </a:p>
          <a:p>
            <a:r>
              <a:t>2. Ba quy tắc kỹ thuật bắt buộc cho Khối 4 &amp; Khối 5:</a:t>
            </a:r>
          </a:p>
          <a:p>
            <a:r>
              <a:t>   - Quy tắc 1 (Solver): Bước giải T_s ≤ 10⁻⁴ s (100 μs), sai số tương đối RelTol ≤ 10⁻⁴.</a:t>
            </a:r>
          </a:p>
          <a:p>
            <a:r>
              <a:t>   - Quy tắc 2 (Đo gia tốc thực a(t)): Trích xuất trực tiếp từ nút tổng lực cơ học chia khối lượng trước khâu tích phân 1/s: a_xe(t) = (F_kéo - F_cản - F_lắc_cáp) / (m_xc + m_nh).</a:t>
            </a:r>
          </a:p>
          <a:p>
            <a:r>
              <a:t>   - Quy tắc 3 (Đo độ giật thực ρ(t)): Đạo hàm từ a_xe(t) qua khâu vi phân thực có lọc thông thấp bậc nhất G_d(s) = s / (T_f·s + 1) với hằng số thời gian T_f = 0.005 ÷ 0.01 s (tần số cắt 16÷32 Hz, giữ nguyên 100% động học cơ khí 0.904 rad/s nhưng triệt tiêu hoàn toàn gai nhiễu số).</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15 — CHECKLIST ĐÓNG CỔNG GATE 2 (SRR-EVT) &amp; BÀN GIAO SANG KHỐI 2 (PDR):</a:t>
            </a:r>
          </a:p>
          <a:p>
            <a:r>
              <a:t>1. Đối chiếu 6 tiêu chí đóng cổng Gate 2 (SRR-EVT) theo FLOW_REVIEW.md Mục 5.2 và NASA SP-2016-6105 Table 6.7-5:</a:t>
            </a:r>
          </a:p>
          <a:p>
            <a:r>
              <a:t>   - Cả 6/6 tiêu chí đều đạt 100%: Ranh giới hệ thống &amp; P-Diagram đã khóa; 8 CTQ + 5 CTS có ngưỡng định lượng; 14 SRS nguyên tử tuân thủ IEEE 29148; Ma trận RTM 2 chiều đạt 100% độ phủ (0 Orphan, 0 Gold-Plating); 14 bài test DVP-L0 có tiêu chí Pass/Fail rõ ràng; Chuẩn đo lường Simulink đã hóa giải rủi ro RRM-05.</a:t>
            </a:r>
          </a:p>
          <a:p>
            <a:r>
              <a:t>2. Gói hồ sơ kỹ thuật bàn giao sang Khối 2 (Preliminary Design Review — PDR: Mô hình hóa Toán học &amp; Tính chọn Công suất):</a:t>
            </a:r>
          </a:p>
          <a:p>
            <a:r>
              <a:t>   - Khối 2 sẽ sử dụng trực tiếp các yêu cầu SRS-PERM-03, 04, 05, 06, 07 và SRS-FUNC-04, 06 để thiết lập hệ phương trình trạng thái cơ - điện (tải con lắc 2 bậc tự do), xây dựng biểu đồ phụ tải S3-40% và tính chọn công suất động cơ KĐB 3 pha, hộp giảm tốc, biến tần 4Q cùng điện trở xả R_h.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16 — TÀI LIỆU THAM KHẢO &amp; KẾT THÚC PHẦN TRÌNH BÀY CHÍNH:</a:t>
            </a:r>
          </a:p>
          <a:p>
            <a:r>
              <a:t>- Cảm ơn Thầy và các bạn đã lắng nghe phần trình bày 16 slide chính của Khối 1 (Gate 2: SRR-EVT).</a:t>
            </a:r>
          </a:p>
          <a:p>
            <a:r>
              <a:t>- Để phục vụ phần hỏi đáp chuyên sâu (Defense Q&amp;A), nhóm đã chuẩn bị sẵn 6 Slide Phụ lục (Backup Slides B1-1 đến B1-6) ngay phía sau, bao gồm toàn văn câu lệnh 'PHẢI (SHALL)' của 14 SRS, giải trình 11 PRD ngoài phạm vi (Out-of-Scope), bảng truy vết ngược DMAIC chi tiết từng dòng cho cả 14 SRS, và mẫu biểu DVP&amp;R Dual-Structure (Plan &amp; Report).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B1-1 — BẢNG ĐẶC TẢ CHI TIẾT 7 YÊU CẦU CHỨC NĂNG (SRS-FUNC-01..07):</a:t>
            </a:r>
          </a:p>
          <a:p>
            <a:r>
              <a:t>- Slide dự phòng dùng khi Hội đồng yêu cầu đọc nguyên văn câu lệnh 'PHẢI (SHALL)' và lý giải kỹ thuật (Rationale) của bất kỳ yêu cầu chức năng nào trong Mục 4.1 báo cáo SRS.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B1-2 — BẢNG ĐẶC TẢ CHI TIẾT 7 YÊU CẦU HIỆU NĂNG ĐỊNH LƯỢNG (SRS-PERM-01..07):</a:t>
            </a:r>
          </a:p>
          <a:p>
            <a:r>
              <a:t>- Slide dự phòng cung cấp toàn văn 7 yêu cầu hiệu năng định lượng trong Mục 4.2 báo cáo SRS.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B1-3 — GIẢI TRÌNH 11 YÊU CẦU NGOÀI PHẠM VI (OUT-OF-SCOPE PRD — MỤC 3.3 BÁO CÁO SRS):</a:t>
            </a:r>
          </a:p>
          <a:p>
            <a:r>
              <a:t>- Slide này dùng khi Hội đồng hỏi về các khía cạnh phần cứng công nghiệp như công tắc hành trình cơ khí, cấp bảo vệ vỏ tủ IP54, truyền thông Profinet/Modbus hay độ bền mỏi vòng bi L10h.</a:t>
            </a:r>
          </a:p>
          <a:p>
            <a:r>
              <a:t>- Trong khuôn khổ đồ án môn học Thiết kế Hệ truyền động điện (kiểm chứng bằng mô phỏng MATLAB/Simulink), nhóm giữ lại toàn bộ các cơ chế an toàn và giao diện có bản chất động lực học/điều khiển (như Stop Category 1, khóa liên động đảo chiều v=0, hãm Chopper &lt;780V, nhiệt S3-40% ở 40°C) và phân loại 11 hạng mục thuần túy lắp đặt/vật liệu sang Out-of-Scope để tránh viết các yêu cầu 'treo' không thể kiểm chứng bằng mô phỏng.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B1-4 — MA TRẬN TRUY VẾT NGƯỢC DMAIC CHI TIẾT (SRS-FUNC-01..07):</a:t>
            </a:r>
          </a:p>
          <a:p>
            <a:r>
              <a:t>- Bảng chi tiết 7 dòng tương ứng với 7 yêu cầu SRS-FUNC-01..07 từ Mục 2.2 báo cáo rtm_dvp_xe_con_cau_truc_x2_nhom_8_5_emg.md.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B1-5 — MA TRẬN TRUY VẾT NGƯỢC DMAIC CHI TIẾT (SRS-PERM-01..07):</a:t>
            </a:r>
          </a:p>
          <a:p>
            <a:r>
              <a:t>- Bảng chi tiết 7 dòng tương ứng với 7 yêu cầu SRS-PERM-01..07 từ Mục 2.2 báo cáo rtm_dvp_xe_con_cau_truc_x2_nhom_8_5_emg.md.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B1-6 — CẤU TRÚC KÉP DVP&amp;R (PLAN &amp; REPORT) &amp; CƠ CHẾ TIÊM NHIỄU VẬT LÝ N1..N4:</a:t>
            </a:r>
          </a:p>
          <a:p>
            <a:r>
              <a:t>- Slide dự phòng giải thích tại sao bảng DVP&amp;R của nhóm có các cột '[Chờ Khối 5 — ORR]' (Mục 3.1 &amp; 3.3 báo cáo RTM &amp; DVP&amp;R):</a:t>
            </a:r>
          </a:p>
          <a:p>
            <a:r>
              <a:t>  + Theo chuẩn V-Model của INCOSE &amp; NASA, tài liệu DVP&amp;R là một tài liệu sống (Living Document) xuyên suốt từ Nhánh trái (Khối 1 lập Kế hoạch kiểm chứng DVP) sang Nhánh phải (Khối 5 điền Báo cáo kết quả thực nghiệm &amp;R).</a:t>
            </a:r>
          </a:p>
          <a:p>
            <a:r>
              <a:t>- Đồng thời làm rõ cách mô hình hóa toán học 4 yếu tố nhiễu N1..N4 vào Simulink để đảm bảo bài test không phải là mô phỏng lý tưởng hóa.</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B1-7 — SƠ ĐỒ 10 GIAO DIỆN VẬT LÝ (IF-01..IF-10) &amp; CHUỖI TRUY VẾT V-MODEL:</a:t>
            </a:r>
          </a:p>
          <a:p>
            <a:r>
              <a:t>- Bên trái: Bản vẽ đầy đủ 10 giao diện vật lý [P/E/I/M] kết nối giữa 4 tác nhân ngoài và 3 phân hệ con trong ranh giới SoI (Draw.io 06).</a:t>
            </a:r>
          </a:p>
          <a:p>
            <a:r>
              <a:t>- Bên phải: Chuỗi truy xuất tài liệu 5 tầng và mô hình chữ V (Draw.io 02) minh họa liên kết ngang từ Khối 1 (SRS &amp; DVP Plan tại Gate 2) sang Khối 5 (DVP&amp;R Report tại Gate 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41"/>
          <p:cNvSpPr txBox="1">
            <a:spLocks noGrp="1"/>
          </p:cNvSpPr>
          <p:nvPr>
            <p:ph type="dt" idx="10"/>
          </p:nvPr>
        </p:nvSpPr>
        <p:spPr>
          <a:xfrm>
            <a:off x="838200" y="656526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b="1">
                <a:solidFill>
                  <a:srgbClr val="0A3041"/>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41"/>
          <p:cNvSpPr txBox="1">
            <a:spLocks noGrp="1"/>
          </p:cNvSpPr>
          <p:nvPr>
            <p:ph type="ftr" idx="11"/>
          </p:nvPr>
        </p:nvSpPr>
        <p:spPr>
          <a:xfrm>
            <a:off x="4038600" y="656526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b="1">
                <a:solidFill>
                  <a:srgbClr val="0A3041"/>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1"/>
          <p:cNvSpPr txBox="1">
            <a:spLocks noGrp="1"/>
          </p:cNvSpPr>
          <p:nvPr>
            <p:ph type="sldNum" idx="12"/>
          </p:nvPr>
        </p:nvSpPr>
        <p:spPr>
          <a:xfrm>
            <a:off x="9156511" y="657212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A3041"/>
                </a:solidFill>
                <a:latin typeface="Lato"/>
                <a:ea typeface="Lato"/>
                <a:cs typeface="Lato"/>
                <a:sym typeface="Lato"/>
              </a:defRPr>
            </a:lvl1pPr>
            <a:lvl2pPr marL="0" lvl="1" indent="0" algn="r">
              <a:spcBef>
                <a:spcPts val="0"/>
              </a:spcBef>
              <a:buNone/>
              <a:defRPr sz="1200" b="1" i="0" u="none" strike="noStrike" cap="none">
                <a:solidFill>
                  <a:srgbClr val="0A3041"/>
                </a:solidFill>
                <a:latin typeface="Lato"/>
                <a:ea typeface="Lato"/>
                <a:cs typeface="Lato"/>
                <a:sym typeface="Lato"/>
              </a:defRPr>
            </a:lvl2pPr>
            <a:lvl3pPr marL="0" lvl="2" indent="0" algn="r">
              <a:spcBef>
                <a:spcPts val="0"/>
              </a:spcBef>
              <a:buNone/>
              <a:defRPr sz="1200" b="1" i="0" u="none" strike="noStrike" cap="none">
                <a:solidFill>
                  <a:srgbClr val="0A3041"/>
                </a:solidFill>
                <a:latin typeface="Lato"/>
                <a:ea typeface="Lato"/>
                <a:cs typeface="Lato"/>
                <a:sym typeface="Lato"/>
              </a:defRPr>
            </a:lvl3pPr>
            <a:lvl4pPr marL="0" lvl="3" indent="0" algn="r">
              <a:spcBef>
                <a:spcPts val="0"/>
              </a:spcBef>
              <a:buNone/>
              <a:defRPr sz="1200" b="1" i="0" u="none" strike="noStrike" cap="none">
                <a:solidFill>
                  <a:srgbClr val="0A3041"/>
                </a:solidFill>
                <a:latin typeface="Lato"/>
                <a:ea typeface="Lato"/>
                <a:cs typeface="Lato"/>
                <a:sym typeface="Lato"/>
              </a:defRPr>
            </a:lvl4pPr>
            <a:lvl5pPr marL="0" lvl="4" indent="0" algn="r">
              <a:spcBef>
                <a:spcPts val="0"/>
              </a:spcBef>
              <a:buNone/>
              <a:defRPr sz="1200" b="1" i="0" u="none" strike="noStrike" cap="none">
                <a:solidFill>
                  <a:srgbClr val="0A3041"/>
                </a:solidFill>
                <a:latin typeface="Lato"/>
                <a:ea typeface="Lato"/>
                <a:cs typeface="Lato"/>
                <a:sym typeface="Lato"/>
              </a:defRPr>
            </a:lvl5pPr>
            <a:lvl6pPr marL="0" lvl="5" indent="0" algn="r">
              <a:spcBef>
                <a:spcPts val="0"/>
              </a:spcBef>
              <a:buNone/>
              <a:defRPr sz="1200" b="1" i="0" u="none" strike="noStrike" cap="none">
                <a:solidFill>
                  <a:srgbClr val="0A3041"/>
                </a:solidFill>
                <a:latin typeface="Lato"/>
                <a:ea typeface="Lato"/>
                <a:cs typeface="Lato"/>
                <a:sym typeface="Lato"/>
              </a:defRPr>
            </a:lvl6pPr>
            <a:lvl7pPr marL="0" lvl="6" indent="0" algn="r">
              <a:spcBef>
                <a:spcPts val="0"/>
              </a:spcBef>
              <a:buNone/>
              <a:defRPr sz="1200" b="1" i="0" u="none" strike="noStrike" cap="none">
                <a:solidFill>
                  <a:srgbClr val="0A3041"/>
                </a:solidFill>
                <a:latin typeface="Lato"/>
                <a:ea typeface="Lato"/>
                <a:cs typeface="Lato"/>
                <a:sym typeface="Lato"/>
              </a:defRPr>
            </a:lvl7pPr>
            <a:lvl8pPr marL="0" lvl="7" indent="0" algn="r">
              <a:spcBef>
                <a:spcPts val="0"/>
              </a:spcBef>
              <a:buNone/>
              <a:defRPr sz="1200" b="1" i="0" u="none" strike="noStrike" cap="none">
                <a:solidFill>
                  <a:srgbClr val="0A3041"/>
                </a:solidFill>
                <a:latin typeface="Lato"/>
                <a:ea typeface="Lato"/>
                <a:cs typeface="Lato"/>
                <a:sym typeface="Lato"/>
              </a:defRPr>
            </a:lvl8pPr>
            <a:lvl9pPr marL="0" lvl="8" indent="0" algn="r">
              <a:spcBef>
                <a:spcPts val="0"/>
              </a:spcBef>
              <a:buNone/>
              <a:defRPr sz="1200" b="1" i="0" u="none" strike="noStrike" cap="none">
                <a:solidFill>
                  <a:srgbClr val="0A304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16" name="Google Shape;16;p41"/>
          <p:cNvSpPr txBox="1">
            <a:spLocks noGrp="1"/>
          </p:cNvSpPr>
          <p:nvPr>
            <p:ph type="title"/>
          </p:nvPr>
        </p:nvSpPr>
        <p:spPr>
          <a:xfrm>
            <a:off x="313436" y="78616"/>
            <a:ext cx="11565128" cy="4517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Lato"/>
              <a:buNone/>
              <a:defRPr sz="2800" b="1">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1"/>
          <p:cNvSpPr txBox="1">
            <a:spLocks noGrp="1"/>
          </p:cNvSpPr>
          <p:nvPr>
            <p:ph type="body" idx="1"/>
          </p:nvPr>
        </p:nvSpPr>
        <p:spPr>
          <a:xfrm>
            <a:off x="313436" y="841250"/>
            <a:ext cx="11565467" cy="530339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42"/>
          <p:cNvSpPr txBox="1">
            <a:spLocks noGrp="1"/>
          </p:cNvSpPr>
          <p:nvPr>
            <p:ph type="dt" idx="10"/>
          </p:nvPr>
        </p:nvSpPr>
        <p:spPr>
          <a:xfrm>
            <a:off x="838200" y="656526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b="1">
                <a:solidFill>
                  <a:srgbClr val="0A3041"/>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2"/>
          <p:cNvSpPr txBox="1">
            <a:spLocks noGrp="1"/>
          </p:cNvSpPr>
          <p:nvPr>
            <p:ph type="ftr" idx="11"/>
          </p:nvPr>
        </p:nvSpPr>
        <p:spPr>
          <a:xfrm>
            <a:off x="4038600" y="656526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b="1">
                <a:solidFill>
                  <a:srgbClr val="0A3041"/>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2"/>
          <p:cNvSpPr txBox="1">
            <a:spLocks noGrp="1"/>
          </p:cNvSpPr>
          <p:nvPr>
            <p:ph type="sldNum" idx="12"/>
          </p:nvPr>
        </p:nvSpPr>
        <p:spPr>
          <a:xfrm>
            <a:off x="9156511" y="657212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A3041"/>
                </a:solidFill>
                <a:latin typeface="Lato"/>
                <a:ea typeface="Lato"/>
                <a:cs typeface="Lato"/>
                <a:sym typeface="Lato"/>
              </a:defRPr>
            </a:lvl1pPr>
            <a:lvl2pPr marL="0" lvl="1" indent="0" algn="r">
              <a:spcBef>
                <a:spcPts val="0"/>
              </a:spcBef>
              <a:buNone/>
              <a:defRPr sz="1200" b="1">
                <a:solidFill>
                  <a:srgbClr val="0A3041"/>
                </a:solidFill>
                <a:latin typeface="Lato"/>
                <a:ea typeface="Lato"/>
                <a:cs typeface="Lato"/>
                <a:sym typeface="Lato"/>
              </a:defRPr>
            </a:lvl2pPr>
            <a:lvl3pPr marL="0" lvl="2" indent="0" algn="r">
              <a:spcBef>
                <a:spcPts val="0"/>
              </a:spcBef>
              <a:buNone/>
              <a:defRPr sz="1200" b="1">
                <a:solidFill>
                  <a:srgbClr val="0A3041"/>
                </a:solidFill>
                <a:latin typeface="Lato"/>
                <a:ea typeface="Lato"/>
                <a:cs typeface="Lato"/>
                <a:sym typeface="Lato"/>
              </a:defRPr>
            </a:lvl3pPr>
            <a:lvl4pPr marL="0" lvl="3" indent="0" algn="r">
              <a:spcBef>
                <a:spcPts val="0"/>
              </a:spcBef>
              <a:buNone/>
              <a:defRPr sz="1200" b="1">
                <a:solidFill>
                  <a:srgbClr val="0A3041"/>
                </a:solidFill>
                <a:latin typeface="Lato"/>
                <a:ea typeface="Lato"/>
                <a:cs typeface="Lato"/>
                <a:sym typeface="Lato"/>
              </a:defRPr>
            </a:lvl4pPr>
            <a:lvl5pPr marL="0" lvl="4" indent="0" algn="r">
              <a:spcBef>
                <a:spcPts val="0"/>
              </a:spcBef>
              <a:buNone/>
              <a:defRPr sz="1200" b="1">
                <a:solidFill>
                  <a:srgbClr val="0A3041"/>
                </a:solidFill>
                <a:latin typeface="Lato"/>
                <a:ea typeface="Lato"/>
                <a:cs typeface="Lato"/>
                <a:sym typeface="Lato"/>
              </a:defRPr>
            </a:lvl5pPr>
            <a:lvl6pPr marL="0" lvl="5" indent="0" algn="r">
              <a:spcBef>
                <a:spcPts val="0"/>
              </a:spcBef>
              <a:buNone/>
              <a:defRPr sz="1200" b="1">
                <a:solidFill>
                  <a:srgbClr val="0A3041"/>
                </a:solidFill>
                <a:latin typeface="Lato"/>
                <a:ea typeface="Lato"/>
                <a:cs typeface="Lato"/>
                <a:sym typeface="Lato"/>
              </a:defRPr>
            </a:lvl6pPr>
            <a:lvl7pPr marL="0" lvl="6" indent="0" algn="r">
              <a:spcBef>
                <a:spcPts val="0"/>
              </a:spcBef>
              <a:buNone/>
              <a:defRPr sz="1200" b="1">
                <a:solidFill>
                  <a:srgbClr val="0A3041"/>
                </a:solidFill>
                <a:latin typeface="Lato"/>
                <a:ea typeface="Lato"/>
                <a:cs typeface="Lato"/>
                <a:sym typeface="Lato"/>
              </a:defRPr>
            </a:lvl7pPr>
            <a:lvl8pPr marL="0" lvl="7" indent="0" algn="r">
              <a:spcBef>
                <a:spcPts val="0"/>
              </a:spcBef>
              <a:buNone/>
              <a:defRPr sz="1200" b="1">
                <a:solidFill>
                  <a:srgbClr val="0A3041"/>
                </a:solidFill>
                <a:latin typeface="Lato"/>
                <a:ea typeface="Lato"/>
                <a:cs typeface="Lato"/>
                <a:sym typeface="Lato"/>
              </a:defRPr>
            </a:lvl8pPr>
            <a:lvl9pPr marL="0" lvl="8" indent="0" algn="r">
              <a:spcBef>
                <a:spcPts val="0"/>
              </a:spcBef>
              <a:buNone/>
              <a:defRPr sz="1200" b="1">
                <a:solidFill>
                  <a:srgbClr val="0A304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42"/>
          <p:cNvSpPr txBox="1">
            <a:spLocks noGrp="1"/>
          </p:cNvSpPr>
          <p:nvPr>
            <p:ph type="title"/>
          </p:nvPr>
        </p:nvSpPr>
        <p:spPr>
          <a:xfrm>
            <a:off x="313436" y="78616"/>
            <a:ext cx="11565128" cy="4517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2800"/>
              <a:buFont typeface="Lato"/>
              <a:buNone/>
              <a:defRPr sz="2800" b="1">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2"/>
          <p:cNvSpPr txBox="1">
            <a:spLocks noGrp="1"/>
          </p:cNvSpPr>
          <p:nvPr>
            <p:ph type="body" idx="1"/>
          </p:nvPr>
        </p:nvSpPr>
        <p:spPr>
          <a:xfrm>
            <a:off x="313268" y="963168"/>
            <a:ext cx="11565467" cy="513283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43"/>
          <p:cNvSpPr txBox="1">
            <a:spLocks noGrp="1"/>
          </p:cNvSpPr>
          <p:nvPr>
            <p:ph type="dt" idx="10"/>
          </p:nvPr>
        </p:nvSpPr>
        <p:spPr>
          <a:xfrm>
            <a:off x="838200" y="656526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200" b="1">
                <a:solidFill>
                  <a:srgbClr val="F2F2F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3"/>
          <p:cNvSpPr txBox="1">
            <a:spLocks noGrp="1"/>
          </p:cNvSpPr>
          <p:nvPr>
            <p:ph type="ftr" idx="11"/>
          </p:nvPr>
        </p:nvSpPr>
        <p:spPr>
          <a:xfrm>
            <a:off x="4038600" y="656526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b="1">
                <a:solidFill>
                  <a:srgbClr val="0A3041"/>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3"/>
          <p:cNvSpPr txBox="1">
            <a:spLocks noGrp="1"/>
          </p:cNvSpPr>
          <p:nvPr>
            <p:ph type="sldNum" idx="12"/>
          </p:nvPr>
        </p:nvSpPr>
        <p:spPr>
          <a:xfrm>
            <a:off x="9156511" y="657212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A3041"/>
                </a:solidFill>
                <a:latin typeface="Lato"/>
                <a:ea typeface="Lato"/>
                <a:cs typeface="Lato"/>
                <a:sym typeface="Lato"/>
              </a:defRPr>
            </a:lvl1pPr>
            <a:lvl2pPr marL="0" lvl="1" indent="0" algn="r">
              <a:spcBef>
                <a:spcPts val="0"/>
              </a:spcBef>
              <a:buNone/>
              <a:defRPr sz="1200" b="1">
                <a:solidFill>
                  <a:srgbClr val="0A3041"/>
                </a:solidFill>
                <a:latin typeface="Lato"/>
                <a:ea typeface="Lato"/>
                <a:cs typeface="Lato"/>
                <a:sym typeface="Lato"/>
              </a:defRPr>
            </a:lvl2pPr>
            <a:lvl3pPr marL="0" lvl="2" indent="0" algn="r">
              <a:spcBef>
                <a:spcPts val="0"/>
              </a:spcBef>
              <a:buNone/>
              <a:defRPr sz="1200" b="1">
                <a:solidFill>
                  <a:srgbClr val="0A3041"/>
                </a:solidFill>
                <a:latin typeface="Lato"/>
                <a:ea typeface="Lato"/>
                <a:cs typeface="Lato"/>
                <a:sym typeface="Lato"/>
              </a:defRPr>
            </a:lvl3pPr>
            <a:lvl4pPr marL="0" lvl="3" indent="0" algn="r">
              <a:spcBef>
                <a:spcPts val="0"/>
              </a:spcBef>
              <a:buNone/>
              <a:defRPr sz="1200" b="1">
                <a:solidFill>
                  <a:srgbClr val="0A3041"/>
                </a:solidFill>
                <a:latin typeface="Lato"/>
                <a:ea typeface="Lato"/>
                <a:cs typeface="Lato"/>
                <a:sym typeface="Lato"/>
              </a:defRPr>
            </a:lvl4pPr>
            <a:lvl5pPr marL="0" lvl="4" indent="0" algn="r">
              <a:spcBef>
                <a:spcPts val="0"/>
              </a:spcBef>
              <a:buNone/>
              <a:defRPr sz="1200" b="1">
                <a:solidFill>
                  <a:srgbClr val="0A3041"/>
                </a:solidFill>
                <a:latin typeface="Lato"/>
                <a:ea typeface="Lato"/>
                <a:cs typeface="Lato"/>
                <a:sym typeface="Lato"/>
              </a:defRPr>
            </a:lvl5pPr>
            <a:lvl6pPr marL="0" lvl="5" indent="0" algn="r">
              <a:spcBef>
                <a:spcPts val="0"/>
              </a:spcBef>
              <a:buNone/>
              <a:defRPr sz="1200" b="1">
                <a:solidFill>
                  <a:srgbClr val="0A3041"/>
                </a:solidFill>
                <a:latin typeface="Lato"/>
                <a:ea typeface="Lato"/>
                <a:cs typeface="Lato"/>
                <a:sym typeface="Lato"/>
              </a:defRPr>
            </a:lvl6pPr>
            <a:lvl7pPr marL="0" lvl="6" indent="0" algn="r">
              <a:spcBef>
                <a:spcPts val="0"/>
              </a:spcBef>
              <a:buNone/>
              <a:defRPr sz="1200" b="1">
                <a:solidFill>
                  <a:srgbClr val="0A3041"/>
                </a:solidFill>
                <a:latin typeface="Lato"/>
                <a:ea typeface="Lato"/>
                <a:cs typeface="Lato"/>
                <a:sym typeface="Lato"/>
              </a:defRPr>
            </a:lvl7pPr>
            <a:lvl8pPr marL="0" lvl="7" indent="0" algn="r">
              <a:spcBef>
                <a:spcPts val="0"/>
              </a:spcBef>
              <a:buNone/>
              <a:defRPr sz="1200" b="1">
                <a:solidFill>
                  <a:srgbClr val="0A3041"/>
                </a:solidFill>
                <a:latin typeface="Lato"/>
                <a:ea typeface="Lato"/>
                <a:cs typeface="Lato"/>
                <a:sym typeface="Lato"/>
              </a:defRPr>
            </a:lvl8pPr>
            <a:lvl9pPr marL="0" lvl="8" indent="0" algn="r">
              <a:spcBef>
                <a:spcPts val="0"/>
              </a:spcBef>
              <a:buNone/>
              <a:defRPr sz="1200" b="1">
                <a:solidFill>
                  <a:srgbClr val="0A304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êu đề Bản chiếu" type="title">
  <p:cSld name="TITLE">
    <p:spTree>
      <p:nvGrpSpPr>
        <p:cNvPr id="1" name="Shape 28"/>
        <p:cNvGrpSpPr/>
        <p:nvPr/>
      </p:nvGrpSpPr>
      <p:grpSpPr>
        <a:xfrm>
          <a:off x="0" y="0"/>
          <a:ext cx="0" cy="0"/>
          <a:chOff x="0" y="0"/>
          <a:chExt cx="0" cy="0"/>
        </a:xfrm>
      </p:grpSpPr>
      <p:sp>
        <p:nvSpPr>
          <p:cNvPr id="29" name="Google Shape;29;p4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 name="Google Shape;3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êu đề và Nội dung" type="obj">
  <p:cSld name="OBJECT">
    <p:spTree>
      <p:nvGrpSpPr>
        <p:cNvPr id="1" name="Shape 34"/>
        <p:cNvGrpSpPr/>
        <p:nvPr/>
      </p:nvGrpSpPr>
      <p:grpSpPr>
        <a:xfrm>
          <a:off x="0" y="0"/>
          <a:ext cx="0" cy="0"/>
          <a:chOff x="0" y="0"/>
          <a:chExt cx="0" cy="0"/>
        </a:xfrm>
      </p:grpSpPr>
      <p:sp>
        <p:nvSpPr>
          <p:cNvPr id="35" name="Google Shape;35;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Đầu trang của Phần" type="secHead">
  <p:cSld name="SECTION_HEADER">
    <p:spTree>
      <p:nvGrpSpPr>
        <p:cNvPr id="1" name="Shape 40"/>
        <p:cNvGrpSpPr/>
        <p:nvPr/>
      </p:nvGrpSpPr>
      <p:grpSpPr>
        <a:xfrm>
          <a:off x="0" y="0"/>
          <a:ext cx="0" cy="0"/>
          <a:chOff x="0" y="0"/>
          <a:chExt cx="0" cy="0"/>
        </a:xfrm>
      </p:grpSpPr>
      <p:sp>
        <p:nvSpPr>
          <p:cNvPr id="41" name="Google Shape;41;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3" name="Google Shape;43;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ai Nội dung" type="twoObj">
  <p:cSld name="TWO_OBJECTS">
    <p:spTree>
      <p:nvGrpSpPr>
        <p:cNvPr id="1" name="Shape 46"/>
        <p:cNvGrpSpPr/>
        <p:nvPr/>
      </p:nvGrpSpPr>
      <p:grpSpPr>
        <a:xfrm>
          <a:off x="0" y="0"/>
          <a:ext cx="0" cy="0"/>
          <a:chOff x="0" y="0"/>
          <a:chExt cx="0" cy="0"/>
        </a:xfrm>
      </p:grpSpPr>
      <p:sp>
        <p:nvSpPr>
          <p:cNvPr id="47" name="Google Shape;47;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4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4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ép so sánh" type="twoTxTwoObj">
  <p:cSld name="TWO_OBJECTS_WITH_TEXT">
    <p:spTree>
      <p:nvGrpSpPr>
        <p:cNvPr id="1" name="Shape 53"/>
        <p:cNvGrpSpPr/>
        <p:nvPr/>
      </p:nvGrpSpPr>
      <p:grpSpPr>
        <a:xfrm>
          <a:off x="0" y="0"/>
          <a:ext cx="0" cy="0"/>
          <a:chOff x="0" y="0"/>
          <a:chExt cx="0" cy="0"/>
        </a:xfrm>
      </p:grpSpPr>
      <p:sp>
        <p:nvSpPr>
          <p:cNvPr id="54" name="Google Shape;54;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hỉ Tiêu đề" type="titleOnly">
  <p:cSld name="TITLE_ONLY">
    <p:spTree>
      <p:nvGrpSpPr>
        <p:cNvPr id="1" name="Shape 62"/>
        <p:cNvGrpSpPr/>
        <p:nvPr/>
      </p:nvGrpSpPr>
      <p:grpSpPr>
        <a:xfrm>
          <a:off x="0" y="0"/>
          <a:ext cx="0" cy="0"/>
          <a:chOff x="0" y="0"/>
          <a:chExt cx="0" cy="0"/>
        </a:xfrm>
      </p:grpSpPr>
      <p:sp>
        <p:nvSpPr>
          <p:cNvPr id="63" name="Google Shape;63;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rống" type="blank">
  <p:cSld name="BLANK">
    <p:spTree>
      <p:nvGrpSpPr>
        <p:cNvPr id="1" name="Shape 67"/>
        <p:cNvGrpSpPr/>
        <p:nvPr/>
      </p:nvGrpSpPr>
      <p:grpSpPr>
        <a:xfrm>
          <a:off x="0" y="0"/>
          <a:ext cx="0" cy="0"/>
          <a:chOff x="0" y="0"/>
          <a:chExt cx="0" cy="0"/>
        </a:xfrm>
      </p:grpSpPr>
      <p:sp>
        <p:nvSpPr>
          <p:cNvPr id="68" name="Google Shape;68;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ội dung với Chú thích" type="objTx">
  <p:cSld name="OBJECT_WITH_CAPTION_TEXT">
    <p:spTree>
      <p:nvGrpSpPr>
        <p:cNvPr id="1" name="Shape 71"/>
        <p:cNvGrpSpPr/>
        <p:nvPr/>
      </p:nvGrpSpPr>
      <p:grpSpPr>
        <a:xfrm>
          <a:off x="0" y="0"/>
          <a:ext cx="0" cy="0"/>
          <a:chOff x="0" y="0"/>
          <a:chExt cx="0" cy="0"/>
        </a:xfrm>
      </p:grpSpPr>
      <p:sp>
        <p:nvSpPr>
          <p:cNvPr id="72" name="Google Shape;72;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nh với Chú thích" type="picTx">
  <p:cSld name="PICTURE_WITH_CAPTION_TEXT">
    <p:spTree>
      <p:nvGrpSpPr>
        <p:cNvPr id="1" name="Shape 78"/>
        <p:cNvGrpSpPr/>
        <p:nvPr/>
      </p:nvGrpSpPr>
      <p:grpSpPr>
        <a:xfrm>
          <a:off x="0" y="0"/>
          <a:ext cx="0" cy="0"/>
          <a:chOff x="0" y="0"/>
          <a:chExt cx="0" cy="0"/>
        </a:xfrm>
      </p:grpSpPr>
      <p:sp>
        <p:nvSpPr>
          <p:cNvPr id="79" name="Google Shape;79;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2"/>
          <p:cNvSpPr>
            <a:spLocks noGrp="1"/>
          </p:cNvSpPr>
          <p:nvPr>
            <p:ph type="pic" idx="2"/>
          </p:nvPr>
        </p:nvSpPr>
        <p:spPr>
          <a:xfrm>
            <a:off x="5183188" y="987425"/>
            <a:ext cx="6172200" cy="4873625"/>
          </a:xfrm>
          <a:prstGeom prst="rect">
            <a:avLst/>
          </a:prstGeom>
          <a:noFill/>
          <a:ln>
            <a:noFill/>
          </a:ln>
        </p:spPr>
      </p:sp>
      <p:sp>
        <p:nvSpPr>
          <p:cNvPr id="81" name="Google Shape;81;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êu đề và Văn bản Dọc" type="vertTx">
  <p:cSld name="VERTICAL_TEXT">
    <p:spTree>
      <p:nvGrpSpPr>
        <p:cNvPr id="1" name="Shape 85"/>
        <p:cNvGrpSpPr/>
        <p:nvPr/>
      </p:nvGrpSpPr>
      <p:grpSpPr>
        <a:xfrm>
          <a:off x="0" y="0"/>
          <a:ext cx="0" cy="0"/>
          <a:chOff x="0" y="0"/>
          <a:chExt cx="0" cy="0"/>
        </a:xfrm>
      </p:grpSpPr>
      <p:sp>
        <p:nvSpPr>
          <p:cNvPr id="86" name="Google Shape;86;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êu đề Dọc và Văn bản" type="vertTitleAndTx">
  <p:cSld name="VERTICAL_TITLE_AND_VERTICAL_TEXT">
    <p:spTree>
      <p:nvGrpSpPr>
        <p:cNvPr id="1" name="Shape 91"/>
        <p:cNvGrpSpPr/>
        <p:nvPr/>
      </p:nvGrpSpPr>
      <p:grpSpPr>
        <a:xfrm>
          <a:off x="0" y="0"/>
          <a:ext cx="0" cy="0"/>
          <a:chOff x="0" y="0"/>
          <a:chExt cx="0" cy="0"/>
        </a:xfrm>
      </p:grpSpPr>
      <p:sp>
        <p:nvSpPr>
          <p:cNvPr id="92" name="Google Shape;92;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
          <p:cNvPicPr preferRelativeResize="0"/>
          <p:nvPr/>
        </p:nvPicPr>
        <p:blipFill rotWithShape="1">
          <a:blip r:embed="rId3">
            <a:alphaModFix/>
          </a:blip>
          <a:srcRect/>
          <a:stretch/>
        </p:blipFill>
        <p:spPr>
          <a:xfrm>
            <a:off x="918401" y="341827"/>
            <a:ext cx="2037225" cy="611595"/>
          </a:xfrm>
          <a:prstGeom prst="rect">
            <a:avLst/>
          </a:prstGeom>
          <a:noFill/>
          <a:ln>
            <a:noFill/>
          </a:ln>
        </p:spPr>
      </p:pic>
      <p:sp>
        <p:nvSpPr>
          <p:cNvPr id="102" name="Google Shape;102;p1"/>
          <p:cNvSpPr txBox="1"/>
          <p:nvPr/>
        </p:nvSpPr>
        <p:spPr>
          <a:xfrm>
            <a:off x="737115" y="1353312"/>
            <a:ext cx="8878833" cy="138988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C00000"/>
              </a:buClr>
              <a:buSzPts val="4800"/>
              <a:buFont typeface="Lato"/>
              <a:buNone/>
            </a:pPr>
            <a:r>
              <a:rPr lang="en-US" sz="3800" b="1" i="0" u="none" strike="noStrike" cap="none">
                <a:solidFill>
                  <a:srgbClr val="C00000"/>
                </a:solidFill>
                <a:latin typeface="Lato"/>
                <a:ea typeface="Lato"/>
                <a:cs typeface="Lato"/>
                <a:sym typeface="Lato"/>
              </a:rPr>
              <a:t>THIẾT KẾ HỆ TRUYỀN ĐỘNG  CƠ CẤU XE CON CẦU TRỤC</a:t>
            </a:r>
            <a:endParaRPr/>
          </a:p>
        </p:txBody>
      </p:sp>
      <p:sp>
        <p:nvSpPr>
          <p:cNvPr id="103" name="Google Shape;103;p1"/>
          <p:cNvSpPr txBox="1"/>
          <p:nvPr/>
        </p:nvSpPr>
        <p:spPr>
          <a:xfrm>
            <a:off x="737115" y="3794760"/>
            <a:ext cx="3925723" cy="201168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Nguyễn Bá Hưng</a:t>
            </a:r>
            <a:endParaRPr/>
          </a:p>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Đặng Nguyên Bình</a:t>
            </a:r>
            <a:endParaRPr/>
          </a:p>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Trần Đỗ Khải</a:t>
            </a:r>
            <a:endParaRPr sz="20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Phạm Văn Hưng</a:t>
            </a:r>
            <a:endParaRPr sz="20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Nguyễn Hải Trung</a:t>
            </a:r>
          </a:p>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Nghi</a:t>
            </a:r>
            <a:r>
              <a:rPr lang="en-US" sz="1500">
                <a:solidFill>
                  <a:srgbClr val="C00000"/>
                </a:solidFill>
                <a:latin typeface="Lato"/>
                <a:ea typeface="Lato"/>
                <a:cs typeface="Lato"/>
                <a:sym typeface="Lato"/>
              </a:rPr>
              <a:t>êm Trọng Đông</a:t>
            </a:r>
            <a:endParaRPr sz="20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000"/>
              <a:buFont typeface="Lato"/>
              <a:buNone/>
            </a:pPr>
            <a:endParaRPr sz="20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000"/>
              <a:buFont typeface="Lato"/>
              <a:buNone/>
            </a:pPr>
            <a:endParaRPr sz="2000" b="0" i="0" u="none" strike="noStrike" cap="none">
              <a:solidFill>
                <a:srgbClr val="C00000"/>
              </a:solidFill>
              <a:latin typeface="Lato"/>
              <a:ea typeface="Lato"/>
              <a:cs typeface="Lato"/>
              <a:sym typeface="Lato"/>
            </a:endParaRPr>
          </a:p>
        </p:txBody>
      </p:sp>
      <p:sp>
        <p:nvSpPr>
          <p:cNvPr id="104" name="Google Shape;104;p1"/>
          <p:cNvSpPr txBox="1"/>
          <p:nvPr/>
        </p:nvSpPr>
        <p:spPr>
          <a:xfrm>
            <a:off x="4002441" y="3794760"/>
            <a:ext cx="1364825" cy="201168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20232107</a:t>
            </a:r>
            <a:endParaRPr/>
          </a:p>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20231937</a:t>
            </a:r>
            <a:endParaRPr/>
          </a:p>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20232131</a:t>
            </a:r>
            <a:endParaRPr/>
          </a:p>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20232109</a:t>
            </a:r>
            <a:endParaRPr/>
          </a:p>
          <a:p>
            <a:pPr marL="0" marR="0" lvl="0" indent="0" algn="l" rtl="0">
              <a:lnSpc>
                <a:spcPct val="90000"/>
              </a:lnSpc>
              <a:spcBef>
                <a:spcPts val="0"/>
              </a:spcBef>
              <a:spcAft>
                <a:spcPts val="0"/>
              </a:spcAft>
              <a:buClr>
                <a:srgbClr val="C00000"/>
              </a:buClr>
              <a:buSzPts val="2000"/>
              <a:buFont typeface="Lato"/>
              <a:buNone/>
            </a:pPr>
            <a:r>
              <a:rPr lang="en-US" sz="1500" b="0" i="0" u="none" strike="noStrike" cap="none">
                <a:solidFill>
                  <a:srgbClr val="C00000"/>
                </a:solidFill>
                <a:latin typeface="Lato"/>
                <a:ea typeface="Lato"/>
                <a:cs typeface="Lato"/>
                <a:sym typeface="Lato"/>
              </a:rPr>
              <a:t>20232344</a:t>
            </a:r>
          </a:p>
          <a:p>
            <a:pPr marL="0" marR="0" lvl="0" indent="0" algn="l" rtl="0">
              <a:lnSpc>
                <a:spcPct val="90000"/>
              </a:lnSpc>
              <a:spcBef>
                <a:spcPts val="0"/>
              </a:spcBef>
              <a:spcAft>
                <a:spcPts val="0"/>
              </a:spcAft>
              <a:buClr>
                <a:srgbClr val="C00000"/>
              </a:buClr>
              <a:buSzPts val="2000"/>
              <a:buFont typeface="Lato"/>
              <a:buNone/>
            </a:pPr>
            <a:r>
              <a:rPr lang="en-US" sz="1500">
                <a:solidFill>
                  <a:srgbClr val="C00000"/>
                </a:solidFill>
                <a:latin typeface="Lato"/>
                <a:ea typeface="Lato"/>
                <a:cs typeface="Lato"/>
                <a:sym typeface="Lato"/>
              </a:rPr>
              <a:t>20232001</a:t>
            </a:r>
            <a:endParaRPr/>
          </a:p>
          <a:p>
            <a:pPr marL="0" marR="0" lvl="0" indent="0" algn="l" rtl="0">
              <a:lnSpc>
                <a:spcPct val="90000"/>
              </a:lnSpc>
              <a:spcBef>
                <a:spcPts val="0"/>
              </a:spcBef>
              <a:spcAft>
                <a:spcPts val="0"/>
              </a:spcAft>
              <a:buClr>
                <a:srgbClr val="C00000"/>
              </a:buClr>
              <a:buSzPts val="2000"/>
              <a:buFont typeface="Lato"/>
              <a:buNone/>
            </a:pPr>
            <a:endParaRPr sz="2000" b="0" i="0" u="none" strike="noStrike" cap="none">
              <a:solidFill>
                <a:srgbClr val="C00000"/>
              </a:solidFill>
              <a:latin typeface="Lato"/>
              <a:ea typeface="Lato"/>
              <a:cs typeface="Lato"/>
              <a:sym typeface="Lato"/>
            </a:endParaRPr>
          </a:p>
        </p:txBody>
      </p:sp>
      <p:sp>
        <p:nvSpPr>
          <p:cNvPr id="105" name="Google Shape;105;p1"/>
          <p:cNvSpPr txBox="1"/>
          <p:nvPr/>
        </p:nvSpPr>
        <p:spPr>
          <a:xfrm>
            <a:off x="619432" y="5742432"/>
            <a:ext cx="5397910" cy="411480"/>
          </a:xfrm>
          <a:prstGeom prst="rect">
            <a:avLst/>
          </a:prstGeom>
          <a:noFill/>
          <a:ln>
            <a:noFill/>
          </a:ln>
        </p:spPr>
        <p:txBody>
          <a:bodyPr spcFirstLastPara="1" wrap="square" lIns="91425" tIns="45700" rIns="91425" bIns="45700" anchor="t" anchorCtr="0">
            <a:noAutofit/>
          </a:bodyPr>
          <a:lstStyle/>
          <a:p>
            <a:r>
              <a:rPr sz="1600" b="1">
                <a:solidFill>
                  <a:srgbClr val="0E2841"/>
                </a:solidFill>
                <a:latin typeface="Arial"/>
              </a:rPr>
              <a:t>Giảng viên hướng dẫn: TS. Nguyễn Duy Đỉnh</a:t>
            </a:r>
          </a:p>
        </p:txBody>
      </p:sp>
      <p:sp>
        <p:nvSpPr>
          <p:cNvPr id="106" name="Google Shape;106;p1"/>
          <p:cNvSpPr txBox="1"/>
          <p:nvPr/>
        </p:nvSpPr>
        <p:spPr>
          <a:xfrm>
            <a:off x="737117" y="3469613"/>
            <a:ext cx="3925723" cy="36082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000"/>
              <a:buFont typeface="Lato"/>
              <a:buNone/>
            </a:pPr>
            <a:r>
              <a:rPr lang="en-US" sz="2000" b="1" i="0" u="none" strike="noStrike" cap="none">
                <a:solidFill>
                  <a:srgbClr val="C00000"/>
                </a:solidFill>
                <a:latin typeface="Lato"/>
                <a:ea typeface="Lato"/>
                <a:cs typeface="Lato"/>
                <a:sym typeface="Lato"/>
              </a:rPr>
              <a:t>NHÓM 8.5-EMG</a:t>
            </a:r>
            <a:endParaRPr/>
          </a:p>
          <a:p>
            <a:pPr marL="0" marR="0" lvl="0" indent="0" algn="l" rtl="0">
              <a:lnSpc>
                <a:spcPct val="90000"/>
              </a:lnSpc>
              <a:spcBef>
                <a:spcPts val="0"/>
              </a:spcBef>
              <a:spcAft>
                <a:spcPts val="0"/>
              </a:spcAft>
              <a:buClr>
                <a:srgbClr val="C00000"/>
              </a:buClr>
              <a:buSzPts val="2000"/>
              <a:buFont typeface="Lato"/>
              <a:buNone/>
            </a:pPr>
            <a:endParaRPr sz="2000" b="1"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000"/>
              <a:buFont typeface="Lato"/>
              <a:buNone/>
            </a:pPr>
            <a:endParaRPr sz="2000" b="1" i="0" u="none" strike="noStrike" cap="none">
              <a:solidFill>
                <a:srgbClr val="C00000"/>
              </a:solidFill>
              <a:latin typeface="Lato"/>
              <a:ea typeface="Lato"/>
              <a:cs typeface="Lato"/>
              <a:sym typeface="Lato"/>
            </a:endParaRPr>
          </a:p>
        </p:txBody>
      </p:sp>
      <p:sp>
        <p:nvSpPr>
          <p:cNvPr id="107" name="TextBox 106"/>
          <p:cNvSpPr txBox="1"/>
          <p:nvPr/>
        </p:nvSpPr>
        <p:spPr>
          <a:xfrm>
            <a:off x="740664" y="2788920"/>
            <a:ext cx="10607040" cy="603504"/>
          </a:xfrm>
          <a:prstGeom prst="rect">
            <a:avLst/>
          </a:prstGeom>
          <a:noFill/>
        </p:spPr>
        <p:txBody>
          <a:bodyPr wrap="square" lIns="25400" tIns="25400" rIns="25400" bIns="25400">
            <a:spAutoFit/>
          </a:bodyPr>
          <a:lstStyle/>
          <a:p>
            <a:r>
              <a:rPr sz="1400" b="1">
                <a:solidFill>
                  <a:srgbClr val="C00000"/>
                </a:solidFill>
                <a:latin typeface="Arial"/>
              </a:rPr>
              <a:t>BÁO CÁO TIẾN ĐỘ KHỐI 1 (GATE 2: SRR-EVT) — ĐẶC TẢ YÊU CẦU HỆ THỐNG (SRS), TRUY VẾT RTM &amp; KẾ HOẠCH DVP&amp;R L0 (ĐỀ X =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 TỔNG QUAN KHỐI 1 (WBS 1.0) &amp; MỤC TIÊU CỔNG GATE 2 (SRR-EVT)</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Chuyển hóa </a:t>
            </a:r>
            <a:r>
              <a:rPr sz="1350" i="0" b="1">
                <a:solidFill>
                  <a:srgbClr val="0E2841"/>
                </a:solidFill>
                <a:latin typeface="Arial"/>
              </a:rPr>
              <a:t>8 PRD + 8 HoQ EC</a:t>
            </a:r>
            <a:r>
              <a:rPr sz="1350" i="0" b="1">
                <a:solidFill>
                  <a:srgbClr val="C00000"/>
                </a:solidFill>
                <a:latin typeface="Arial"/>
              </a:rPr>
              <a:t> (Khối 0) thành </a:t>
            </a:r>
            <a:r>
              <a:rPr sz="1350" i="0" b="1">
                <a:solidFill>
                  <a:srgbClr val="0E2841"/>
                </a:solidFill>
                <a:latin typeface="Arial"/>
              </a:rPr>
              <a:t>14 Yêu cầu SRS nguyên tử</a:t>
            </a:r>
            <a:r>
              <a:rPr sz="1350" i="0" b="1">
                <a:solidFill>
                  <a:srgbClr val="C00000"/>
                </a:solidFill>
                <a:latin typeface="Arial"/>
              </a:rPr>
              <a:t> &amp; </a:t>
            </a:r>
            <a:r>
              <a:rPr sz="1350" i="0" b="1">
                <a:solidFill>
                  <a:srgbClr val="0E2841"/>
                </a:solidFill>
                <a:latin typeface="Arial"/>
              </a:rPr>
              <a:t>14 Bài test DVP-L0</a:t>
            </a:r>
            <a:r>
              <a:rPr sz="1350" i="0" b="1">
                <a:solidFill>
                  <a:srgbClr val="C00000"/>
                </a:solidFill>
                <a:latin typeface="Arial"/>
              </a:rPr>
              <a:t> (</a:t>
            </a:r>
            <a:r>
              <a:rPr sz="1350" i="0" b="1">
                <a:solidFill>
                  <a:srgbClr val="0E2841"/>
                </a:solidFill>
                <a:latin typeface="Arial"/>
              </a:rPr>
              <a:t>100% Coverage</a:t>
            </a:r>
            <a:r>
              <a:rPr sz="1350" i="0" b="1">
                <a:solidFill>
                  <a:srgbClr val="C00000"/>
                </a:solidFill>
                <a:latin typeface="Arial"/>
              </a:rPr>
              <a:t>)</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Khối 1 (Gate 2: SRR-EVT) — WBS 1.0 Overview | Slide 02 / 16</a:t>
            </a:r>
          </a:p>
        </p:txBody>
      </p:sp>
      <p:sp>
        <p:nvSpPr>
          <p:cNvPr id="5" name="Pentagon 4"/>
          <p:cNvSpPr/>
          <p:nvPr/>
        </p:nvSpPr>
        <p:spPr>
          <a:xfrm>
            <a:off x="310896" y="1234440"/>
            <a:ext cx="2269540" cy="475488"/>
          </a:xfrm>
          <a:prstGeom prst="homePlate">
            <a:avLst/>
          </a:prstGeom>
          <a:solidFill>
            <a:srgbClr val="0E2841"/>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73152" tIns="12700" bIns="12700"/>
          <a:lstStyle/>
          <a:p>
            <a:pPr algn="ctr"/>
            <a:r>
              <a:rPr sz="1019" b="1">
                <a:solidFill>
                  <a:srgbClr val="FFFFFF"/>
                </a:solidFill>
                <a:latin typeface="Arial"/>
              </a:rPr>
              <a:t>Đầu vào Gate 1 (MCR)
8 PRD + 8 HoQ EC + PA C</a:t>
            </a:r>
          </a:p>
        </p:txBody>
      </p:sp>
      <p:sp>
        <p:nvSpPr>
          <p:cNvPr id="6" name="Chevron 5"/>
          <p:cNvSpPr/>
          <p:nvPr/>
        </p:nvSpPr>
        <p:spPr>
          <a:xfrm>
            <a:off x="2635300" y="1234440"/>
            <a:ext cx="2269540" cy="475488"/>
          </a:xfrm>
          <a:prstGeom prst="chevron">
            <a:avLst/>
          </a:prstGeom>
          <a:solidFill>
            <a:srgbClr val="0E2841"/>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128016" tIns="12700" bIns="12700"/>
          <a:lstStyle/>
          <a:p>
            <a:pPr algn="ctr"/>
            <a:r>
              <a:rPr sz="1019" b="1">
                <a:solidFill>
                  <a:srgbClr val="FFFFFF"/>
                </a:solidFill>
                <a:latin typeface="Arial"/>
              </a:rPr>
              <a:t>SOW-1.1: Ngữ cảnh &amp; P-Diagram
10 Giao diện + 8 CTQ + 5 CTS</a:t>
            </a:r>
          </a:p>
        </p:txBody>
      </p:sp>
      <p:sp>
        <p:nvSpPr>
          <p:cNvPr id="7" name="Chevron 6"/>
          <p:cNvSpPr/>
          <p:nvPr/>
        </p:nvSpPr>
        <p:spPr>
          <a:xfrm>
            <a:off x="4959705" y="1234440"/>
            <a:ext cx="2269540" cy="475488"/>
          </a:xfrm>
          <a:prstGeom prst="chevron">
            <a:avLst/>
          </a:prstGeom>
          <a:solidFill>
            <a:srgbClr val="C00000"/>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28016" tIns="12700" bIns="12700"/>
          <a:lstStyle/>
          <a:p>
            <a:pPr algn="ctr"/>
            <a:r>
              <a:rPr sz="1019" b="1">
                <a:solidFill>
                  <a:srgbClr val="FFFFFF"/>
                </a:solidFill>
                <a:latin typeface="Arial"/>
              </a:rPr>
              <a:t>SOW-1.2: Đặc tả SRS nguyên tử
7 SRS-FUNC + 7 SRS-PERM</a:t>
            </a:r>
          </a:p>
        </p:txBody>
      </p:sp>
      <p:sp>
        <p:nvSpPr>
          <p:cNvPr id="8" name="Chevron 7"/>
          <p:cNvSpPr/>
          <p:nvPr/>
        </p:nvSpPr>
        <p:spPr>
          <a:xfrm>
            <a:off x="7284110" y="1234440"/>
            <a:ext cx="2269540" cy="475488"/>
          </a:xfrm>
          <a:prstGeom prst="chevron">
            <a:avLst/>
          </a:prstGeom>
          <a:solidFill>
            <a:srgbClr val="E2E8F0"/>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128016" tIns="12700" bIns="12700"/>
          <a:lstStyle/>
          <a:p>
            <a:pPr algn="ctr"/>
            <a:r>
              <a:rPr sz="1019" b="1">
                <a:solidFill>
                  <a:srgbClr val="0E2841"/>
                </a:solidFill>
                <a:latin typeface="Arial"/>
              </a:rPr>
              <a:t>SOW-1.3: Truy vết &amp; Kiểm chứng
RTM 2 chiều + 14 Test DVP-L0</a:t>
            </a:r>
          </a:p>
        </p:txBody>
      </p:sp>
      <p:sp>
        <p:nvSpPr>
          <p:cNvPr id="9" name="Chevron 8"/>
          <p:cNvSpPr/>
          <p:nvPr/>
        </p:nvSpPr>
        <p:spPr>
          <a:xfrm>
            <a:off x="9608515" y="1234440"/>
            <a:ext cx="2269540" cy="475488"/>
          </a:xfrm>
          <a:prstGeom prst="chevron">
            <a:avLst/>
          </a:prstGeom>
          <a:solidFill>
            <a:srgbClr val="E2E8F0"/>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128016" tIns="12700" bIns="12700"/>
          <a:lstStyle/>
          <a:p>
            <a:pPr algn="ctr"/>
            <a:r>
              <a:rPr sz="1019" b="1">
                <a:solidFill>
                  <a:srgbClr val="0E2841"/>
                </a:solidFill>
                <a:latin typeface="Arial"/>
              </a:rPr>
              <a:t>Đầu ra Gate 2 (SRR-EVT)
Baseline cho Khối 2 (PDR)</a:t>
            </a:r>
          </a:p>
        </p:txBody>
      </p:sp>
      <p:graphicFrame>
        <p:nvGraphicFramePr>
          <p:cNvPr id="10" name="Table 9"/>
          <p:cNvGraphicFramePr>
            <a:graphicFrameLocks noGrp="1"/>
          </p:cNvGraphicFramePr>
          <p:nvPr/>
        </p:nvGraphicFramePr>
        <p:xfrm>
          <a:off x="310896" y="1792224"/>
          <a:ext cx="11567160" cy="3309213"/>
        </p:xfrm>
        <a:graphic>
          <a:graphicData uri="http://schemas.openxmlformats.org/drawingml/2006/table">
            <a:tbl>
              <a:tblPr firstRow="1" bandRow="1">
                <a:tableStyleId>{5C22544A-7EE6-4342-B048-85BDC9FD1C3A}</a:tableStyleId>
              </a:tblPr>
              <a:tblGrid>
                <a:gridCol w="1051560"/>
                <a:gridCol w="2331720"/>
                <a:gridCol w="2606040"/>
                <a:gridCol w="3520440"/>
                <a:gridCol w="2057400"/>
              </a:tblGrid>
              <a:tr h="292608">
                <a:tc>
                  <a:txBody>
                    <a:bodyPr wrap="square"/>
                    <a:lstStyle/>
                    <a:p>
                      <a:pPr algn="ctr"/>
                      <a:r>
                        <a:rPr sz="1130" b="1">
                          <a:solidFill>
                            <a:srgbClr val="FFFFFF"/>
                          </a:solidFill>
                          <a:latin typeface="Arial"/>
                        </a:rPr>
                        <a:t>Mã WBS</a:t>
                      </a:r>
                    </a:p>
                  </a:txBody>
                  <a:tcPr anchor="ctr" marT="19050" marB="19050" marL="50800" marR="50800">
                    <a:solidFill>
                      <a:srgbClr val="0E2841"/>
                    </a:solidFill>
                  </a:tcPr>
                </a:tc>
                <a:tc>
                  <a:txBody>
                    <a:bodyPr wrap="square"/>
                    <a:lstStyle/>
                    <a:p>
                      <a:pPr algn="ctr"/>
                      <a:r>
                        <a:rPr sz="1130" b="1">
                          <a:solidFill>
                            <a:srgbClr val="FFFFFF"/>
                          </a:solidFill>
                          <a:latin typeface="Arial"/>
                        </a:rPr>
                        <a:t>Gói công việc (Work Package)</a:t>
                      </a:r>
                    </a:p>
                  </a:txBody>
                  <a:tcPr anchor="ctr" marT="19050" marB="19050" marL="50800" marR="50800">
                    <a:solidFill>
                      <a:srgbClr val="0E2841"/>
                    </a:solidFill>
                  </a:tcPr>
                </a:tc>
                <a:tc>
                  <a:txBody>
                    <a:bodyPr wrap="square"/>
                    <a:lstStyle/>
                    <a:p>
                      <a:pPr algn="ctr"/>
                      <a:r>
                        <a:rPr sz="1130" b="1">
                          <a:solidFill>
                            <a:srgbClr val="FFFFFF"/>
                          </a:solidFill>
                          <a:latin typeface="Arial"/>
                        </a:rPr>
                        <a:t>Đầu vào từ Khối 0 (Gate 1)</a:t>
                      </a:r>
                    </a:p>
                  </a:txBody>
                  <a:tcPr anchor="ctr" marT="19050" marB="19050" marL="50800" marR="50800">
                    <a:solidFill>
                      <a:srgbClr val="0E2841"/>
                    </a:solidFill>
                  </a:tcPr>
                </a:tc>
                <a:tc>
                  <a:txBody>
                    <a:bodyPr wrap="square"/>
                    <a:lstStyle/>
                    <a:p>
                      <a:pPr algn="ctr"/>
                      <a:r>
                        <a:rPr sz="1130" b="1">
                          <a:solidFill>
                            <a:srgbClr val="FFFFFF"/>
                          </a:solidFill>
                          <a:latin typeface="Arial"/>
                        </a:rPr>
                        <a:t>Sản phẩm bàn giao tại Khối 1 (Deliverables)</a:t>
                      </a:r>
                    </a:p>
                  </a:txBody>
                  <a:tcPr anchor="ctr" marT="19050" marB="19050" marL="50800" marR="50800">
                    <a:solidFill>
                      <a:srgbClr val="0E2841"/>
                    </a:solidFill>
                  </a:tcPr>
                </a:tc>
                <a:tc>
                  <a:txBody>
                    <a:bodyPr wrap="square"/>
                    <a:lstStyle/>
                    <a:p>
                      <a:pPr algn="ctr"/>
                      <a:r>
                        <a:rPr sz="1130" b="1">
                          <a:solidFill>
                            <a:srgbClr val="FFFFFF"/>
                          </a:solidFill>
                          <a:latin typeface="Arial"/>
                        </a:rPr>
                        <a:t>Tiêu chuẩn &amp; Nhân sự chủ trì</a:t>
                      </a:r>
                    </a:p>
                  </a:txBody>
                  <a:tcPr anchor="ctr" marT="19050" marB="19050" marL="50800" marR="50800">
                    <a:solidFill>
                      <a:srgbClr val="0E2841"/>
                    </a:solidFill>
                  </a:tcPr>
                </a:tc>
              </a:tr>
              <a:tr h="1005535">
                <a:tc>
                  <a:txBody>
                    <a:bodyPr wrap="square"/>
                    <a:lstStyle/>
                    <a:p>
                      <a:pPr algn="ctr"/>
                      <a:r>
                        <a:rPr sz="1020" i="0" b="1">
                          <a:solidFill>
                            <a:srgbClr val="0E2841"/>
                          </a:solidFill>
                          <a:latin typeface="Arial"/>
                        </a:rPr>
                        <a:t>SOW-1.1</a:t>
                      </a:r>
                    </a:p>
                  </a:txBody>
                  <a:tcPr anchor="ctr" marT="19050" marB="19050" marL="50800" marR="50800">
                    <a:solidFill>
                      <a:srgbClr val="FEF9E7"/>
                    </a:solidFill>
                  </a:tcPr>
                </a:tc>
                <a:tc>
                  <a:txBody>
                    <a:bodyPr wrap="square"/>
                    <a:lstStyle/>
                    <a:p>
                      <a:pPr algn="l"/>
                      <a:r>
                        <a:rPr sz="1020" i="0" b="1">
                          <a:solidFill>
                            <a:srgbClr val="0E2841"/>
                          </a:solidFill>
                          <a:latin typeface="Arial"/>
                        </a:rPr>
                        <a:t>Ranh giới Hệ thống, P-Diagram &amp; CTQ/CTS</a:t>
                      </a:r>
                    </a:p>
                  </a:txBody>
                  <a:tcPr anchor="ctr" marT="19050" marB="19050" marL="50800" marR="50800">
                    <a:solidFill>
                      <a:srgbClr val="FEF9E7"/>
                    </a:solidFill>
                  </a:tcPr>
                </a:tc>
                <a:tc>
                  <a:txBody>
                    <a:bodyPr wrap="square"/>
                    <a:lstStyle/>
                    <a:p>
                      <a:pPr algn="l"/>
                      <a:r>
                        <a:rPr sz="1020" i="0" b="1">
                          <a:solidFill>
                            <a:srgbClr val="1B1B1B"/>
                          </a:solidFill>
                          <a:latin typeface="Arial"/>
                        </a:rPr>
                        <a:t>4 ràng buộc đầu vào (</a:t>
                      </a:r>
                      <a:r>
                        <a:rPr sz="1020" i="0" b="1">
                          <a:solidFill>
                            <a:srgbClr val="0E2841"/>
                          </a:solidFill>
                          <a:latin typeface="Arial"/>
                        </a:rPr>
                        <a:t>Q=12,222 kg</a:t>
                      </a:r>
                      <a:r>
                        <a:rPr sz="1020" i="0" b="1">
                          <a:solidFill>
                            <a:srgbClr val="1B1B1B"/>
                          </a:solidFill>
                          <a:latin typeface="Arial"/>
                        </a:rPr>
                        <a:t>), 4 MOP, 5 RRM, cấu trúc PA C.</a:t>
                      </a:r>
                    </a:p>
                  </a:txBody>
                  <a:tcPr anchor="ctr" marT="19050" marB="19050" marL="50800" marR="50800">
                    <a:solidFill>
                      <a:srgbClr val="FEF9E7"/>
                    </a:solidFill>
                  </a:tcPr>
                </a:tc>
                <a:tc>
                  <a:txBody>
                    <a:bodyPr wrap="square"/>
                    <a:lstStyle/>
                    <a:p>
                      <a:pPr algn="l"/>
                      <a:r>
                        <a:rPr sz="1020" i="0" b="1">
                          <a:solidFill>
                            <a:srgbClr val="1B1B1B"/>
                          </a:solidFill>
                          <a:latin typeface="Arial"/>
                        </a:rPr>
                        <a:t>• Sơ đồ </a:t>
                      </a:r>
                      <a:r>
                        <a:rPr sz="1020" i="0" b="1">
                          <a:solidFill>
                            <a:srgbClr val="0E2841"/>
                          </a:solidFill>
                          <a:latin typeface="Arial"/>
                        </a:rPr>
                        <a:t>System Boundary</a:t>
                      </a:r>
                      <a:r>
                        <a:rPr sz="1020" i="0" b="1">
                          <a:solidFill>
                            <a:srgbClr val="1B1B1B"/>
                          </a:solidFill>
                          <a:latin typeface="Arial"/>
                        </a:rPr>
                        <a:t> (3 vùng, </a:t>
                      </a:r>
                      <a:r>
                        <a:rPr sz="1020" i="0" b="1">
                          <a:solidFill>
                            <a:srgbClr val="0E2841"/>
                          </a:solidFill>
                          <a:latin typeface="Arial"/>
                        </a:rPr>
                        <a:t>10 luồng [P/E/I/M]</a:t>
                      </a:r>
                      <a:r>
                        <a:rPr sz="1020" i="0" b="1">
                          <a:solidFill>
                            <a:srgbClr val="1B1B1B"/>
                          </a:solidFill>
                          <a:latin typeface="Arial"/>
                        </a:rPr>
                        <a:t>).
• Sơ đồ </a:t>
                      </a:r>
                      <a:r>
                        <a:rPr sz="1020" i="0" b="1">
                          <a:solidFill>
                            <a:srgbClr val="0E2841"/>
                          </a:solidFill>
                          <a:latin typeface="Arial"/>
                        </a:rPr>
                        <a:t>P-Diagram</a:t>
                      </a:r>
                      <a:r>
                        <a:rPr sz="1020" i="0" b="1">
                          <a:solidFill>
                            <a:srgbClr val="1B1B1B"/>
                          </a:solidFill>
                          <a:latin typeface="Arial"/>
                        </a:rPr>
                        <a:t> (</a:t>
                      </a:r>
                      <a:r>
                        <a:rPr sz="1020" i="0" b="1">
                          <a:solidFill>
                            <a:srgbClr val="0E2841"/>
                          </a:solidFill>
                          <a:latin typeface="Arial"/>
                        </a:rPr>
                        <a:t>4 Noise</a:t>
                      </a:r>
                      <a:r>
                        <a:rPr sz="1020" i="0" b="1">
                          <a:solidFill>
                            <a:srgbClr val="1B1B1B"/>
                          </a:solidFill>
                          <a:latin typeface="Arial"/>
                        </a:rPr>
                        <a:t>, </a:t>
                      </a:r>
                      <a:r>
                        <a:rPr sz="1020" i="0" b="1">
                          <a:solidFill>
                            <a:srgbClr val="0E2841"/>
                          </a:solidFill>
                          <a:latin typeface="Arial"/>
                        </a:rPr>
                        <a:t>6 CF</a:t>
                      </a:r>
                      <a:r>
                        <a:rPr sz="1020" i="0" b="1">
                          <a:solidFill>
                            <a:srgbClr val="1B1B1B"/>
                          </a:solidFill>
                          <a:latin typeface="Arial"/>
                        </a:rPr>
                        <a:t>, </a:t>
                      </a:r>
                      <a:r>
                        <a:rPr sz="1020" i="0" b="1">
                          <a:solidFill>
                            <a:srgbClr val="0E2841"/>
                          </a:solidFill>
                          <a:latin typeface="Arial"/>
                        </a:rPr>
                        <a:t>8 CTQ</a:t>
                      </a:r>
                      <a:r>
                        <a:rPr sz="1020" i="0" b="1">
                          <a:solidFill>
                            <a:srgbClr val="1B1B1B"/>
                          </a:solidFill>
                          <a:latin typeface="Arial"/>
                        </a:rPr>
                        <a:t>, </a:t>
                      </a:r>
                      <a:r>
                        <a:rPr sz="1020" i="0" b="1">
                          <a:solidFill>
                            <a:srgbClr val="0E2841"/>
                          </a:solidFill>
                          <a:latin typeface="Arial"/>
                        </a:rPr>
                        <a:t>4 Error</a:t>
                      </a:r>
                      <a:r>
                        <a:rPr sz="1020" i="0" b="1">
                          <a:solidFill>
                            <a:srgbClr val="1B1B1B"/>
                          </a:solidFill>
                          <a:latin typeface="Arial"/>
                        </a:rPr>
                        <a:t> + </a:t>
                      </a:r>
                      <a:r>
                        <a:rPr sz="1020" i="0" b="1">
                          <a:solidFill>
                            <a:srgbClr val="0E2841"/>
                          </a:solidFill>
                          <a:latin typeface="Arial"/>
                        </a:rPr>
                        <a:t>5 CTS</a:t>
                      </a:r>
                      <a:r>
                        <a:rPr sz="1020" i="0" b="1">
                          <a:solidFill>
                            <a:srgbClr val="1B1B1B"/>
                          </a:solidFill>
                          <a:latin typeface="Arial"/>
                        </a:rPr>
                        <a:t>).</a:t>
                      </a:r>
                    </a:p>
                  </a:txBody>
                  <a:tcPr anchor="ctr" marT="19050" marB="19050" marL="50800" marR="50800">
                    <a:solidFill>
                      <a:srgbClr val="FEF9E7"/>
                    </a:solidFill>
                  </a:tcPr>
                </a:tc>
                <a:tc>
                  <a:txBody>
                    <a:bodyPr wrap="square"/>
                    <a:lstStyle/>
                    <a:p>
                      <a:pPr algn="l"/>
                      <a:r>
                        <a:rPr sz="1020" i="0" b="1">
                          <a:solidFill>
                            <a:srgbClr val="0E2841"/>
                          </a:solidFill>
                          <a:latin typeface="Arial"/>
                        </a:rPr>
                        <a:t>IEC 61800-2:2021</a:t>
                      </a:r>
                      <a:r>
                        <a:rPr sz="1020" i="0" b="1">
                          <a:solidFill>
                            <a:srgbClr val="1B1B1B"/>
                          </a:solidFill>
                          <a:latin typeface="Arial"/>
                        </a:rPr>
                        <a:t> &amp; </a:t>
                      </a:r>
                      <a:r>
                        <a:rPr sz="1020" i="0" b="1">
                          <a:solidFill>
                            <a:srgbClr val="0E2841"/>
                          </a:solidFill>
                          <a:latin typeface="Arial"/>
                        </a:rPr>
                        <a:t>IATF 16949</a:t>
                      </a:r>
                      <a:r>
                        <a:rPr sz="1020" i="0" b="1">
                          <a:solidFill>
                            <a:srgbClr val="1B1B1B"/>
                          </a:solidFill>
                          <a:latin typeface="Arial"/>
                        </a:rPr>
                        <a:t>
Chủ trì: </a:t>
                      </a:r>
                      <a:r>
                        <a:rPr sz="1020" i="0" b="1">
                          <a:solidFill>
                            <a:srgbClr val="0E2841"/>
                          </a:solidFill>
                          <a:latin typeface="Arial"/>
                        </a:rPr>
                        <a:t>SE Lead + Control Lead</a:t>
                      </a:r>
                    </a:p>
                  </a:txBody>
                  <a:tcPr anchor="ctr" marT="19050" marB="19050" marL="50800" marR="50800">
                    <a:solidFill>
                      <a:srgbClr val="FEF9E7"/>
                    </a:solidFill>
                  </a:tcPr>
                </a:tc>
              </a:tr>
              <a:tr h="1005535">
                <a:tc>
                  <a:txBody>
                    <a:bodyPr wrap="square"/>
                    <a:lstStyle/>
                    <a:p>
                      <a:pPr algn="ctr"/>
                      <a:r>
                        <a:rPr sz="1020" i="0" b="1">
                          <a:solidFill>
                            <a:srgbClr val="0E2841"/>
                          </a:solidFill>
                          <a:latin typeface="Arial"/>
                        </a:rPr>
                        <a:t>SOW-1.2</a:t>
                      </a:r>
                    </a:p>
                  </a:txBody>
                  <a:tcPr anchor="ctr" marT="19050" marB="19050" marL="50800" marR="50800">
                    <a:solidFill>
                      <a:srgbClr val="FEF9E7"/>
                    </a:solidFill>
                  </a:tcPr>
                </a:tc>
                <a:tc>
                  <a:txBody>
                    <a:bodyPr wrap="square"/>
                    <a:lstStyle/>
                    <a:p>
                      <a:pPr algn="l"/>
                      <a:r>
                        <a:rPr sz="1020" i="0" b="1">
                          <a:solidFill>
                            <a:srgbClr val="0E2841"/>
                          </a:solidFill>
                          <a:latin typeface="Arial"/>
                        </a:rPr>
                        <a:t>Đặc tả Yêu cầu Hệ thống Nguyên tử (Atomic SRS)</a:t>
                      </a:r>
                    </a:p>
                  </a:txBody>
                  <a:tcPr anchor="ctr" marT="19050" marB="19050" marL="50800" marR="50800">
                    <a:solidFill>
                      <a:srgbClr val="FEF9E7"/>
                    </a:solidFill>
                  </a:tcPr>
                </a:tc>
                <a:tc>
                  <a:txBody>
                    <a:bodyPr wrap="square"/>
                    <a:lstStyle/>
                    <a:p>
                      <a:pPr algn="l"/>
                      <a:r>
                        <a:rPr sz="1020" i="0" b="1">
                          <a:solidFill>
                            <a:srgbClr val="0E2841"/>
                          </a:solidFill>
                          <a:latin typeface="Arial"/>
                        </a:rPr>
                        <a:t>8 PRD</a:t>
                      </a:r>
                      <a:r>
                        <a:rPr sz="1020" i="0" b="1">
                          <a:solidFill>
                            <a:srgbClr val="1B1B1B"/>
                          </a:solidFill>
                          <a:latin typeface="Arial"/>
                        </a:rPr>
                        <a:t> trong phạm vi + </a:t>
                      </a:r>
                      <a:r>
                        <a:rPr sz="1020" i="0" b="1">
                          <a:solidFill>
                            <a:srgbClr val="0E2841"/>
                          </a:solidFill>
                          <a:latin typeface="Arial"/>
                        </a:rPr>
                        <a:t>8 HoQ EC</a:t>
                      </a:r>
                      <a:r>
                        <a:rPr sz="1020" i="0" b="1">
                          <a:solidFill>
                            <a:srgbClr val="1B1B1B"/>
                          </a:solidFill>
                          <a:latin typeface="Arial"/>
                        </a:rPr>
                        <a:t> + </a:t>
                      </a:r>
                      <a:r>
                        <a:rPr sz="1020" i="0" b="1">
                          <a:solidFill>
                            <a:srgbClr val="0E2841"/>
                          </a:solidFill>
                          <a:latin typeface="Arial"/>
                        </a:rPr>
                        <a:t>7 GAP</a:t>
                      </a:r>
                      <a:r>
                        <a:rPr sz="1020" i="0" b="1">
                          <a:solidFill>
                            <a:srgbClr val="1B1B1B"/>
                          </a:solidFill>
                          <a:latin typeface="Arial"/>
                        </a:rPr>
                        <a:t> định lượng từ khảo sát.</a:t>
                      </a:r>
                    </a:p>
                  </a:txBody>
                  <a:tcPr anchor="ctr" marT="19050" marB="19050" marL="50800" marR="50800">
                    <a:solidFill>
                      <a:srgbClr val="FEF9E7"/>
                    </a:solidFill>
                  </a:tcPr>
                </a:tc>
                <a:tc>
                  <a:txBody>
                    <a:bodyPr wrap="square"/>
                    <a:lstStyle/>
                    <a:p>
                      <a:pPr algn="l"/>
                      <a:r>
                        <a:rPr sz="1020" i="0" b="1">
                          <a:solidFill>
                            <a:srgbClr val="1B1B1B"/>
                          </a:solidFill>
                          <a:latin typeface="Arial"/>
                        </a:rPr>
                        <a:t>• </a:t>
                      </a:r>
                      <a:r>
                        <a:rPr sz="1020" i="0" b="1">
                          <a:solidFill>
                            <a:srgbClr val="0E2841"/>
                          </a:solidFill>
                          <a:latin typeface="Arial"/>
                        </a:rPr>
                        <a:t>14 yêu cầu SRS nguyên tử</a:t>
                      </a:r>
                      <a:r>
                        <a:rPr sz="1020" i="0" b="1">
                          <a:solidFill>
                            <a:srgbClr val="1B1B1B"/>
                          </a:solidFill>
                          <a:latin typeface="Arial"/>
                        </a:rPr>
                        <a:t> theo cú pháp 5 thành phần:
  - Nhóm 1: </a:t>
                      </a:r>
                      <a:r>
                        <a:rPr sz="1020" i="0" b="1">
                          <a:solidFill>
                            <a:srgbClr val="0E2841"/>
                          </a:solidFill>
                          <a:latin typeface="Arial"/>
                        </a:rPr>
                        <a:t>7 SRS-FUNC-01..07</a:t>
                      </a:r>
                      <a:r>
                        <a:rPr sz="1020" i="0" b="1">
                          <a:solidFill>
                            <a:srgbClr val="1B1B1B"/>
                          </a:solidFill>
                          <a:latin typeface="Arial"/>
                        </a:rPr>
                        <a:t> (Chức năng &amp; Logic an toàn).
  - Nhóm 2: </a:t>
                      </a:r>
                      <a:r>
                        <a:rPr sz="1020" i="0" b="1">
                          <a:solidFill>
                            <a:srgbClr val="0E2841"/>
                          </a:solidFill>
                          <a:latin typeface="Arial"/>
                        </a:rPr>
                        <a:t>7 SRS-PERM-01..07</a:t>
                      </a:r>
                      <a:r>
                        <a:rPr sz="1020" i="0" b="1">
                          <a:solidFill>
                            <a:srgbClr val="1B1B1B"/>
                          </a:solidFill>
                          <a:latin typeface="Arial"/>
                        </a:rPr>
                        <a:t> (Hiệu năng động học &amp; Nhiệt).</a:t>
                      </a:r>
                    </a:p>
                  </a:txBody>
                  <a:tcPr anchor="ctr" marT="19050" marB="19050" marL="50800" marR="50800">
                    <a:solidFill>
                      <a:srgbClr val="FEF9E7"/>
                    </a:solidFill>
                  </a:tcPr>
                </a:tc>
                <a:tc>
                  <a:txBody>
                    <a:bodyPr wrap="square"/>
                    <a:lstStyle/>
                    <a:p>
                      <a:pPr algn="l"/>
                      <a:r>
                        <a:rPr sz="1020" i="0" b="1">
                          <a:solidFill>
                            <a:srgbClr val="0E2841"/>
                          </a:solidFill>
                          <a:latin typeface="Arial"/>
                        </a:rPr>
                        <a:t>ISO/IEC/IEEE 29148:2018</a:t>
                      </a:r>
                      <a:r>
                        <a:rPr sz="1020" i="0" b="1">
                          <a:solidFill>
                            <a:srgbClr val="1B1B1B"/>
                          </a:solidFill>
                          <a:latin typeface="Arial"/>
                        </a:rPr>
                        <a:t>
Chủ trì: </a:t>
                      </a:r>
                      <a:r>
                        <a:rPr sz="1020" i="0" b="1">
                          <a:solidFill>
                            <a:srgbClr val="0E2841"/>
                          </a:solidFill>
                          <a:latin typeface="Arial"/>
                        </a:rPr>
                        <a:t>SE Lead + Drive + Mech</a:t>
                      </a:r>
                    </a:p>
                  </a:txBody>
                  <a:tcPr anchor="ctr" marT="19050" marB="19050" marL="50800" marR="50800">
                    <a:solidFill>
                      <a:srgbClr val="FEF9E7"/>
                    </a:solidFill>
                  </a:tcPr>
                </a:tc>
              </a:tr>
              <a:tr h="1005535">
                <a:tc>
                  <a:txBody>
                    <a:bodyPr wrap="square"/>
                    <a:lstStyle/>
                    <a:p>
                      <a:pPr algn="ctr"/>
                      <a:r>
                        <a:rPr sz="1020" i="0" b="1">
                          <a:solidFill>
                            <a:srgbClr val="0E2841"/>
                          </a:solidFill>
                          <a:latin typeface="Arial"/>
                        </a:rPr>
                        <a:t>SOW-1.3</a:t>
                      </a:r>
                    </a:p>
                  </a:txBody>
                  <a:tcPr anchor="ctr" marT="19050" marB="19050" marL="50800" marR="50800">
                    <a:solidFill>
                      <a:srgbClr val="FEF9E7"/>
                    </a:solidFill>
                  </a:tcPr>
                </a:tc>
                <a:tc>
                  <a:txBody>
                    <a:bodyPr wrap="square"/>
                    <a:lstStyle/>
                    <a:p>
                      <a:pPr algn="l"/>
                      <a:r>
                        <a:rPr sz="1020" i="0" b="1">
                          <a:solidFill>
                            <a:srgbClr val="0E2841"/>
                          </a:solidFill>
                          <a:latin typeface="Arial"/>
                        </a:rPr>
                        <a:t>Ma trận Truy vết 2 chiều (RTM) &amp; Kế hoạch DVP&amp;R L0</a:t>
                      </a:r>
                    </a:p>
                  </a:txBody>
                  <a:tcPr anchor="ctr" marT="19050" marB="19050" marL="50800" marR="50800">
                    <a:solidFill>
                      <a:srgbClr val="FEF9E7"/>
                    </a:solidFill>
                  </a:tcPr>
                </a:tc>
                <a:tc>
                  <a:txBody>
                    <a:bodyPr wrap="square"/>
                    <a:lstStyle/>
                    <a:p>
                      <a:pPr algn="l"/>
                      <a:r>
                        <a:rPr sz="1020" i="0" b="1">
                          <a:solidFill>
                            <a:srgbClr val="1B1B1B"/>
                          </a:solidFill>
                          <a:latin typeface="Arial"/>
                        </a:rPr>
                        <a:t>14 SRS nguyên tử, 8 CTQ, 5 CTS, 5 RRM (đặc biệt </a:t>
                      </a:r>
                      <a:r>
                        <a:rPr sz="1020" i="0" b="1">
                          <a:solidFill>
                            <a:srgbClr val="C00000"/>
                          </a:solidFill>
                          <a:latin typeface="Arial"/>
                        </a:rPr>
                        <a:t>RRM-05</a:t>
                      </a:r>
                      <a:r>
                        <a:rPr sz="1020" i="0" b="1">
                          <a:solidFill>
                            <a:srgbClr val="1B1B1B"/>
                          </a:solidFill>
                          <a:latin typeface="Arial"/>
                        </a:rPr>
                        <a:t> đạo hàm số).</a:t>
                      </a:r>
                    </a:p>
                  </a:txBody>
                  <a:tcPr anchor="ctr" marT="19050" marB="19050" marL="50800" marR="50800">
                    <a:solidFill>
                      <a:srgbClr val="FEF9E7"/>
                    </a:solidFill>
                  </a:tcPr>
                </a:tc>
                <a:tc>
                  <a:txBody>
                    <a:bodyPr wrap="square"/>
                    <a:lstStyle/>
                    <a:p>
                      <a:pPr algn="l"/>
                      <a:r>
                        <a:rPr sz="1020" i="0" b="1">
                          <a:solidFill>
                            <a:srgbClr val="1B1B1B"/>
                          </a:solidFill>
                          <a:latin typeface="Arial"/>
                        </a:rPr>
                        <a:t>• </a:t>
                      </a:r>
                      <a:r>
                        <a:rPr sz="1020" i="0" b="1">
                          <a:solidFill>
                            <a:srgbClr val="0E2841"/>
                          </a:solidFill>
                          <a:latin typeface="Arial"/>
                        </a:rPr>
                        <a:t>Ma trận RTM 2 chiều</a:t>
                      </a:r>
                      <a:r>
                        <a:rPr sz="1020" i="0" b="1">
                          <a:solidFill>
                            <a:srgbClr val="1B1B1B"/>
                          </a:solidFill>
                          <a:latin typeface="Arial"/>
                        </a:rPr>
                        <a:t> (Forward &amp; Backward </a:t>
                      </a:r>
                      <a:r>
                        <a:rPr sz="1020" i="0" b="1">
                          <a:solidFill>
                            <a:srgbClr val="0E2841"/>
                          </a:solidFill>
                          <a:latin typeface="Arial"/>
                        </a:rPr>
                        <a:t>DMAIC</a:t>
                      </a:r>
                      <a:r>
                        <a:rPr sz="1020" i="0" b="1">
                          <a:solidFill>
                            <a:srgbClr val="1B1B1B"/>
                          </a:solidFill>
                          <a:latin typeface="Arial"/>
                        </a:rPr>
                        <a:t>): </a:t>
                      </a:r>
                      <a:r>
                        <a:rPr sz="1020" i="0" b="1">
                          <a:solidFill>
                            <a:srgbClr val="196B24"/>
                          </a:solidFill>
                          <a:latin typeface="Arial"/>
                        </a:rPr>
                        <a:t>0 Orphan</a:t>
                      </a:r>
                      <a:r>
                        <a:rPr sz="1020" i="0" b="1">
                          <a:solidFill>
                            <a:srgbClr val="1B1B1B"/>
                          </a:solidFill>
                          <a:latin typeface="Arial"/>
                        </a:rPr>
                        <a:t>.
• </a:t>
                      </a:r>
                      <a:r>
                        <a:rPr sz="1020" i="0" b="1">
                          <a:solidFill>
                            <a:srgbClr val="0E2841"/>
                          </a:solidFill>
                          <a:latin typeface="Arial"/>
                        </a:rPr>
                        <a:t>Kế hoạch DVP&amp;R L0</a:t>
                      </a:r>
                      <a:r>
                        <a:rPr sz="1020" i="0" b="1">
                          <a:solidFill>
                            <a:srgbClr val="1B1B1B"/>
                          </a:solidFill>
                          <a:latin typeface="Arial"/>
                        </a:rPr>
                        <a:t>: </a:t>
                      </a:r>
                      <a:r>
                        <a:rPr sz="1020" i="0" b="1">
                          <a:solidFill>
                            <a:srgbClr val="0E2841"/>
                          </a:solidFill>
                          <a:latin typeface="Arial"/>
                        </a:rPr>
                        <a:t>14 bài đo (DVP-L0-01..14)</a:t>
                      </a:r>
                      <a:r>
                        <a:rPr sz="1020" i="0" b="1">
                          <a:solidFill>
                            <a:srgbClr val="1B1B1B"/>
                          </a:solidFill>
                          <a:latin typeface="Arial"/>
                        </a:rPr>
                        <a:t> trong </a:t>
                      </a:r>
                      <a:r>
                        <a:rPr sz="1020" i="0" b="1">
                          <a:solidFill>
                            <a:srgbClr val="0E2841"/>
                          </a:solidFill>
                          <a:latin typeface="Arial"/>
                        </a:rPr>
                        <a:t>4 kịch bản TS-01..04</a:t>
                      </a:r>
                      <a:r>
                        <a:rPr sz="1020" i="0" b="1">
                          <a:solidFill>
                            <a:srgbClr val="1B1B1B"/>
                          </a:solidFill>
                          <a:latin typeface="Arial"/>
                        </a:rPr>
                        <a:t>.</a:t>
                      </a:r>
                    </a:p>
                  </a:txBody>
                  <a:tcPr anchor="ctr" marT="19050" marB="19050" marL="50800" marR="50800">
                    <a:solidFill>
                      <a:srgbClr val="FEF9E7"/>
                    </a:solidFill>
                  </a:tcPr>
                </a:tc>
                <a:tc>
                  <a:txBody>
                    <a:bodyPr wrap="square"/>
                    <a:lstStyle/>
                    <a:p>
                      <a:pPr algn="l"/>
                      <a:r>
                        <a:rPr sz="1020" i="0" b="1">
                          <a:solidFill>
                            <a:srgbClr val="0E2841"/>
                          </a:solidFill>
                          <a:latin typeface="Arial"/>
                        </a:rPr>
                        <a:t>NASA SP-2016-6105</a:t>
                      </a:r>
                      <a:r>
                        <a:rPr sz="1020" i="0" b="1">
                          <a:solidFill>
                            <a:srgbClr val="1B1B1B"/>
                          </a:solidFill>
                          <a:latin typeface="Arial"/>
                        </a:rPr>
                        <a:t> &amp; </a:t>
                      </a:r>
                      <a:r>
                        <a:rPr sz="1020" i="0" b="1">
                          <a:solidFill>
                            <a:srgbClr val="0E2841"/>
                          </a:solidFill>
                          <a:latin typeface="Arial"/>
                        </a:rPr>
                        <a:t>INCOSE</a:t>
                      </a:r>
                      <a:r>
                        <a:rPr sz="1020" i="0" b="1">
                          <a:solidFill>
                            <a:srgbClr val="1B1B1B"/>
                          </a:solidFill>
                          <a:latin typeface="Arial"/>
                        </a:rPr>
                        <a:t>
Chủ trì: </a:t>
                      </a:r>
                      <a:r>
                        <a:rPr sz="1020" i="0" b="1">
                          <a:solidFill>
                            <a:srgbClr val="0E2841"/>
                          </a:solidFill>
                          <a:latin typeface="Arial"/>
                        </a:rPr>
                        <a:t>V&amp;V Lead + SE Lead</a:t>
                      </a:r>
                    </a:p>
                  </a:txBody>
                  <a:tcPr anchor="ctr" marT="19050" marB="19050" marL="50800" marR="50800">
                    <a:solidFill>
                      <a:srgbClr val="FEF9E7"/>
                    </a:solidFill>
                  </a:tcPr>
                </a:tc>
              </a:tr>
            </a:tbl>
          </a:graphicData>
        </a:graphic>
      </p:graphicFrame>
      <p:sp>
        <p:nvSpPr>
          <p:cNvPr id="11" name="Rounded Rectangle 10"/>
          <p:cNvSpPr/>
          <p:nvPr/>
        </p:nvSpPr>
        <p:spPr>
          <a:xfrm>
            <a:off x="310896" y="5394960"/>
            <a:ext cx="11567160" cy="804672"/>
          </a:xfrm>
          <a:prstGeom prst="roundRect">
            <a:avLst>
              <a:gd name="adj" fmla="val 3000"/>
            </a:avLst>
          </a:prstGeom>
          <a:solidFill>
            <a:srgbClr val="FEF9E7"/>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150" b="1">
                <a:solidFill>
                  <a:srgbClr val="C00000"/>
                </a:solidFill>
                <a:latin typeface="Arial"/>
              </a:rPr>
              <a:t>NGUYÊN TẮC VÀNG CỦA KHỐI 1 (GATE 2: SRR-EVT) — KHÔNG ÁP ĐẶT THƯƠNG HIỆU LINH KIỆN SỚM (DESIGN-INDEPENDENT SRS)</a:t>
            </a:r>
          </a:p>
          <a:p>
            <a:pPr>
              <a:spcAft>
                <a:spcPts val="150"/>
              </a:spcAft>
            </a:pPr>
            <a:r>
              <a:rPr sz="1080" i="0" b="0">
                <a:solidFill>
                  <a:srgbClr val="1B1B1B"/>
                </a:solidFill>
                <a:latin typeface="Arial"/>
              </a:rPr>
              <a:t>• Mọi yêu cầu SRS tại Khối 1 chỉ quy định </a:t>
            </a:r>
            <a:r>
              <a:rPr sz="1080" i="0" b="1">
                <a:solidFill>
                  <a:srgbClr val="0E2841"/>
                </a:solidFill>
                <a:latin typeface="Arial"/>
              </a:rPr>
              <a:t>Chức năng, Ngưỡng vật lý, Dung sai và Thời gian phản hồi</a:t>
            </a:r>
            <a:r>
              <a:rPr sz="1080" i="0" b="0">
                <a:solidFill>
                  <a:srgbClr val="1B1B1B"/>
                </a:solidFill>
                <a:latin typeface="Arial"/>
              </a:rPr>
              <a:t> (VD: giữ tải </a:t>
            </a:r>
            <a:r>
              <a:rPr sz="1080" i="0" b="1">
                <a:solidFill>
                  <a:srgbClr val="0E2841"/>
                </a:solidFill>
                <a:latin typeface="Arial"/>
              </a:rPr>
              <a:t>100÷150% M_đm tại 0 rpm</a:t>
            </a:r>
            <a:r>
              <a:rPr sz="1080" i="0" b="0">
                <a:solidFill>
                  <a:srgbClr val="1B1B1B"/>
                </a:solidFill>
                <a:latin typeface="Arial"/>
              </a:rPr>
              <a:t>, </a:t>
            </a:r>
            <a:r>
              <a:rPr sz="1080" i="0" b="1">
                <a:solidFill>
                  <a:srgbClr val="0E2841"/>
                </a:solidFill>
                <a:latin typeface="Arial"/>
              </a:rPr>
              <a:t>|a| ≤ 0.50 m/s²</a:t>
            </a:r>
            <a:r>
              <a:rPr sz="1080" i="0" b="0">
                <a:solidFill>
                  <a:srgbClr val="1B1B1B"/>
                </a:solidFill>
                <a:latin typeface="Arial"/>
              </a:rPr>
              <a:t>, </a:t>
            </a:r>
            <a:r>
              <a:rPr sz="1080" i="0" b="1">
                <a:solidFill>
                  <a:srgbClr val="0E2841"/>
                </a:solidFill>
                <a:latin typeface="Arial"/>
              </a:rPr>
              <a:t>U_dc &lt; 780 V DC</a:t>
            </a:r>
            <a:r>
              <a:rPr sz="1080" i="0" b="0">
                <a:solidFill>
                  <a:srgbClr val="1B1B1B"/>
                </a:solidFill>
                <a:latin typeface="Arial"/>
              </a:rPr>
              <a:t>), tuyệt đối chưa khóa mã động cơ hay biến tần thương mại cụ thể (việc chọn mã phần cứng thuộc về </a:t>
            </a:r>
            <a:r>
              <a:rPr sz="1080" i="0" b="1">
                <a:solidFill>
                  <a:srgbClr val="0E2841"/>
                </a:solidFill>
                <a:latin typeface="Arial"/>
              </a:rPr>
              <a:t>Khối 2 — PDR</a:t>
            </a:r>
            <a:r>
              <a:rPr sz="1080" i="0" b="0">
                <a:solidFill>
                  <a:srgbClr val="1B1B1B"/>
                </a:solidFill>
                <a:latin typeface="Arial"/>
              </a:rPr>
              <a:t> và </a:t>
            </a:r>
            <a:r>
              <a:rPr sz="1080" i="0" b="1">
                <a:solidFill>
                  <a:srgbClr val="0E2841"/>
                </a:solidFill>
                <a:latin typeface="Arial"/>
              </a:rPr>
              <a:t>Khối 3 — CDR</a:t>
            </a:r>
            <a:r>
              <a:rPr sz="1080" i="0" b="0">
                <a:solidFill>
                  <a:srgbClr val="1B1B1B"/>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2. SƠ ĐỒ RANH GIỚI HỆ THỐNG (SYSTEM BOUNDARY DIAGRAM — SOW-1.1)</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Đóng khung hệ thống </a:t>
            </a:r>
            <a:r>
              <a:rPr sz="1350" i="0" b="1">
                <a:solidFill>
                  <a:srgbClr val="0E2841"/>
                </a:solidFill>
                <a:latin typeface="Arial"/>
              </a:rPr>
              <a:t>PDS &amp; Cơ khí chấp hành</a:t>
            </a:r>
            <a:r>
              <a:rPr sz="1350" i="0" b="1">
                <a:solidFill>
                  <a:srgbClr val="C00000"/>
                </a:solidFill>
                <a:latin typeface="Arial"/>
              </a:rPr>
              <a:t> theo </a:t>
            </a:r>
            <a:r>
              <a:rPr sz="1350" i="0" b="1">
                <a:solidFill>
                  <a:srgbClr val="0E2841"/>
                </a:solidFill>
                <a:latin typeface="Arial"/>
              </a:rPr>
              <a:t>IEC 61800-2:2021</a:t>
            </a:r>
            <a:r>
              <a:rPr sz="1350" i="0" b="1">
                <a:solidFill>
                  <a:srgbClr val="C00000"/>
                </a:solidFill>
                <a:latin typeface="Arial"/>
              </a:rPr>
              <a:t> — Tách bạch phạm vi </a:t>
            </a:r>
            <a:r>
              <a:rPr sz="1350" i="0" b="1">
                <a:solidFill>
                  <a:srgbClr val="0E2841"/>
                </a:solidFill>
                <a:latin typeface="Arial"/>
              </a:rPr>
              <a:t>In-Scope</a:t>
            </a:r>
            <a:r>
              <a:rPr sz="1350" i="0" b="1">
                <a:solidFill>
                  <a:srgbClr val="C00000"/>
                </a:solidFill>
                <a:latin typeface="Arial"/>
              </a:rPr>
              <a:t> &amp; </a:t>
            </a:r>
            <a:r>
              <a:rPr sz="1350" i="0" b="1">
                <a:solidFill>
                  <a:srgbClr val="0E2841"/>
                </a:solidFill>
                <a:latin typeface="Arial"/>
              </a:rPr>
              <a:t>Out-of-Scope</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SOW-1.1 — System Boundary Diagram (IEC 61800-2) | Slide 03 / 16</a:t>
            </a:r>
          </a:p>
        </p:txBody>
      </p:sp>
      <p:sp>
        <p:nvSpPr>
          <p:cNvPr id="5" name="Rounded Rectangle 4"/>
          <p:cNvSpPr/>
          <p:nvPr/>
        </p:nvSpPr>
        <p:spPr>
          <a:xfrm>
            <a:off x="310896" y="1243584"/>
            <a:ext cx="4526280" cy="4956048"/>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rs_s05_sh2.png"/>
          <p:cNvPicPr>
            <a:picLocks noChangeAspect="1"/>
          </p:cNvPicPr>
          <p:nvPr/>
        </p:nvPicPr>
        <p:blipFill>
          <a:blip r:embed="rId3"/>
          <a:stretch>
            <a:fillRect/>
          </a:stretch>
        </p:blipFill>
        <p:spPr>
          <a:xfrm>
            <a:off x="356616" y="2112164"/>
            <a:ext cx="4434840" cy="2930850"/>
          </a:xfrm>
          <a:prstGeom prst="rect">
            <a:avLst/>
          </a:prstGeom>
        </p:spPr>
      </p:pic>
      <p:sp>
        <p:nvSpPr>
          <p:cNvPr id="7" name="TextBox 6"/>
          <p:cNvSpPr txBox="1"/>
          <p:nvPr/>
        </p:nvSpPr>
        <p:spPr>
          <a:xfrm>
            <a:off x="347472" y="5888736"/>
            <a:ext cx="4453128" cy="292608"/>
          </a:xfrm>
          <a:prstGeom prst="rect">
            <a:avLst/>
          </a:prstGeom>
          <a:noFill/>
        </p:spPr>
        <p:txBody>
          <a:bodyPr wrap="square" anchor="ctr" lIns="12700" tIns="12700" rIns="12700" bIns="12700">
            <a:spAutoFit/>
          </a:bodyPr>
          <a:lstStyle/>
          <a:p>
            <a:pPr algn="ctr"/>
            <a:r>
              <a:rPr sz="880" b="1" i="1">
                <a:solidFill>
                  <a:srgbClr val="0E2841"/>
                </a:solidFill>
                <a:latin typeface="Arial"/>
              </a:rPr>
              <a:t>Hình 1.1: Sơ đồ Ranh giới Hệ thống (Draw.io 05 — 300 DPI, IEC 61800-2)</a:t>
            </a:r>
          </a:p>
        </p:txBody>
      </p:sp>
      <p:graphicFrame>
        <p:nvGraphicFramePr>
          <p:cNvPr id="8" name="Table 7"/>
          <p:cNvGraphicFramePr>
            <a:graphicFrameLocks noGrp="1"/>
          </p:cNvGraphicFramePr>
          <p:nvPr/>
        </p:nvGraphicFramePr>
        <p:xfrm>
          <a:off x="4956048" y="1243584"/>
          <a:ext cx="6922008" cy="3696003"/>
        </p:xfrm>
        <a:graphic>
          <a:graphicData uri="http://schemas.openxmlformats.org/drawingml/2006/table">
            <a:tbl>
              <a:tblPr firstRow="1" bandRow="1">
                <a:tableStyleId>{5C22544A-7EE6-4342-B048-85BDC9FD1C3A}</a:tableStyleId>
              </a:tblPr>
              <a:tblGrid>
                <a:gridCol w="1325880"/>
                <a:gridCol w="2788920"/>
                <a:gridCol w="1691640"/>
                <a:gridCol w="1115568"/>
              </a:tblGrid>
              <a:tr h="292608">
                <a:tc>
                  <a:txBody>
                    <a:bodyPr wrap="square"/>
                    <a:lstStyle/>
                    <a:p>
                      <a:pPr algn="ctr"/>
                      <a:r>
                        <a:rPr sz="1050" b="1">
                          <a:solidFill>
                            <a:srgbClr val="FFFFFF"/>
                          </a:solidFill>
                          <a:latin typeface="Arial"/>
                        </a:rPr>
                        <a:t>Phân vùng / Thành phần</a:t>
                      </a:r>
                    </a:p>
                  </a:txBody>
                  <a:tcPr anchor="ctr" marT="19050" marB="19050" marL="50800" marR="50800">
                    <a:solidFill>
                      <a:srgbClr val="0E2841"/>
                    </a:solidFill>
                  </a:tcPr>
                </a:tc>
                <a:tc>
                  <a:txBody>
                    <a:bodyPr wrap="square"/>
                    <a:lstStyle/>
                    <a:p>
                      <a:pPr algn="ctr"/>
                      <a:r>
                        <a:rPr sz="1050" b="1">
                          <a:solidFill>
                            <a:srgbClr val="FFFFFF"/>
                          </a:solidFill>
                          <a:latin typeface="Arial"/>
                        </a:rPr>
                        <a:t>Các khối chức năng &amp; Giao diện chính</a:t>
                      </a:r>
                    </a:p>
                  </a:txBody>
                  <a:tcPr anchor="ctr" marT="19050" marB="19050" marL="50800" marR="50800">
                    <a:solidFill>
                      <a:srgbClr val="0E2841"/>
                    </a:solidFill>
                  </a:tcPr>
                </a:tc>
                <a:tc>
                  <a:txBody>
                    <a:bodyPr wrap="square"/>
                    <a:lstStyle/>
                    <a:p>
                      <a:pPr algn="ctr"/>
                      <a:r>
                        <a:rPr sz="1050" b="1">
                          <a:solidFill>
                            <a:srgbClr val="FFFFFF"/>
                          </a:solidFill>
                          <a:latin typeface="Arial"/>
                        </a:rPr>
                        <a:t>Truy vết Nguồn (Khối 0 &amp; Tiêu chuẩn)</a:t>
                      </a:r>
                    </a:p>
                  </a:txBody>
                  <a:tcPr anchor="ctr" marT="19050" marB="19050" marL="50800" marR="50800">
                    <a:solidFill>
                      <a:srgbClr val="0E2841"/>
                    </a:solidFill>
                  </a:tcPr>
                </a:tc>
                <a:tc>
                  <a:txBody>
                    <a:bodyPr wrap="square"/>
                    <a:lstStyle/>
                    <a:p>
                      <a:pPr algn="ctr"/>
                      <a:r>
                        <a:rPr sz="1050" b="1">
                          <a:solidFill>
                            <a:srgbClr val="FFFFFF"/>
                          </a:solidFill>
                          <a:latin typeface="Arial"/>
                        </a:rPr>
                        <a:t>Phạm vi</a:t>
                      </a:r>
                    </a:p>
                  </a:txBody>
                  <a:tcPr anchor="ctr" marT="19050" marB="19050" marL="50800" marR="50800">
                    <a:solidFill>
                      <a:srgbClr val="0E2841"/>
                    </a:solidFill>
                  </a:tcPr>
                </a:tc>
              </a:tr>
              <a:tr h="680679">
                <a:tc>
                  <a:txBody>
                    <a:bodyPr wrap="square"/>
                    <a:lstStyle/>
                    <a:p>
                      <a:pPr algn="ctr"/>
                      <a:r>
                        <a:rPr sz="940" i="0" b="1">
                          <a:solidFill>
                            <a:srgbClr val="0E2841"/>
                          </a:solidFill>
                          <a:latin typeface="Arial"/>
                        </a:rPr>
                        <a:t>Tác nhân ngoài (Actors)</a:t>
                      </a:r>
                    </a:p>
                  </a:txBody>
                  <a:tcPr anchor="ctr" marT="19050" marB="19050" marL="50800" marR="50800">
                    <a:solidFill>
                      <a:srgbClr val="FFFFFF"/>
                    </a:solidFill>
                  </a:tcPr>
                </a:tc>
                <a:tc>
                  <a:txBody>
                    <a:bodyPr wrap="square"/>
                    <a:lstStyle/>
                    <a:p>
                      <a:pPr algn="l"/>
                      <a:r>
                        <a:rPr sz="940" i="0" b="0">
                          <a:solidFill>
                            <a:srgbClr val="1B1B1B"/>
                          </a:solidFill>
                          <a:latin typeface="Arial"/>
                        </a:rPr>
                        <a:t>• Lưới điện </a:t>
                      </a:r>
                      <a:r>
                        <a:rPr sz="940" i="0" b="1">
                          <a:solidFill>
                            <a:srgbClr val="0E2841"/>
                          </a:solidFill>
                          <a:latin typeface="Arial"/>
                        </a:rPr>
                        <a:t>3P 380V±10%, 50Hz + PE</a:t>
                      </a:r>
                      <a:r>
                        <a:rPr sz="940" i="0" b="0">
                          <a:solidFill>
                            <a:srgbClr val="1B1B1B"/>
                          </a:solidFill>
                          <a:latin typeface="Arial"/>
                        </a:rPr>
                        <a:t> (</a:t>
                      </a:r>
                      <a:r>
                        <a:rPr sz="940" i="0" b="1">
                          <a:solidFill>
                            <a:srgbClr val="0E2841"/>
                          </a:solidFill>
                          <a:latin typeface="Arial"/>
                        </a:rPr>
                        <a:t>IF-PWR</a:t>
                      </a:r>
                      <a:r>
                        <a:rPr sz="940" i="0" b="0">
                          <a:solidFill>
                            <a:srgbClr val="1B1B1B"/>
                          </a:solidFill>
                          <a:latin typeface="Arial"/>
                        </a:rPr>
                        <a:t>).
• Tay bấm / PLC (</a:t>
                      </a:r>
                      <a:r>
                        <a:rPr sz="940" i="0" b="1">
                          <a:solidFill>
                            <a:srgbClr val="0E2841"/>
                          </a:solidFill>
                          <a:latin typeface="Arial"/>
                        </a:rPr>
                        <a:t>IF-CMD</a:t>
                      </a:r>
                      <a:r>
                        <a:rPr sz="940" i="0" b="0">
                          <a:solidFill>
                            <a:srgbClr val="1B1B1B"/>
                          </a:solidFill>
                          <a:latin typeface="Arial"/>
                        </a:rPr>
                        <a:t>): Chạy Trái/Phải, Creep, Stop Cat. 1.
• Tải treo </a:t>
                      </a:r>
                      <a:r>
                        <a:rPr sz="940" i="0" b="1">
                          <a:solidFill>
                            <a:srgbClr val="0E2841"/>
                          </a:solidFill>
                          <a:latin typeface="Arial"/>
                        </a:rPr>
                        <a:t>Q=12,222 kg + m_nh=222 kg</a:t>
                      </a:r>
                      <a:r>
                        <a:rPr sz="940" i="0" b="0">
                          <a:solidFill>
                            <a:srgbClr val="1B1B1B"/>
                          </a:solidFill>
                          <a:latin typeface="Arial"/>
                        </a:rPr>
                        <a:t> (</a:t>
                      </a:r>
                      <a:r>
                        <a:rPr sz="940" i="0" b="1">
                          <a:solidFill>
                            <a:srgbClr val="0E2841"/>
                          </a:solidFill>
                          <a:latin typeface="Arial"/>
                        </a:rPr>
                        <a:t>h=12 m</a:t>
                      </a:r>
                      <a:r>
                        <a:rPr sz="940" i="0" b="0">
                          <a:solidFill>
                            <a:srgbClr val="1B1B1B"/>
                          </a:solidFill>
                          <a:latin typeface="Arial"/>
                        </a:rPr>
                        <a:t>), Ray </a:t>
                      </a:r>
                      <a:r>
                        <a:rPr sz="940" i="0" b="1">
                          <a:solidFill>
                            <a:srgbClr val="0E2841"/>
                          </a:solidFill>
                          <a:latin typeface="Arial"/>
                        </a:rPr>
                        <a:t>μ=0.20</a:t>
                      </a:r>
                      <a:r>
                        <a:rPr sz="940" i="0" b="0">
                          <a:solidFill>
                            <a:srgbClr val="1B1B1B"/>
                          </a:solidFill>
                          <a:latin typeface="Arial"/>
                        </a:rPr>
                        <a:t>.</a:t>
                      </a:r>
                    </a:p>
                  </a:txBody>
                  <a:tcPr anchor="ctr" marT="19050" marB="19050" marL="50800" marR="50800">
                    <a:solidFill>
                      <a:srgbClr val="FFFFFF"/>
                    </a:solidFill>
                  </a:tcPr>
                </a:tc>
                <a:tc>
                  <a:txBody>
                    <a:bodyPr wrap="square"/>
                    <a:lstStyle/>
                    <a:p>
                      <a:pPr algn="l"/>
                      <a:r>
                        <a:rPr sz="940" i="0" b="1">
                          <a:solidFill>
                            <a:srgbClr val="0E2841"/>
                          </a:solidFill>
                          <a:latin typeface="Arial"/>
                        </a:rPr>
                        <a:t>INP-01..03</a:t>
                      </a:r>
                      <a:r>
                        <a:rPr sz="940" i="0" b="0">
                          <a:solidFill>
                            <a:srgbClr val="1B1B1B"/>
                          </a:solidFill>
                          <a:latin typeface="Arial"/>
                        </a:rPr>
                        <a:t>, </a:t>
                      </a:r>
                      <a:r>
                        <a:rPr sz="940" i="0" b="1">
                          <a:solidFill>
                            <a:srgbClr val="0E2841"/>
                          </a:solidFill>
                          <a:latin typeface="Arial"/>
                        </a:rPr>
                        <a:t>ASM-02</a:t>
                      </a:r>
                      <a:r>
                        <a:rPr sz="940" i="0" b="0">
                          <a:solidFill>
                            <a:srgbClr val="1B1B1B"/>
                          </a:solidFill>
                          <a:latin typeface="Arial"/>
                        </a:rPr>
                        <a:t>, </a:t>
                      </a:r>
                      <a:r>
                        <a:rPr sz="940" i="0" b="1">
                          <a:solidFill>
                            <a:srgbClr val="0E2841"/>
                          </a:solidFill>
                          <a:latin typeface="Arial"/>
                        </a:rPr>
                        <a:t>ASM-04</a:t>
                      </a:r>
                      <a:r>
                        <a:rPr sz="940" i="0" b="0">
                          <a:solidFill>
                            <a:srgbClr val="1B1B1B"/>
                          </a:solidFill>
                          <a:latin typeface="Arial"/>
                        </a:rPr>
                        <a:t>, </a:t>
                      </a:r>
                      <a:r>
                        <a:rPr sz="940" i="0" b="1">
                          <a:solidFill>
                            <a:srgbClr val="0E2841"/>
                          </a:solidFill>
                          <a:latin typeface="Arial"/>
                        </a:rPr>
                        <a:t>PRD-07</a:t>
                      </a:r>
                      <a:r>
                        <a:rPr sz="940" i="0" b="0">
                          <a:solidFill>
                            <a:srgbClr val="1B1B1B"/>
                          </a:solidFill>
                          <a:latin typeface="Arial"/>
                        </a:rPr>
                        <a:t>, </a:t>
                      </a:r>
                      <a:r>
                        <a:rPr sz="940" i="0" b="1">
                          <a:solidFill>
                            <a:srgbClr val="0E2841"/>
                          </a:solidFill>
                          <a:latin typeface="Arial"/>
                        </a:rPr>
                        <a:t>PRD-08</a:t>
                      </a:r>
                      <a:r>
                        <a:rPr sz="940" i="0" b="0">
                          <a:solidFill>
                            <a:srgbClr val="1B1B1B"/>
                          </a:solidFill>
                          <a:latin typeface="Arial"/>
                        </a:rPr>
                        <a:t>.</a:t>
                      </a:r>
                    </a:p>
                  </a:txBody>
                  <a:tcPr anchor="ctr" marT="19050" marB="19050" marL="50800" marR="50800">
                    <a:solidFill>
                      <a:srgbClr val="FFFFFF"/>
                    </a:solidFill>
                  </a:tcPr>
                </a:tc>
                <a:tc>
                  <a:txBody>
                    <a:bodyPr wrap="square"/>
                    <a:lstStyle/>
                    <a:p>
                      <a:pPr algn="l"/>
                      <a:r>
                        <a:rPr sz="940" i="0" b="1">
                          <a:solidFill>
                            <a:srgbClr val="0E2841"/>
                          </a:solidFill>
                          <a:latin typeface="Arial"/>
                        </a:rPr>
                        <a:t>Biên ngoài</a:t>
                      </a:r>
                      <a:r>
                        <a:rPr sz="940" i="0" b="0">
                          <a:solidFill>
                            <a:srgbClr val="1B1B1B"/>
                          </a:solidFill>
                          <a:latin typeface="Arial"/>
                        </a:rPr>
                        <a:t>
(Boundary Inputs)</a:t>
                      </a:r>
                    </a:p>
                  </a:txBody>
                  <a:tcPr anchor="ctr" marT="19050" marB="19050" marL="50800" marR="50800">
                    <a:solidFill>
                      <a:srgbClr val="FFFFFF"/>
                    </a:solidFill>
                  </a:tcPr>
                </a:tc>
              </a:tr>
              <a:tr h="680679">
                <a:tc>
                  <a:txBody>
                    <a:bodyPr wrap="square"/>
                    <a:lstStyle/>
                    <a:p>
                      <a:pPr algn="ctr"/>
                      <a:r>
                        <a:rPr sz="940" i="0" b="1">
                          <a:solidFill>
                            <a:srgbClr val="0E2841"/>
                          </a:solidFill>
                          <a:latin typeface="Arial"/>
                        </a:rPr>
                        <a:t>Khối 1: Biến đổi &amp; Điều khiển (CDM)</a:t>
                      </a:r>
                    </a:p>
                  </a:txBody>
                  <a:tcPr anchor="ctr" marT="19050" marB="19050" marL="50800" marR="50800">
                    <a:solidFill>
                      <a:srgbClr val="FEF9E7"/>
                    </a:solidFill>
                  </a:tcPr>
                </a:tc>
                <a:tc>
                  <a:txBody>
                    <a:bodyPr wrap="square"/>
                    <a:lstStyle/>
                    <a:p>
                      <a:pPr algn="l"/>
                      <a:r>
                        <a:rPr sz="940" i="0" b="1">
                          <a:solidFill>
                            <a:srgbClr val="1B1B1B"/>
                          </a:solidFill>
                          <a:latin typeface="Arial"/>
                        </a:rPr>
                        <a:t>• Chỉnh lưu + </a:t>
                      </a:r>
                      <a:r>
                        <a:rPr sz="940" i="0" b="1">
                          <a:solidFill>
                            <a:srgbClr val="0E2841"/>
                          </a:solidFill>
                          <a:latin typeface="Arial"/>
                        </a:rPr>
                        <a:t>DC-link (&lt; 780 V DC)</a:t>
                      </a:r>
                      <a:r>
                        <a:rPr sz="940" i="0" b="1">
                          <a:solidFill>
                            <a:srgbClr val="1B1B1B"/>
                          </a:solidFill>
                          <a:latin typeface="Arial"/>
                        </a:rPr>
                        <a:t> + Nghịch lưu IGBT.
• </a:t>
                      </a:r>
                      <a:r>
                        <a:rPr sz="940" i="0" b="1">
                          <a:solidFill>
                            <a:srgbClr val="0E2841"/>
                          </a:solidFill>
                          <a:latin typeface="Arial"/>
                        </a:rPr>
                        <a:t>Bộ tạo quỹ đạo S-Curve</a:t>
                      </a:r>
                      <a:r>
                        <a:rPr sz="940" i="0" b="1">
                          <a:solidFill>
                            <a:srgbClr val="1B1B1B"/>
                          </a:solidFill>
                          <a:latin typeface="Arial"/>
                        </a:rPr>
                        <a:t> (</a:t>
                      </a:r>
                      <a:r>
                        <a:rPr sz="940" i="0" b="1">
                          <a:solidFill>
                            <a:srgbClr val="0E2841"/>
                          </a:solidFill>
                          <a:latin typeface="Arial"/>
                        </a:rPr>
                        <a:t>|a|≤0.5</a:t>
                      </a:r>
                      <a:r>
                        <a:rPr sz="940" i="0" b="1">
                          <a:solidFill>
                            <a:srgbClr val="1B1B1B"/>
                          </a:solidFill>
                          <a:latin typeface="Arial"/>
                        </a:rPr>
                        <a:t>, </a:t>
                      </a:r>
                      <a:r>
                        <a:rPr sz="940" i="0" b="1">
                          <a:solidFill>
                            <a:srgbClr val="0E2841"/>
                          </a:solidFill>
                          <a:latin typeface="Arial"/>
                        </a:rPr>
                        <a:t>|ρ|≤2.0</a:t>
                      </a:r>
                      <a:r>
                        <a:rPr sz="940" i="0" b="1">
                          <a:solidFill>
                            <a:srgbClr val="1B1B1B"/>
                          </a:solidFill>
                          <a:latin typeface="Arial"/>
                        </a:rPr>
                        <a:t>) &amp; </a:t>
                      </a:r>
                      <a:r>
                        <a:rPr sz="940" i="0" b="1">
                          <a:solidFill>
                            <a:srgbClr val="0E2841"/>
                          </a:solidFill>
                          <a:latin typeface="Arial"/>
                        </a:rPr>
                        <a:t>FOC</a:t>
                      </a:r>
                      <a:r>
                        <a:rPr sz="940" i="0" b="1">
                          <a:solidFill>
                            <a:srgbClr val="1B1B1B"/>
                          </a:solidFill>
                          <a:latin typeface="Arial"/>
                        </a:rPr>
                        <a:t>.
• </a:t>
                      </a:r>
                      <a:r>
                        <a:rPr sz="940" i="0" b="1">
                          <a:solidFill>
                            <a:srgbClr val="0E2841"/>
                          </a:solidFill>
                          <a:latin typeface="Arial"/>
                        </a:rPr>
                        <a:t>Bộ hãm Chopper + Điện trở xả R_h</a:t>
                      </a:r>
                      <a:r>
                        <a:rPr sz="940" i="0" b="1">
                          <a:solidFill>
                            <a:srgbClr val="1B1B1B"/>
                          </a:solidFill>
                          <a:latin typeface="Arial"/>
                        </a:rPr>
                        <a:t> (Hãm tái sinh Q2/Q4).</a:t>
                      </a:r>
                    </a:p>
                  </a:txBody>
                  <a:tcPr anchor="ctr" marT="19050" marB="19050" marL="50800" marR="50800">
                    <a:solidFill>
                      <a:srgbClr val="FEF9E7"/>
                    </a:solidFill>
                  </a:tcPr>
                </a:tc>
                <a:tc>
                  <a:txBody>
                    <a:bodyPr wrap="square"/>
                    <a:lstStyle/>
                    <a:p>
                      <a:pPr algn="l"/>
                      <a:r>
                        <a:rPr sz="940" i="0" b="1">
                          <a:solidFill>
                            <a:srgbClr val="0E2841"/>
                          </a:solidFill>
                          <a:latin typeface="Arial"/>
                        </a:rPr>
                        <a:t>IEC 61800-2:2021</a:t>
                      </a:r>
                      <a:r>
                        <a:rPr sz="940" i="0" b="1">
                          <a:solidFill>
                            <a:srgbClr val="1B1B1B"/>
                          </a:solidFill>
                          <a:latin typeface="Arial"/>
                        </a:rPr>
                        <a:t>;
Phương án C (</a:t>
                      </a:r>
                      <a:r>
                        <a:rPr sz="940" i="0" b="1">
                          <a:solidFill>
                            <a:srgbClr val="0E2841"/>
                          </a:solidFill>
                          <a:latin typeface="Arial"/>
                        </a:rPr>
                        <a:t>812/1000 điểm</a:t>
                      </a:r>
                      <a:r>
                        <a:rPr sz="940" i="0" b="1">
                          <a:solidFill>
                            <a:srgbClr val="1B1B1B"/>
                          </a:solidFill>
                          <a:latin typeface="Arial"/>
                        </a:rPr>
                        <a:t>);
</a:t>
                      </a:r>
                      <a:r>
                        <a:rPr sz="940" i="0" b="1">
                          <a:solidFill>
                            <a:srgbClr val="C00000"/>
                          </a:solidFill>
                          <a:latin typeface="Arial"/>
                        </a:rPr>
                        <a:t>GAP-02, GAP-04, GAP-05</a:t>
                      </a:r>
                      <a:r>
                        <a:rPr sz="940" i="0" b="1">
                          <a:solidFill>
                            <a:srgbClr val="1B1B1B"/>
                          </a:solidFill>
                          <a:latin typeface="Arial"/>
                        </a:rPr>
                        <a:t>.</a:t>
                      </a:r>
                    </a:p>
                  </a:txBody>
                  <a:tcPr anchor="ctr" marT="19050" marB="19050" marL="50800" marR="50800">
                    <a:solidFill>
                      <a:srgbClr val="FEF9E7"/>
                    </a:solidFill>
                  </a:tcPr>
                </a:tc>
                <a:tc>
                  <a:txBody>
                    <a:bodyPr wrap="square"/>
                    <a:lstStyle/>
                    <a:p>
                      <a:pPr algn="l"/>
                      <a:r>
                        <a:rPr sz="940" i="0" b="1">
                          <a:solidFill>
                            <a:srgbClr val="0E2841"/>
                          </a:solidFill>
                          <a:latin typeface="Arial"/>
                        </a:rPr>
                        <a:t>TRONG PHẠM VI</a:t>
                      </a:r>
                      <a:r>
                        <a:rPr sz="940" i="0" b="1">
                          <a:solidFill>
                            <a:srgbClr val="1B1B1B"/>
                          </a:solidFill>
                          <a:latin typeface="Arial"/>
                        </a:rPr>
                        <a:t>
(In-Scope SoI)</a:t>
                      </a:r>
                    </a:p>
                  </a:txBody>
                  <a:tcPr anchor="ctr" marT="19050" marB="19050" marL="50800" marR="50800">
                    <a:solidFill>
                      <a:srgbClr val="FEF9E7"/>
                    </a:solidFill>
                  </a:tcPr>
                </a:tc>
              </a:tr>
              <a:tr h="680679">
                <a:tc>
                  <a:txBody>
                    <a:bodyPr wrap="square"/>
                    <a:lstStyle/>
                    <a:p>
                      <a:pPr algn="ctr"/>
                      <a:r>
                        <a:rPr sz="940" i="0" b="1">
                          <a:solidFill>
                            <a:srgbClr val="0E2841"/>
                          </a:solidFill>
                          <a:latin typeface="Arial"/>
                        </a:rPr>
                        <a:t>Khối 2: Động cơ, Phanh &amp; Encoder</a:t>
                      </a:r>
                    </a:p>
                  </a:txBody>
                  <a:tcPr anchor="ctr" marT="19050" marB="19050" marL="50800" marR="50800">
                    <a:solidFill>
                      <a:srgbClr val="FEF9E7"/>
                    </a:solidFill>
                  </a:tcPr>
                </a:tc>
                <a:tc>
                  <a:txBody>
                    <a:bodyPr wrap="square"/>
                    <a:lstStyle/>
                    <a:p>
                      <a:pPr algn="l"/>
                      <a:r>
                        <a:rPr sz="940" i="0" b="1">
                          <a:solidFill>
                            <a:srgbClr val="1B1B1B"/>
                          </a:solidFill>
                          <a:latin typeface="Arial"/>
                        </a:rPr>
                        <a:t>• </a:t>
                      </a:r>
                      <a:r>
                        <a:rPr sz="940" i="0" b="1">
                          <a:solidFill>
                            <a:srgbClr val="0E2841"/>
                          </a:solidFill>
                          <a:latin typeface="Arial"/>
                        </a:rPr>
                        <a:t>Động cơ KĐB 3 pha rô-to lồng sóc</a:t>
                      </a:r>
                      <a:r>
                        <a:rPr sz="940" i="0" b="1">
                          <a:solidFill>
                            <a:srgbClr val="1B1B1B"/>
                          </a:solidFill>
                          <a:latin typeface="Arial"/>
                        </a:rPr>
                        <a:t> (chế độ </a:t>
                      </a:r>
                      <a:r>
                        <a:rPr sz="940" i="0" b="1">
                          <a:solidFill>
                            <a:srgbClr val="0E2841"/>
                          </a:solidFill>
                          <a:latin typeface="Arial"/>
                        </a:rPr>
                        <a:t>S3-40%</a:t>
                      </a:r>
                      <a:r>
                        <a:rPr sz="940" i="0" b="1">
                          <a:solidFill>
                            <a:srgbClr val="1B1B1B"/>
                          </a:solidFill>
                          <a:latin typeface="Arial"/>
                        </a:rPr>
                        <a:t>).
• </a:t>
                      </a:r>
                      <a:r>
                        <a:rPr sz="940" i="0" b="1">
                          <a:solidFill>
                            <a:srgbClr val="0E2841"/>
                          </a:solidFill>
                          <a:latin typeface="Arial"/>
                        </a:rPr>
                        <a:t>Phanh điện từ thường đóng (Fail-safe)</a:t>
                      </a:r>
                      <a:r>
                        <a:rPr sz="940" i="0" b="1">
                          <a:solidFill>
                            <a:srgbClr val="1B1B1B"/>
                          </a:solidFill>
                          <a:latin typeface="Arial"/>
                        </a:rPr>
                        <a:t> + </a:t>
                      </a:r>
                      <a:r>
                        <a:rPr sz="940" i="0" b="1">
                          <a:solidFill>
                            <a:srgbClr val="0E2841"/>
                          </a:solidFill>
                          <a:latin typeface="Arial"/>
                        </a:rPr>
                        <a:t>Encoder</a:t>
                      </a:r>
                      <a:r>
                        <a:rPr sz="940" i="0" b="1">
                          <a:solidFill>
                            <a:srgbClr val="1B1B1B"/>
                          </a:solidFill>
                          <a:latin typeface="Arial"/>
                        </a:rPr>
                        <a:t> xung vuông.</a:t>
                      </a:r>
                    </a:p>
                  </a:txBody>
                  <a:tcPr anchor="ctr" marT="19050" marB="19050" marL="50800" marR="50800">
                    <a:solidFill>
                      <a:srgbClr val="FEF9E7"/>
                    </a:solidFill>
                  </a:tcPr>
                </a:tc>
                <a:tc>
                  <a:txBody>
                    <a:bodyPr wrap="square"/>
                    <a:lstStyle/>
                    <a:p>
                      <a:pPr algn="l"/>
                      <a:r>
                        <a:rPr sz="940" i="0" b="1">
                          <a:solidFill>
                            <a:srgbClr val="0E2841"/>
                          </a:solidFill>
                          <a:latin typeface="Arial"/>
                        </a:rPr>
                        <a:t>FEM 1.001 / ISO 4301-1</a:t>
                      </a:r>
                      <a:r>
                        <a:rPr sz="940" i="0" b="1">
                          <a:solidFill>
                            <a:srgbClr val="1B1B1B"/>
                          </a:solidFill>
                          <a:latin typeface="Arial"/>
                        </a:rPr>
                        <a:t>;
</a:t>
                      </a:r>
                      <a:r>
                        <a:rPr sz="940" i="0" b="1">
                          <a:solidFill>
                            <a:srgbClr val="C00000"/>
                          </a:solidFill>
                          <a:latin typeface="Arial"/>
                        </a:rPr>
                        <a:t>GAP-01</a:t>
                      </a:r>
                      <a:r>
                        <a:rPr sz="940" i="0" b="1">
                          <a:solidFill>
                            <a:srgbClr val="1B1B1B"/>
                          </a:solidFill>
                          <a:latin typeface="Arial"/>
                        </a:rPr>
                        <a:t> (Chống trôi tải 0 rpm);
</a:t>
                      </a:r>
                      <a:r>
                        <a:rPr sz="940" i="0" b="1">
                          <a:solidFill>
                            <a:srgbClr val="C00000"/>
                          </a:solidFill>
                          <a:latin typeface="Arial"/>
                        </a:rPr>
                        <a:t>GAP-03</a:t>
                      </a:r>
                      <a:r>
                        <a:rPr sz="940" i="0" b="1">
                          <a:solidFill>
                            <a:srgbClr val="1B1B1B"/>
                          </a:solidFill>
                          <a:latin typeface="Arial"/>
                        </a:rPr>
                        <a:t> (Giữ lực矩 tốc độ 0).</a:t>
                      </a:r>
                    </a:p>
                  </a:txBody>
                  <a:tcPr anchor="ctr" marT="19050" marB="19050" marL="50800" marR="50800">
                    <a:solidFill>
                      <a:srgbClr val="FEF9E7"/>
                    </a:solidFill>
                  </a:tcPr>
                </a:tc>
                <a:tc>
                  <a:txBody>
                    <a:bodyPr wrap="square"/>
                    <a:lstStyle/>
                    <a:p>
                      <a:pPr algn="l"/>
                      <a:r>
                        <a:rPr sz="940" i="0" b="1">
                          <a:solidFill>
                            <a:srgbClr val="0E2841"/>
                          </a:solidFill>
                          <a:latin typeface="Arial"/>
                        </a:rPr>
                        <a:t>TRONG PHẠM VI</a:t>
                      </a:r>
                      <a:r>
                        <a:rPr sz="940" i="0" b="1">
                          <a:solidFill>
                            <a:srgbClr val="1B1B1B"/>
                          </a:solidFill>
                          <a:latin typeface="Arial"/>
                        </a:rPr>
                        <a:t>
(In-Scope SoI)</a:t>
                      </a:r>
                    </a:p>
                  </a:txBody>
                  <a:tcPr anchor="ctr" marT="19050" marB="19050" marL="50800" marR="50800">
                    <a:solidFill>
                      <a:srgbClr val="FEF9E7"/>
                    </a:solidFill>
                  </a:tcPr>
                </a:tc>
              </a:tr>
              <a:tr h="680679">
                <a:tc>
                  <a:txBody>
                    <a:bodyPr wrap="square"/>
                    <a:lstStyle/>
                    <a:p>
                      <a:pPr algn="ctr"/>
                      <a:r>
                        <a:rPr sz="940" i="0" b="1">
                          <a:solidFill>
                            <a:srgbClr val="0E2841"/>
                          </a:solidFill>
                          <a:latin typeface="Arial"/>
                        </a:rPr>
                        <a:t>Khối 3: Cơ khí Chấp hành</a:t>
                      </a:r>
                    </a:p>
                  </a:txBody>
                  <a:tcPr anchor="ctr" marT="19050" marB="19050" marL="50800" marR="50800">
                    <a:solidFill>
                      <a:srgbClr val="FEF9E7"/>
                    </a:solidFill>
                  </a:tcPr>
                </a:tc>
                <a:tc>
                  <a:txBody>
                    <a:bodyPr wrap="square"/>
                    <a:lstStyle/>
                    <a:p>
                      <a:pPr algn="l"/>
                      <a:r>
                        <a:rPr sz="940" i="0" b="1">
                          <a:solidFill>
                            <a:srgbClr val="1B1B1B"/>
                          </a:solidFill>
                          <a:latin typeface="Arial"/>
                        </a:rPr>
                        <a:t>• </a:t>
                      </a:r>
                      <a:r>
                        <a:rPr sz="940" i="0" b="1">
                          <a:solidFill>
                            <a:srgbClr val="0E2841"/>
                          </a:solidFill>
                          <a:latin typeface="Arial"/>
                        </a:rPr>
                        <a:t>Khớp nối đàn hồi</a:t>
                      </a:r>
                      <a:r>
                        <a:rPr sz="940" i="0" b="1">
                          <a:solidFill>
                            <a:srgbClr val="1B1B1B"/>
                          </a:solidFill>
                          <a:latin typeface="Arial"/>
                        </a:rPr>
                        <a:t> + </a:t>
                      </a:r>
                      <a:r>
                        <a:rPr sz="940" i="0" b="1">
                          <a:solidFill>
                            <a:srgbClr val="0E2841"/>
                          </a:solidFill>
                          <a:latin typeface="Arial"/>
                        </a:rPr>
                        <a:t>Hộp giảm tốc bánh răng</a:t>
                      </a:r>
                      <a:r>
                        <a:rPr sz="940" i="0" b="1">
                          <a:solidFill>
                            <a:srgbClr val="1B1B1B"/>
                          </a:solidFill>
                          <a:latin typeface="Arial"/>
                        </a:rPr>
                        <a:t> + </a:t>
                      </a:r>
                      <a:r>
                        <a:rPr sz="940" i="0" b="1">
                          <a:solidFill>
                            <a:srgbClr val="0E2841"/>
                          </a:solidFill>
                          <a:latin typeface="Arial"/>
                        </a:rPr>
                        <a:t>Bánh xe</a:t>
                      </a:r>
                      <a:r>
                        <a:rPr sz="940" i="0" b="1">
                          <a:solidFill>
                            <a:srgbClr val="1B1B1B"/>
                          </a:solidFill>
                          <a:latin typeface="Arial"/>
                        </a:rPr>
                        <a:t> (</a:t>
                      </a:r>
                      <a:r>
                        <a:rPr sz="940" i="0" b="1">
                          <a:solidFill>
                            <a:srgbClr val="0E2841"/>
                          </a:solidFill>
                          <a:latin typeface="Arial"/>
                        </a:rPr>
                        <a:t>d=0.25 m</a:t>
                      </a:r>
                      <a:r>
                        <a:rPr sz="940" i="0" b="1">
                          <a:solidFill>
                            <a:srgbClr val="1B1B1B"/>
                          </a:solidFill>
                          <a:latin typeface="Arial"/>
                        </a:rPr>
                        <a:t>, hiệu suất </a:t>
                      </a:r>
                      <a:r>
                        <a:rPr sz="940" i="0" b="1">
                          <a:solidFill>
                            <a:srgbClr val="0E2841"/>
                          </a:solidFill>
                          <a:latin typeface="Arial"/>
                        </a:rPr>
                        <a:t>η=0.96</a:t>
                      </a:r>
                      <a:r>
                        <a:rPr sz="940" i="0" b="1">
                          <a:solidFill>
                            <a:srgbClr val="1B1B1B"/>
                          </a:solidFill>
                          <a:latin typeface="Arial"/>
                        </a:rPr>
                        <a:t>). Tổng khối lượng </a:t>
                      </a:r>
                      <a:r>
                        <a:rPr sz="940" i="0" b="1">
                          <a:solidFill>
                            <a:srgbClr val="0E2841"/>
                          </a:solidFill>
                          <a:latin typeface="Arial"/>
                        </a:rPr>
                        <a:t>M_Σ=14,244 kg</a:t>
                      </a:r>
                      <a:r>
                        <a:rPr sz="940" i="0" b="1">
                          <a:solidFill>
                            <a:srgbClr val="1B1B1B"/>
                          </a:solidFill>
                          <a:latin typeface="Arial"/>
                        </a:rPr>
                        <a:t>.</a:t>
                      </a:r>
                    </a:p>
                  </a:txBody>
                  <a:tcPr anchor="ctr" marT="19050" marB="19050" marL="50800" marR="50800">
                    <a:solidFill>
                      <a:srgbClr val="FEF9E7"/>
                    </a:solidFill>
                  </a:tcPr>
                </a:tc>
                <a:tc>
                  <a:txBody>
                    <a:bodyPr wrap="square"/>
                    <a:lstStyle/>
                    <a:p>
                      <a:pPr algn="l"/>
                      <a:r>
                        <a:rPr sz="940" i="0" b="1">
                          <a:solidFill>
                            <a:srgbClr val="0E2841"/>
                          </a:solidFill>
                          <a:latin typeface="Arial"/>
                        </a:rPr>
                        <a:t>INP-04</a:t>
                      </a:r>
                      <a:r>
                        <a:rPr sz="940" i="0" b="1">
                          <a:solidFill>
                            <a:srgbClr val="1B1B1B"/>
                          </a:solidFill>
                          <a:latin typeface="Arial"/>
                        </a:rPr>
                        <a:t>, </a:t>
                      </a:r>
                      <a:r>
                        <a:rPr sz="940" i="0" b="1">
                          <a:solidFill>
                            <a:srgbClr val="0E2841"/>
                          </a:solidFill>
                          <a:latin typeface="Arial"/>
                        </a:rPr>
                        <a:t>ASM-01 (m_xc=1,800 kg)</a:t>
                      </a:r>
                      <a:r>
                        <a:rPr sz="940" i="0" b="1">
                          <a:solidFill>
                            <a:srgbClr val="1B1B1B"/>
                          </a:solidFill>
                          <a:latin typeface="Arial"/>
                        </a:rPr>
                        <a:t>, </a:t>
                      </a:r>
                      <a:r>
                        <a:rPr sz="940" i="0" b="1">
                          <a:solidFill>
                            <a:srgbClr val="0E2841"/>
                          </a:solidFill>
                          <a:latin typeface="Arial"/>
                        </a:rPr>
                        <a:t>ASM-03</a:t>
                      </a:r>
                      <a:r>
                        <a:rPr sz="940" i="0" b="1">
                          <a:solidFill>
                            <a:srgbClr val="1B1B1B"/>
                          </a:solidFill>
                          <a:latin typeface="Arial"/>
                        </a:rPr>
                        <a:t>, </a:t>
                      </a:r>
                      <a:r>
                        <a:rPr sz="940" i="0" b="1">
                          <a:solidFill>
                            <a:srgbClr val="C00000"/>
                          </a:solidFill>
                          <a:latin typeface="Arial"/>
                        </a:rPr>
                        <a:t>GAP-06</a:t>
                      </a:r>
                      <a:r>
                        <a:rPr sz="940" i="0" b="1">
                          <a:solidFill>
                            <a:srgbClr val="1B1B1B"/>
                          </a:solidFill>
                          <a:latin typeface="Arial"/>
                        </a:rPr>
                        <a:t>.</a:t>
                      </a:r>
                    </a:p>
                  </a:txBody>
                  <a:tcPr anchor="ctr" marT="19050" marB="19050" marL="50800" marR="50800">
                    <a:solidFill>
                      <a:srgbClr val="FEF9E7"/>
                    </a:solidFill>
                  </a:tcPr>
                </a:tc>
                <a:tc>
                  <a:txBody>
                    <a:bodyPr wrap="square"/>
                    <a:lstStyle/>
                    <a:p>
                      <a:pPr algn="l"/>
                      <a:r>
                        <a:rPr sz="940" i="0" b="1">
                          <a:solidFill>
                            <a:srgbClr val="0E2841"/>
                          </a:solidFill>
                          <a:latin typeface="Arial"/>
                        </a:rPr>
                        <a:t>TRONG PHẠM VI</a:t>
                      </a:r>
                      <a:r>
                        <a:rPr sz="940" i="0" b="1">
                          <a:solidFill>
                            <a:srgbClr val="1B1B1B"/>
                          </a:solidFill>
                          <a:latin typeface="Arial"/>
                        </a:rPr>
                        <a:t>
(In-Scope SoI)</a:t>
                      </a:r>
                    </a:p>
                  </a:txBody>
                  <a:tcPr anchor="ctr" marT="19050" marB="19050" marL="50800" marR="50800">
                    <a:solidFill>
                      <a:srgbClr val="FEF9E7"/>
                    </a:solidFill>
                  </a:tcPr>
                </a:tc>
              </a:tr>
              <a:tr h="680679">
                <a:tc>
                  <a:txBody>
                    <a:bodyPr wrap="square"/>
                    <a:lstStyle/>
                    <a:p>
                      <a:pPr algn="ctr"/>
                      <a:r>
                        <a:rPr sz="940" i="0" b="1">
                          <a:solidFill>
                            <a:srgbClr val="0E2841"/>
                          </a:solidFill>
                          <a:latin typeface="Arial"/>
                        </a:rPr>
                        <a:t>Hệ thống ngoài phạm vi</a:t>
                      </a:r>
                    </a:p>
                  </a:txBody>
                  <a:tcPr anchor="ctr" marT="19050" marB="19050" marL="50800" marR="50800">
                    <a:solidFill>
                      <a:srgbClr val="FFFFFF"/>
                    </a:solidFill>
                  </a:tcPr>
                </a:tc>
                <a:tc>
                  <a:txBody>
                    <a:bodyPr wrap="square"/>
                    <a:lstStyle/>
                    <a:p>
                      <a:pPr algn="l"/>
                      <a:r>
                        <a:rPr sz="940" i="0" b="0">
                          <a:solidFill>
                            <a:srgbClr val="1B1B1B"/>
                          </a:solidFill>
                          <a:latin typeface="Arial"/>
                        </a:rPr>
                        <a:t>• Tời nâng hạ (</a:t>
                      </a:r>
                      <a:r>
                        <a:rPr sz="940" i="0" b="1">
                          <a:solidFill>
                            <a:srgbClr val="0E2841"/>
                          </a:solidFill>
                          <a:latin typeface="Arial"/>
                        </a:rPr>
                        <a:t>Hoist</a:t>
                      </a:r>
                      <a:r>
                        <a:rPr sz="940" i="0" b="0">
                          <a:solidFill>
                            <a:srgbClr val="1B1B1B"/>
                          </a:solidFill>
                          <a:latin typeface="Arial"/>
                        </a:rPr>
                        <a:t>), Di chuyển dầm chính (</a:t>
                      </a:r>
                      <a:r>
                        <a:rPr sz="940" i="0" b="1">
                          <a:solidFill>
                            <a:srgbClr val="0E2841"/>
                          </a:solidFill>
                          <a:latin typeface="Arial"/>
                        </a:rPr>
                        <a:t>Bridge</a:t>
                      </a:r>
                      <a:r>
                        <a:rPr sz="940" i="0" b="0">
                          <a:solidFill>
                            <a:srgbClr val="1B1B1B"/>
                          </a:solidFill>
                          <a:latin typeface="Arial"/>
                        </a:rPr>
                        <a:t>), Tủ phân phối tổng MCC, Giao thức truyền thông tầng nhà máy.</a:t>
                      </a:r>
                    </a:p>
                  </a:txBody>
                  <a:tcPr anchor="ctr" marT="19050" marB="19050" marL="50800" marR="50800">
                    <a:solidFill>
                      <a:srgbClr val="FFFFFF"/>
                    </a:solidFill>
                  </a:tcPr>
                </a:tc>
                <a:tc>
                  <a:txBody>
                    <a:bodyPr wrap="square"/>
                    <a:lstStyle/>
                    <a:p>
                      <a:pPr algn="l"/>
                      <a:r>
                        <a:rPr sz="940" i="0" b="0">
                          <a:solidFill>
                            <a:srgbClr val="1B1B1B"/>
                          </a:solidFill>
                          <a:latin typeface="Arial"/>
                        </a:rPr>
                        <a:t>Mục </a:t>
                      </a:r>
                      <a:r>
                        <a:rPr sz="940" i="0" b="1">
                          <a:solidFill>
                            <a:srgbClr val="0E2841"/>
                          </a:solidFill>
                          <a:latin typeface="Arial"/>
                        </a:rPr>
                        <a:t>2.5 ConOps Khối 0</a:t>
                      </a:r>
                      <a:r>
                        <a:rPr sz="940" i="0" b="0">
                          <a:solidFill>
                            <a:srgbClr val="1B1B1B"/>
                          </a:solidFill>
                          <a:latin typeface="Arial"/>
                        </a:rPr>
                        <a:t> &amp; Mục </a:t>
                      </a:r>
                      <a:r>
                        <a:rPr sz="940" i="0" b="1">
                          <a:solidFill>
                            <a:srgbClr val="0E2841"/>
                          </a:solidFill>
                          <a:latin typeface="Arial"/>
                        </a:rPr>
                        <a:t>3.3 SRS</a:t>
                      </a:r>
                      <a:r>
                        <a:rPr sz="940" i="0" b="0">
                          <a:solidFill>
                            <a:srgbClr val="1B1B1B"/>
                          </a:solidFill>
                          <a:latin typeface="Arial"/>
                        </a:rPr>
                        <a:t> (11 PRD Out-of-Scope).</a:t>
                      </a:r>
                    </a:p>
                  </a:txBody>
                  <a:tcPr anchor="ctr" marT="19050" marB="19050" marL="50800" marR="50800">
                    <a:solidFill>
                      <a:srgbClr val="FFFFFF"/>
                    </a:solidFill>
                  </a:tcPr>
                </a:tc>
                <a:tc>
                  <a:txBody>
                    <a:bodyPr wrap="square"/>
                    <a:lstStyle/>
                    <a:p>
                      <a:pPr algn="l"/>
                      <a:r>
                        <a:rPr sz="940" i="0" b="1">
                          <a:solidFill>
                            <a:srgbClr val="0E2841"/>
                          </a:solidFill>
                          <a:latin typeface="Arial"/>
                        </a:rPr>
                        <a:t>NGOÀI PHẠM VI</a:t>
                      </a:r>
                      <a:r>
                        <a:rPr sz="940" i="0" b="0">
                          <a:solidFill>
                            <a:srgbClr val="1B1B1B"/>
                          </a:solidFill>
                          <a:latin typeface="Arial"/>
                        </a:rPr>
                        <a:t>
(Out-of-Scope)</a:t>
                      </a:r>
                    </a:p>
                  </a:txBody>
                  <a:tcPr anchor="ctr" marT="19050" marB="19050" marL="50800" marR="50800">
                    <a:solidFill>
                      <a:srgbClr val="FFFFFF"/>
                    </a:solidFill>
                  </a:tcPr>
                </a:tc>
              </a:tr>
            </a:tbl>
          </a:graphicData>
        </a:graphic>
      </p:graphicFrame>
      <p:sp>
        <p:nvSpPr>
          <p:cNvPr id="9" name="Rounded Rectangle 8"/>
          <p:cNvSpPr/>
          <p:nvPr/>
        </p:nvSpPr>
        <p:spPr>
          <a:xfrm>
            <a:off x="4956048" y="5166360"/>
            <a:ext cx="6922008" cy="1005840"/>
          </a:xfrm>
          <a:prstGeom prst="roundRect">
            <a:avLst>
              <a:gd name="adj" fmla="val 3000"/>
            </a:avLst>
          </a:prstGeom>
          <a:solidFill>
            <a:srgbClr val="F4F6F9"/>
          </a:solidFill>
          <a:ln w="158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50" b="1">
                <a:solidFill>
                  <a:srgbClr val="0E2841"/>
                </a:solidFill>
                <a:latin typeface="Arial"/>
              </a:rPr>
              <a:t>Ý NGHĨA KỸ THUẬT CỦA VIỆC KHÓA RANH GIỚI HỆ THỐNG (SYSTEM OF INTEREST — SoI)</a:t>
            </a:r>
          </a:p>
          <a:p>
            <a:pPr>
              <a:spcAft>
                <a:spcPts val="150"/>
              </a:spcAft>
            </a:pPr>
            <a:r>
              <a:rPr sz="940" i="0" b="0">
                <a:solidFill>
                  <a:srgbClr val="1B1B1B"/>
                </a:solidFill>
                <a:latin typeface="Arial"/>
              </a:rPr>
              <a:t>• Tách biệt rõ </a:t>
            </a:r>
            <a:r>
              <a:rPr sz="940" i="0" b="1">
                <a:solidFill>
                  <a:srgbClr val="0E2841"/>
                </a:solidFill>
                <a:latin typeface="Arial"/>
              </a:rPr>
              <a:t>Biến điều khiển nội tại</a:t>
            </a:r>
            <a:r>
              <a:rPr sz="940" i="0" b="0">
                <a:solidFill>
                  <a:srgbClr val="1B1B1B"/>
                </a:solidFill>
                <a:latin typeface="Arial"/>
              </a:rPr>
              <a:t> (</a:t>
            </a:r>
            <a:r>
              <a:rPr sz="940" i="0" b="1">
                <a:solidFill>
                  <a:srgbClr val="0E2841"/>
                </a:solidFill>
                <a:latin typeface="Arial"/>
              </a:rPr>
              <a:t>i_sd, i_sq, U_dc, S-Curve, lệnh phanh</a:t>
            </a:r>
            <a:r>
              <a:rPr sz="940" i="0" b="0">
                <a:solidFill>
                  <a:srgbClr val="1B1B1B"/>
                </a:solidFill>
                <a:latin typeface="Arial"/>
              </a:rPr>
              <a:t>) khỏi </a:t>
            </a:r>
            <a:r>
              <a:rPr sz="940" i="0" b="1">
                <a:solidFill>
                  <a:srgbClr val="0E2841"/>
                </a:solidFill>
                <a:latin typeface="Arial"/>
              </a:rPr>
              <a:t>Nhiễu ngoại sinh</a:t>
            </a:r>
            <a:r>
              <a:rPr sz="940" i="0" b="0">
                <a:solidFill>
                  <a:srgbClr val="1B1B1B"/>
                </a:solidFill>
                <a:latin typeface="Arial"/>
              </a:rPr>
              <a:t> (tải đổi </a:t>
            </a:r>
            <a:r>
              <a:rPr sz="940" i="0" b="1">
                <a:solidFill>
                  <a:srgbClr val="0E2841"/>
                </a:solidFill>
                <a:latin typeface="Arial"/>
              </a:rPr>
              <a:t>7.04×</a:t>
            </a:r>
            <a:r>
              <a:rPr sz="940" i="0" b="0">
                <a:solidFill>
                  <a:srgbClr val="1B1B1B"/>
                </a:solidFill>
                <a:latin typeface="Arial"/>
              </a:rPr>
              <a:t>, lưới </a:t>
            </a:r>
            <a:r>
              <a:rPr sz="940" i="0" b="1">
                <a:solidFill>
                  <a:srgbClr val="0E2841"/>
                </a:solidFill>
                <a:latin typeface="Arial"/>
              </a:rPr>
              <a:t>±10%</a:t>
            </a:r>
            <a:r>
              <a:rPr sz="940" i="0" b="0">
                <a:solidFill>
                  <a:srgbClr val="1B1B1B"/>
                </a:solidFill>
                <a:latin typeface="Arial"/>
              </a:rPr>
              <a:t>, lắc cáp </a:t>
            </a:r>
            <a:r>
              <a:rPr sz="940" i="0" b="1">
                <a:solidFill>
                  <a:srgbClr val="0E2841"/>
                </a:solidFill>
                <a:latin typeface="Arial"/>
              </a:rPr>
              <a:t>ω_p = 0.904 rad/s</a:t>
            </a:r>
            <a:r>
              <a:rPr sz="940" i="0" b="0">
                <a:solidFill>
                  <a:srgbClr val="1B1B1B"/>
                </a:solidFill>
                <a:latin typeface="Arial"/>
              </a:rPr>
              <a:t>).</a:t>
            </a:r>
          </a:p>
          <a:p>
            <a:pPr>
              <a:spcAft>
                <a:spcPts val="150"/>
              </a:spcAft>
            </a:pPr>
            <a:r>
              <a:rPr sz="940" i="0" b="0">
                <a:solidFill>
                  <a:srgbClr val="1B1B1B"/>
                </a:solidFill>
                <a:latin typeface="Arial"/>
              </a:rPr>
              <a:t>• Ngăn chặn </a:t>
            </a:r>
            <a:r>
              <a:rPr sz="940" i="0" b="1">
                <a:solidFill>
                  <a:srgbClr val="0E2841"/>
                </a:solidFill>
                <a:latin typeface="Arial"/>
              </a:rPr>
              <a:t>Scope Creep</a:t>
            </a:r>
            <a:r>
              <a:rPr sz="940" i="0" b="0">
                <a:solidFill>
                  <a:srgbClr val="1B1B1B"/>
                </a:solidFill>
                <a:latin typeface="Arial"/>
              </a:rPr>
              <a:t> (không tính tời nâng/dầm chính) nhưng bảo toàn phản lực ngang của cáp treo </a:t>
            </a:r>
            <a:r>
              <a:rPr sz="940" i="0" b="1">
                <a:solidFill>
                  <a:srgbClr val="0E2841"/>
                </a:solidFill>
                <a:latin typeface="Arial"/>
              </a:rPr>
              <a:t>h = 12 m</a:t>
            </a:r>
            <a:r>
              <a:rPr sz="940" i="0" b="0">
                <a:solidFill>
                  <a:srgbClr val="1B1B1B"/>
                </a:solidFill>
                <a:latin typeface="Arial"/>
              </a:rPr>
              <a:t> vào phương trình động lực học xe con.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3. GIẢI PHẪU CHI TIẾT 3 PHÂN VÙNG &amp; 10 LUỒNG GIAO DIỆN ([P], [E], [I], [M])</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Mọi giao diện vật lý đều được định lượng đầu vào/đầu ra — Đảm bảo không bỏ sót tương tác cơ - điện - nhiệt - thông tin</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SOW-1.1 — 3-Zone Breakdown &amp; 10 Interface Flows | Slide 04 / 16</a:t>
            </a:r>
          </a:p>
        </p:txBody>
      </p:sp>
      <p:sp>
        <p:nvSpPr>
          <p:cNvPr id="5" name="Rounded Rectangle 4"/>
          <p:cNvSpPr/>
          <p:nvPr/>
        </p:nvSpPr>
        <p:spPr>
          <a:xfrm>
            <a:off x="310896" y="1234440"/>
            <a:ext cx="4251960" cy="1591056"/>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rs_zone1_top.png"/>
          <p:cNvPicPr>
            <a:picLocks noChangeAspect="1"/>
          </p:cNvPicPr>
          <p:nvPr/>
        </p:nvPicPr>
        <p:blipFill>
          <a:blip r:embed="rId3"/>
          <a:stretch>
            <a:fillRect/>
          </a:stretch>
        </p:blipFill>
        <p:spPr>
          <a:xfrm>
            <a:off x="356616" y="1529334"/>
            <a:ext cx="4160520" cy="713232"/>
          </a:xfrm>
          <a:prstGeom prst="rect">
            <a:avLst/>
          </a:prstGeom>
        </p:spPr>
      </p:pic>
      <p:sp>
        <p:nvSpPr>
          <p:cNvPr id="7" name="TextBox 6"/>
          <p:cNvSpPr txBox="1"/>
          <p:nvPr/>
        </p:nvSpPr>
        <p:spPr>
          <a:xfrm>
            <a:off x="347472" y="2514600"/>
            <a:ext cx="4178808" cy="292608"/>
          </a:xfrm>
          <a:prstGeom prst="rect">
            <a:avLst/>
          </a:prstGeom>
          <a:noFill/>
        </p:spPr>
        <p:txBody>
          <a:bodyPr wrap="square" anchor="ctr" lIns="12700" tIns="12700" rIns="12700" bIns="12700">
            <a:spAutoFit/>
          </a:bodyPr>
          <a:lstStyle/>
          <a:p>
            <a:pPr algn="ctr"/>
            <a:r>
              <a:rPr sz="880" b="1" i="1">
                <a:solidFill>
                  <a:srgbClr val="0E2841"/>
                </a:solidFill>
                <a:latin typeface="Arial"/>
              </a:rPr>
              <a:t>Phân vùng 1 (Draw.io 05): Nguồn lưới 380V, Lệnh PLC &amp; Tản nhiệt R_h</a:t>
            </a:r>
          </a:p>
        </p:txBody>
      </p:sp>
      <p:sp>
        <p:nvSpPr>
          <p:cNvPr id="8" name="Rounded Rectangle 7"/>
          <p:cNvSpPr/>
          <p:nvPr/>
        </p:nvSpPr>
        <p:spPr>
          <a:xfrm>
            <a:off x="310896" y="2898648"/>
            <a:ext cx="4251960" cy="1591056"/>
          </a:xfrm>
          <a:prstGeom prst="roundRect">
            <a:avLst>
              <a:gd name="adj" fmla="val 2000"/>
            </a:avLst>
          </a:prstGeom>
          <a:solidFill>
            <a:srgbClr val="FFFFFF"/>
          </a:solidFill>
          <a:ln w="12700">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rs_zone2_mid.png"/>
          <p:cNvPicPr>
            <a:picLocks noChangeAspect="1"/>
          </p:cNvPicPr>
          <p:nvPr/>
        </p:nvPicPr>
        <p:blipFill>
          <a:blip r:embed="rId4"/>
          <a:stretch>
            <a:fillRect/>
          </a:stretch>
        </p:blipFill>
        <p:spPr>
          <a:xfrm>
            <a:off x="740664" y="2944368"/>
            <a:ext cx="3392423" cy="1211580"/>
          </a:xfrm>
          <a:prstGeom prst="rect">
            <a:avLst/>
          </a:prstGeom>
        </p:spPr>
      </p:pic>
      <p:sp>
        <p:nvSpPr>
          <p:cNvPr id="10" name="TextBox 9"/>
          <p:cNvSpPr txBox="1"/>
          <p:nvPr/>
        </p:nvSpPr>
        <p:spPr>
          <a:xfrm>
            <a:off x="347472" y="4178808"/>
            <a:ext cx="4178808" cy="292608"/>
          </a:xfrm>
          <a:prstGeom prst="rect">
            <a:avLst/>
          </a:prstGeom>
          <a:noFill/>
        </p:spPr>
        <p:txBody>
          <a:bodyPr wrap="square" anchor="ctr" lIns="12700" tIns="12700" rIns="12700" bIns="12700">
            <a:spAutoFit/>
          </a:bodyPr>
          <a:lstStyle/>
          <a:p>
            <a:pPr algn="ctr"/>
            <a:r>
              <a:rPr sz="880" b="1" i="1">
                <a:solidFill>
                  <a:srgbClr val="0E2841"/>
                </a:solidFill>
                <a:latin typeface="Arial"/>
              </a:rPr>
              <a:t>Phân vùng 2 (Draw.io 05): Biến tần 4Q, Động cơ + Phanh + Encoder &amp; Cơ khí</a:t>
            </a:r>
          </a:p>
        </p:txBody>
      </p:sp>
      <p:sp>
        <p:nvSpPr>
          <p:cNvPr id="11" name="Rounded Rectangle 10"/>
          <p:cNvSpPr/>
          <p:nvPr/>
        </p:nvSpPr>
        <p:spPr>
          <a:xfrm>
            <a:off x="310896" y="4562856"/>
            <a:ext cx="4251960" cy="1636776"/>
          </a:xfrm>
          <a:prstGeom prst="roundRect">
            <a:avLst>
              <a:gd name="adj" fmla="val 2000"/>
            </a:avLst>
          </a:prstGeom>
          <a:solidFill>
            <a:srgbClr val="FFFFFF"/>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rs_zone3_bot.png"/>
          <p:cNvPicPr>
            <a:picLocks noChangeAspect="1"/>
          </p:cNvPicPr>
          <p:nvPr/>
        </p:nvPicPr>
        <p:blipFill>
          <a:blip r:embed="rId5"/>
          <a:stretch>
            <a:fillRect/>
          </a:stretch>
        </p:blipFill>
        <p:spPr>
          <a:xfrm>
            <a:off x="1164407" y="4608576"/>
            <a:ext cx="2544936" cy="1257300"/>
          </a:xfrm>
          <a:prstGeom prst="rect">
            <a:avLst/>
          </a:prstGeom>
        </p:spPr>
      </p:pic>
      <p:sp>
        <p:nvSpPr>
          <p:cNvPr id="13" name="TextBox 12"/>
          <p:cNvSpPr txBox="1"/>
          <p:nvPr/>
        </p:nvSpPr>
        <p:spPr>
          <a:xfrm>
            <a:off x="347472" y="5888736"/>
            <a:ext cx="4178808" cy="292608"/>
          </a:xfrm>
          <a:prstGeom prst="rect">
            <a:avLst/>
          </a:prstGeom>
          <a:noFill/>
        </p:spPr>
        <p:txBody>
          <a:bodyPr wrap="square" anchor="ctr" lIns="12700" tIns="12700" rIns="12700" bIns="12700">
            <a:spAutoFit/>
          </a:bodyPr>
          <a:lstStyle/>
          <a:p>
            <a:pPr algn="ctr"/>
            <a:r>
              <a:rPr sz="880" b="1" i="1">
                <a:solidFill>
                  <a:srgbClr val="0E2841"/>
                </a:solidFill>
                <a:latin typeface="Arial"/>
              </a:rPr>
              <a:t>Phân vùng 3 (Draw.io 06): Toàn cảnh 10 Giao diện Vật lý IF-01 ÷ IF-10</a:t>
            </a:r>
          </a:p>
        </p:txBody>
      </p:sp>
      <p:graphicFrame>
        <p:nvGraphicFramePr>
          <p:cNvPr id="14" name="Table 13"/>
          <p:cNvGraphicFramePr>
            <a:graphicFrameLocks noGrp="1"/>
          </p:cNvGraphicFramePr>
          <p:nvPr/>
        </p:nvGraphicFramePr>
        <p:xfrm>
          <a:off x="4681728" y="1234440"/>
          <a:ext cx="7196328" cy="4667278"/>
        </p:xfrm>
        <a:graphic>
          <a:graphicData uri="http://schemas.openxmlformats.org/drawingml/2006/table">
            <a:tbl>
              <a:tblPr firstRow="1" bandRow="1">
                <a:tableStyleId>{5C22544A-7EE6-4342-B048-85BDC9FD1C3A}</a:tableStyleId>
              </a:tblPr>
              <a:tblGrid>
                <a:gridCol w="713232"/>
                <a:gridCol w="594360"/>
                <a:gridCol w="1691640"/>
                <a:gridCol w="2962656"/>
                <a:gridCol w="1234440"/>
              </a:tblGrid>
              <a:tr h="292608">
                <a:tc>
                  <a:txBody>
                    <a:bodyPr wrap="square"/>
                    <a:lstStyle/>
                    <a:p>
                      <a:pPr algn="ctr"/>
                      <a:r>
                        <a:rPr sz="1000" b="1">
                          <a:solidFill>
                            <a:srgbClr val="FFFFFF"/>
                          </a:solidFill>
                          <a:latin typeface="Arial"/>
                        </a:rPr>
                        <a:t>Mã IF</a:t>
                      </a:r>
                    </a:p>
                  </a:txBody>
                  <a:tcPr anchor="ctr" marT="19050" marB="19050" marL="50800" marR="50800">
                    <a:solidFill>
                      <a:srgbClr val="0E2841"/>
                    </a:solidFill>
                  </a:tcPr>
                </a:tc>
                <a:tc>
                  <a:txBody>
                    <a:bodyPr wrap="square"/>
                    <a:lstStyle/>
                    <a:p>
                      <a:pPr algn="ctr"/>
                      <a:r>
                        <a:rPr sz="1000" b="1">
                          <a:solidFill>
                            <a:srgbClr val="FFFFFF"/>
                          </a:solidFill>
                          <a:latin typeface="Arial"/>
                        </a:rPr>
                        <a:t>Loại</a:t>
                      </a:r>
                    </a:p>
                  </a:txBody>
                  <a:tcPr anchor="ctr" marT="19050" marB="19050" marL="50800" marR="50800">
                    <a:solidFill>
                      <a:srgbClr val="0E2841"/>
                    </a:solidFill>
                  </a:tcPr>
                </a:tc>
                <a:tc>
                  <a:txBody>
                    <a:bodyPr wrap="square"/>
                    <a:lstStyle/>
                    <a:p>
                      <a:pPr algn="ctr"/>
                      <a:r>
                        <a:rPr sz="1000" b="1">
                          <a:solidFill>
                            <a:srgbClr val="FFFFFF"/>
                          </a:solidFill>
                          <a:latin typeface="Arial"/>
                        </a:rPr>
                        <a:t>Điểm đầu → Điểm cuối</a:t>
                      </a:r>
                    </a:p>
                  </a:txBody>
                  <a:tcPr anchor="ctr" marT="19050" marB="19050" marL="50800" marR="50800">
                    <a:solidFill>
                      <a:srgbClr val="0E2841"/>
                    </a:solidFill>
                  </a:tcPr>
                </a:tc>
                <a:tc>
                  <a:txBody>
                    <a:bodyPr wrap="square"/>
                    <a:lstStyle/>
                    <a:p>
                      <a:pPr algn="ctr"/>
                      <a:r>
                        <a:rPr sz="1000" b="1">
                          <a:solidFill>
                            <a:srgbClr val="FFFFFF"/>
                          </a:solidFill>
                          <a:latin typeface="Arial"/>
                        </a:rPr>
                        <a:t>Tham số Vật lý &amp; Ngưỡng Đặc tả (Đề x = 2)</a:t>
                      </a:r>
                    </a:p>
                  </a:txBody>
                  <a:tcPr anchor="ctr" marT="19050" marB="19050" marL="50800" marR="50800">
                    <a:solidFill>
                      <a:srgbClr val="0E2841"/>
                    </a:solidFill>
                  </a:tcPr>
                </a:tc>
                <a:tc>
                  <a:txBody>
                    <a:bodyPr wrap="square"/>
                    <a:lstStyle/>
                    <a:p>
                      <a:pPr algn="ctr"/>
                      <a:r>
                        <a:rPr sz="1000" b="1">
                          <a:solidFill>
                            <a:srgbClr val="FFFFFF"/>
                          </a:solidFill>
                          <a:latin typeface="Arial"/>
                        </a:rPr>
                        <a:t>Ánh xạ SRS / RRM</a:t>
                      </a:r>
                    </a:p>
                  </a:txBody>
                  <a:tcPr anchor="ctr" marT="19050" marB="19050" marL="50800" marR="50800">
                    <a:solidFill>
                      <a:srgbClr val="0E2841"/>
                    </a:solidFill>
                  </a:tcPr>
                </a:tc>
              </a:tr>
              <a:tr h="437467">
                <a:tc>
                  <a:txBody>
                    <a:bodyPr wrap="square"/>
                    <a:lstStyle/>
                    <a:p>
                      <a:pPr algn="ctr"/>
                      <a:r>
                        <a:rPr sz="890" i="0" b="1">
                          <a:solidFill>
                            <a:srgbClr val="0E2841"/>
                          </a:solidFill>
                          <a:latin typeface="Arial"/>
                        </a:rPr>
                        <a:t>IF-01</a:t>
                      </a:r>
                    </a:p>
                  </a:txBody>
                  <a:tcPr anchor="ctr" marT="19050" marB="19050" marL="50800" marR="50800">
                    <a:solidFill>
                      <a:srgbClr val="FFFFFF"/>
                    </a:solidFill>
                  </a:tcPr>
                </a:tc>
                <a:tc>
                  <a:txBody>
                    <a:bodyPr wrap="square"/>
                    <a:lstStyle/>
                    <a:p>
                      <a:pPr algn="l"/>
                      <a:r>
                        <a:rPr sz="890" i="0" b="1">
                          <a:solidFill>
                            <a:srgbClr val="0E2841"/>
                          </a:solidFill>
                          <a:latin typeface="Arial"/>
                        </a:rPr>
                        <a:t>[E]</a:t>
                      </a:r>
                    </a:p>
                  </a:txBody>
                  <a:tcPr anchor="ctr" marT="19050" marB="19050" marL="50800" marR="50800">
                    <a:solidFill>
                      <a:srgbClr val="FFFFFF"/>
                    </a:solidFill>
                  </a:tcPr>
                </a:tc>
                <a:tc>
                  <a:txBody>
                    <a:bodyPr wrap="square"/>
                    <a:lstStyle/>
                    <a:p>
                      <a:pPr algn="l"/>
                      <a:r>
                        <a:rPr sz="890" i="0" b="0">
                          <a:solidFill>
                            <a:srgbClr val="1B1B1B"/>
                          </a:solidFill>
                          <a:latin typeface="Arial"/>
                        </a:rPr>
                        <a:t>Lưới 3P → Biến tần CDM</a:t>
                      </a:r>
                    </a:p>
                  </a:txBody>
                  <a:tcPr anchor="ctr" marT="19050" marB="19050" marL="50800" marR="50800">
                    <a:solidFill>
                      <a:srgbClr val="FFFFFF"/>
                    </a:solidFill>
                  </a:tcPr>
                </a:tc>
                <a:tc>
                  <a:txBody>
                    <a:bodyPr wrap="square"/>
                    <a:lstStyle/>
                    <a:p>
                      <a:pPr algn="l"/>
                      <a:r>
                        <a:rPr sz="890" i="0" b="0">
                          <a:solidFill>
                            <a:srgbClr val="1B1B1B"/>
                          </a:solidFill>
                          <a:latin typeface="Arial"/>
                        </a:rPr>
                        <a:t>Điện áp </a:t>
                      </a:r>
                      <a:r>
                        <a:rPr sz="890" i="0" b="1">
                          <a:solidFill>
                            <a:srgbClr val="0E2841"/>
                          </a:solidFill>
                          <a:latin typeface="Arial"/>
                        </a:rPr>
                        <a:t>3P 380V ± 10% (342÷418V AC)</a:t>
                      </a:r>
                      <a:r>
                        <a:rPr sz="890" i="0" b="0">
                          <a:solidFill>
                            <a:srgbClr val="1B1B1B"/>
                          </a:solidFill>
                          <a:latin typeface="Arial"/>
                        </a:rPr>
                        <a:t>, </a:t>
                      </a:r>
                      <a:r>
                        <a:rPr sz="890" i="0" b="1">
                          <a:solidFill>
                            <a:srgbClr val="0E2841"/>
                          </a:solidFill>
                          <a:latin typeface="Arial"/>
                        </a:rPr>
                        <a:t>50Hz ± 2%</a:t>
                      </a:r>
                      <a:r>
                        <a:rPr sz="890" i="0" b="0">
                          <a:solidFill>
                            <a:srgbClr val="1B1B1B"/>
                          </a:solidFill>
                          <a:latin typeface="Arial"/>
                        </a:rPr>
                        <a:t>, dây bảo vệ </a:t>
                      </a:r>
                      <a:r>
                        <a:rPr sz="890" i="0" b="1">
                          <a:solidFill>
                            <a:srgbClr val="0E2841"/>
                          </a:solidFill>
                          <a:latin typeface="Arial"/>
                        </a:rPr>
                        <a:t>PE</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1">
                          <a:solidFill>
                            <a:srgbClr val="0E2841"/>
                          </a:solidFill>
                          <a:latin typeface="Arial"/>
                        </a:rPr>
                        <a:t>SRS-PERM-06</a:t>
                      </a:r>
                      <a:r>
                        <a:rPr sz="890" i="0" b="0">
                          <a:solidFill>
                            <a:srgbClr val="1B1B1B"/>
                          </a:solidFill>
                          <a:latin typeface="Arial"/>
                        </a:rPr>
                        <a:t>, N2</a:t>
                      </a:r>
                    </a:p>
                  </a:txBody>
                  <a:tcPr anchor="ctr" marT="19050" marB="19050" marL="50800" marR="50800">
                    <a:solidFill>
                      <a:srgbClr val="FFFFFF"/>
                    </a:solidFill>
                  </a:tcPr>
                </a:tc>
              </a:tr>
              <a:tr h="437467">
                <a:tc>
                  <a:txBody>
                    <a:bodyPr wrap="square"/>
                    <a:lstStyle/>
                    <a:p>
                      <a:pPr algn="ctr"/>
                      <a:r>
                        <a:rPr sz="890" i="0" b="1">
                          <a:solidFill>
                            <a:srgbClr val="0E2841"/>
                          </a:solidFill>
                          <a:latin typeface="Arial"/>
                        </a:rPr>
                        <a:t>IF-02</a:t>
                      </a:r>
                    </a:p>
                  </a:txBody>
                  <a:tcPr anchor="ctr" marT="19050" marB="19050" marL="50800" marR="50800">
                    <a:solidFill>
                      <a:srgbClr val="F8F9FA"/>
                    </a:solidFill>
                  </a:tcPr>
                </a:tc>
                <a:tc>
                  <a:txBody>
                    <a:bodyPr wrap="square"/>
                    <a:lstStyle/>
                    <a:p>
                      <a:pPr algn="l"/>
                      <a:r>
                        <a:rPr sz="890" i="0" b="1">
                          <a:solidFill>
                            <a:srgbClr val="0E2841"/>
                          </a:solidFill>
                          <a:latin typeface="Arial"/>
                        </a:rPr>
                        <a:t>[I]</a:t>
                      </a:r>
                    </a:p>
                  </a:txBody>
                  <a:tcPr anchor="ctr" marT="19050" marB="19050" marL="50800" marR="50800">
                    <a:solidFill>
                      <a:srgbClr val="F8F9FA"/>
                    </a:solidFill>
                  </a:tcPr>
                </a:tc>
                <a:tc>
                  <a:txBody>
                    <a:bodyPr wrap="square"/>
                    <a:lstStyle/>
                    <a:p>
                      <a:pPr algn="l"/>
                      <a:r>
                        <a:rPr sz="890" i="0" b="0">
                          <a:solidFill>
                            <a:srgbClr val="1B1B1B"/>
                          </a:solidFill>
                          <a:latin typeface="Arial"/>
                        </a:rPr>
                        <a:t>Tay bấm/PLC → Biến tần</a:t>
                      </a:r>
                    </a:p>
                  </a:txBody>
                  <a:tcPr anchor="ctr" marT="19050" marB="19050" marL="50800" marR="50800">
                    <a:solidFill>
                      <a:srgbClr val="F8F9FA"/>
                    </a:solidFill>
                  </a:tcPr>
                </a:tc>
                <a:tc>
                  <a:txBody>
                    <a:bodyPr wrap="square"/>
                    <a:lstStyle/>
                    <a:p>
                      <a:pPr algn="l"/>
                      <a:r>
                        <a:rPr sz="890" i="0" b="0">
                          <a:solidFill>
                            <a:srgbClr val="1B1B1B"/>
                          </a:solidFill>
                          <a:latin typeface="Arial"/>
                        </a:rPr>
                        <a:t>Lệnh </a:t>
                      </a:r>
                      <a:r>
                        <a:rPr sz="890" i="0" b="1">
                          <a:solidFill>
                            <a:srgbClr val="0E2841"/>
                          </a:solidFill>
                          <a:latin typeface="Arial"/>
                        </a:rPr>
                        <a:t>Chạy Trái/Phải</a:t>
                      </a:r>
                      <a:r>
                        <a:rPr sz="890" i="0" b="0">
                          <a:solidFill>
                            <a:srgbClr val="1B1B1B"/>
                          </a:solidFill>
                          <a:latin typeface="Arial"/>
                        </a:rPr>
                        <a:t>, </a:t>
                      </a:r>
                      <a:r>
                        <a:rPr sz="890" i="0" b="1">
                          <a:solidFill>
                            <a:srgbClr val="0E2841"/>
                          </a:solidFill>
                          <a:latin typeface="Arial"/>
                        </a:rPr>
                        <a:t>Creep</a:t>
                      </a:r>
                      <a:r>
                        <a:rPr sz="890" i="0" b="0">
                          <a:solidFill>
                            <a:srgbClr val="1B1B1B"/>
                          </a:solidFill>
                          <a:latin typeface="Arial"/>
                        </a:rPr>
                        <a:t>, </a:t>
                      </a:r>
                      <a:r>
                        <a:rPr sz="890" i="0" b="1">
                          <a:solidFill>
                            <a:srgbClr val="0E2841"/>
                          </a:solidFill>
                          <a:latin typeface="Arial"/>
                        </a:rPr>
                        <a:t>Stop Cat. 1</a:t>
                      </a:r>
                      <a:r>
                        <a:rPr sz="890" i="0" b="0">
                          <a:solidFill>
                            <a:srgbClr val="1B1B1B"/>
                          </a:solidFill>
                          <a:latin typeface="Arial"/>
                        </a:rPr>
                        <a:t>; khóa chéo tại </a:t>
                      </a:r>
                      <a:r>
                        <a:rPr sz="890" i="0" b="1">
                          <a:solidFill>
                            <a:srgbClr val="0E2841"/>
                          </a:solidFill>
                          <a:latin typeface="Arial"/>
                        </a:rPr>
                        <a:t>v = 0</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1">
                          <a:solidFill>
                            <a:srgbClr val="0E2841"/>
                          </a:solidFill>
                          <a:latin typeface="Arial"/>
                        </a:rPr>
                        <a:t>SRS-FUNC-01..03</a:t>
                      </a:r>
                    </a:p>
                  </a:txBody>
                  <a:tcPr anchor="ctr" marT="19050" marB="19050" marL="50800" marR="50800">
                    <a:solidFill>
                      <a:srgbClr val="F8F9FA"/>
                    </a:solidFill>
                  </a:tcPr>
                </a:tc>
              </a:tr>
              <a:tr h="437467">
                <a:tc>
                  <a:txBody>
                    <a:bodyPr wrap="square"/>
                    <a:lstStyle/>
                    <a:p>
                      <a:pPr algn="ctr"/>
                      <a:r>
                        <a:rPr sz="890" i="0" b="1">
                          <a:solidFill>
                            <a:srgbClr val="0E2841"/>
                          </a:solidFill>
                          <a:latin typeface="Arial"/>
                        </a:rPr>
                        <a:t>IF-03</a:t>
                      </a:r>
                    </a:p>
                  </a:txBody>
                  <a:tcPr anchor="ctr" marT="19050" marB="19050" marL="50800" marR="50800">
                    <a:solidFill>
                      <a:srgbClr val="FFFFFF"/>
                    </a:solidFill>
                  </a:tcPr>
                </a:tc>
                <a:tc>
                  <a:txBody>
                    <a:bodyPr wrap="square"/>
                    <a:lstStyle/>
                    <a:p>
                      <a:pPr algn="l"/>
                      <a:r>
                        <a:rPr sz="890" i="0" b="1">
                          <a:solidFill>
                            <a:srgbClr val="0E2841"/>
                          </a:solidFill>
                          <a:latin typeface="Arial"/>
                        </a:rPr>
                        <a:t>[E/M]</a:t>
                      </a:r>
                    </a:p>
                  </a:txBody>
                  <a:tcPr anchor="ctr" marT="19050" marB="19050" marL="50800" marR="50800">
                    <a:solidFill>
                      <a:srgbClr val="FFFFFF"/>
                    </a:solidFill>
                  </a:tcPr>
                </a:tc>
                <a:tc>
                  <a:txBody>
                    <a:bodyPr wrap="square"/>
                    <a:lstStyle/>
                    <a:p>
                      <a:pPr algn="l"/>
                      <a:r>
                        <a:rPr sz="890" i="0" b="0">
                          <a:solidFill>
                            <a:srgbClr val="1B1B1B"/>
                          </a:solidFill>
                          <a:latin typeface="Arial"/>
                        </a:rPr>
                        <a:t>Biến tần &amp; R_h → Môi trường</a:t>
                      </a:r>
                    </a:p>
                  </a:txBody>
                  <a:tcPr anchor="ctr" marT="19050" marB="19050" marL="50800" marR="50800">
                    <a:solidFill>
                      <a:srgbClr val="FFFFFF"/>
                    </a:solidFill>
                  </a:tcPr>
                </a:tc>
                <a:tc>
                  <a:txBody>
                    <a:bodyPr wrap="square"/>
                    <a:lstStyle/>
                    <a:p>
                      <a:pPr algn="l"/>
                      <a:r>
                        <a:rPr sz="890" i="0" b="0">
                          <a:solidFill>
                            <a:srgbClr val="1B1B1B"/>
                          </a:solidFill>
                          <a:latin typeface="Arial"/>
                        </a:rPr>
                        <a:t>Tản nhiệt đối lưu ở </a:t>
                      </a:r>
                      <a:r>
                        <a:rPr sz="890" i="0" b="1">
                          <a:solidFill>
                            <a:srgbClr val="0E2841"/>
                          </a:solidFill>
                          <a:latin typeface="Arial"/>
                        </a:rPr>
                        <a:t>T_amb ≤ 40°C</a:t>
                      </a:r>
                      <a:r>
                        <a:rPr sz="890" i="0" b="0">
                          <a:solidFill>
                            <a:srgbClr val="1B1B1B"/>
                          </a:solidFill>
                          <a:latin typeface="Arial"/>
                        </a:rPr>
                        <a:t>, tiêu tán công suất hãm tái sinh trên </a:t>
                      </a:r>
                      <a:r>
                        <a:rPr sz="890" i="0" b="1">
                          <a:solidFill>
                            <a:srgbClr val="0E2841"/>
                          </a:solidFill>
                          <a:latin typeface="Arial"/>
                        </a:rPr>
                        <a:t>R_h</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1">
                          <a:solidFill>
                            <a:srgbClr val="0E2841"/>
                          </a:solidFill>
                          <a:latin typeface="Arial"/>
                        </a:rPr>
                        <a:t>SRS-FUNC-06</a:t>
                      </a:r>
                      <a:r>
                        <a:rPr sz="890" i="0" b="0">
                          <a:solidFill>
                            <a:srgbClr val="1B1B1B"/>
                          </a:solidFill>
                          <a:latin typeface="Arial"/>
                        </a:rPr>
                        <a:t>, N4</a:t>
                      </a:r>
                    </a:p>
                  </a:txBody>
                  <a:tcPr anchor="ctr" marT="19050" marB="19050" marL="50800" marR="50800">
                    <a:solidFill>
                      <a:srgbClr val="FFFFFF"/>
                    </a:solidFill>
                  </a:tcPr>
                </a:tc>
              </a:tr>
              <a:tr h="437467">
                <a:tc>
                  <a:txBody>
                    <a:bodyPr wrap="square"/>
                    <a:lstStyle/>
                    <a:p>
                      <a:pPr algn="ctr"/>
                      <a:r>
                        <a:rPr sz="890" i="0" b="1">
                          <a:solidFill>
                            <a:srgbClr val="0E2841"/>
                          </a:solidFill>
                          <a:latin typeface="Arial"/>
                        </a:rPr>
                        <a:t>IF-04</a:t>
                      </a:r>
                    </a:p>
                  </a:txBody>
                  <a:tcPr anchor="ctr" marT="19050" marB="19050" marL="50800" marR="50800">
                    <a:solidFill>
                      <a:srgbClr val="F8F9FA"/>
                    </a:solidFill>
                  </a:tcPr>
                </a:tc>
                <a:tc>
                  <a:txBody>
                    <a:bodyPr wrap="square"/>
                    <a:lstStyle/>
                    <a:p>
                      <a:pPr algn="l"/>
                      <a:r>
                        <a:rPr sz="890" i="0" b="1">
                          <a:solidFill>
                            <a:srgbClr val="0E2841"/>
                          </a:solidFill>
                          <a:latin typeface="Arial"/>
                        </a:rPr>
                        <a:t>[E]</a:t>
                      </a:r>
                    </a:p>
                  </a:txBody>
                  <a:tcPr anchor="ctr" marT="19050" marB="19050" marL="50800" marR="50800">
                    <a:solidFill>
                      <a:srgbClr val="F8F9FA"/>
                    </a:solidFill>
                  </a:tcPr>
                </a:tc>
                <a:tc>
                  <a:txBody>
                    <a:bodyPr wrap="square"/>
                    <a:lstStyle/>
                    <a:p>
                      <a:pPr algn="l"/>
                      <a:r>
                        <a:rPr sz="890" i="0" b="0">
                          <a:solidFill>
                            <a:srgbClr val="1B1B1B"/>
                          </a:solidFill>
                          <a:latin typeface="Arial"/>
                        </a:rPr>
                        <a:t>Biến tần → Động cơ KĐB</a:t>
                      </a:r>
                    </a:p>
                  </a:txBody>
                  <a:tcPr anchor="ctr" marT="19050" marB="19050" marL="50800" marR="50800">
                    <a:solidFill>
                      <a:srgbClr val="F8F9FA"/>
                    </a:solidFill>
                  </a:tcPr>
                </a:tc>
                <a:tc>
                  <a:txBody>
                    <a:bodyPr wrap="square"/>
                    <a:lstStyle/>
                    <a:p>
                      <a:pPr algn="l"/>
                      <a:r>
                        <a:rPr sz="890" i="0" b="0">
                          <a:solidFill>
                            <a:srgbClr val="1B1B1B"/>
                          </a:solidFill>
                          <a:latin typeface="Arial"/>
                        </a:rPr>
                        <a:t>Áp </a:t>
                      </a:r>
                      <a:r>
                        <a:rPr sz="890" i="0" b="1">
                          <a:solidFill>
                            <a:srgbClr val="0E2841"/>
                          </a:solidFill>
                          <a:latin typeface="Arial"/>
                        </a:rPr>
                        <a:t>PWM 3 pha</a:t>
                      </a:r>
                      <a:r>
                        <a:rPr sz="890" i="0" b="0">
                          <a:solidFill>
                            <a:srgbClr val="1B1B1B"/>
                          </a:solidFill>
                          <a:latin typeface="Arial"/>
                        </a:rPr>
                        <a:t> biến thiên tần số/biên độ; dòng quá tải đỉnh </a:t>
                      </a:r>
                      <a:r>
                        <a:rPr sz="890" i="0" b="1">
                          <a:solidFill>
                            <a:srgbClr val="0E2841"/>
                          </a:solidFill>
                          <a:latin typeface="Arial"/>
                        </a:rPr>
                        <a:t>λ_max ≥ 2.0</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1">
                          <a:solidFill>
                            <a:srgbClr val="0E2841"/>
                          </a:solidFill>
                          <a:latin typeface="Arial"/>
                        </a:rPr>
                        <a:t>SRS-PERM-06, 07</a:t>
                      </a:r>
                    </a:p>
                  </a:txBody>
                  <a:tcPr anchor="ctr" marT="19050" marB="19050" marL="50800" marR="50800">
                    <a:solidFill>
                      <a:srgbClr val="F8F9FA"/>
                    </a:solidFill>
                  </a:tcPr>
                </a:tc>
              </a:tr>
              <a:tr h="437467">
                <a:tc>
                  <a:txBody>
                    <a:bodyPr wrap="square"/>
                    <a:lstStyle/>
                    <a:p>
                      <a:pPr algn="ctr"/>
                      <a:r>
                        <a:rPr sz="890" i="0" b="1">
                          <a:solidFill>
                            <a:srgbClr val="0E2841"/>
                          </a:solidFill>
                          <a:latin typeface="Arial"/>
                        </a:rPr>
                        <a:t>IF-05</a:t>
                      </a:r>
                    </a:p>
                  </a:txBody>
                  <a:tcPr anchor="ctr" marT="19050" marB="19050" marL="50800" marR="50800">
                    <a:solidFill>
                      <a:srgbClr val="FEF9E7"/>
                    </a:solidFill>
                  </a:tcPr>
                </a:tc>
                <a:tc>
                  <a:txBody>
                    <a:bodyPr wrap="square"/>
                    <a:lstStyle/>
                    <a:p>
                      <a:pPr algn="l"/>
                      <a:r>
                        <a:rPr sz="890" i="0" b="1">
                          <a:solidFill>
                            <a:srgbClr val="0E2841"/>
                          </a:solidFill>
                          <a:latin typeface="Arial"/>
                        </a:rPr>
                        <a:t>[E]</a:t>
                      </a:r>
                    </a:p>
                  </a:txBody>
                  <a:tcPr anchor="ctr" marT="19050" marB="19050" marL="50800" marR="50800">
                    <a:solidFill>
                      <a:srgbClr val="FEF9E7"/>
                    </a:solidFill>
                  </a:tcPr>
                </a:tc>
                <a:tc>
                  <a:txBody>
                    <a:bodyPr wrap="square"/>
                    <a:lstStyle/>
                    <a:p>
                      <a:pPr algn="l"/>
                      <a:r>
                        <a:rPr sz="890" i="0" b="1">
                          <a:solidFill>
                            <a:srgbClr val="1B1B1B"/>
                          </a:solidFill>
                          <a:latin typeface="Arial"/>
                        </a:rPr>
                        <a:t>DC-Link → Chopper &amp; R_h</a:t>
                      </a:r>
                    </a:p>
                  </a:txBody>
                  <a:tcPr anchor="ctr" marT="19050" marB="19050" marL="50800" marR="50800">
                    <a:solidFill>
                      <a:srgbClr val="FEF9E7"/>
                    </a:solidFill>
                  </a:tcPr>
                </a:tc>
                <a:tc>
                  <a:txBody>
                    <a:bodyPr wrap="square"/>
                    <a:lstStyle/>
                    <a:p>
                      <a:pPr algn="l"/>
                      <a:r>
                        <a:rPr sz="890" i="0" b="1">
                          <a:solidFill>
                            <a:srgbClr val="1B1B1B"/>
                          </a:solidFill>
                          <a:latin typeface="Arial"/>
                        </a:rPr>
                        <a:t>Kích hoạt xả năng lượng hãm Q2/Q4, kẹp áp </a:t>
                      </a:r>
                      <a:r>
                        <a:rPr sz="890" i="0" b="1">
                          <a:solidFill>
                            <a:srgbClr val="0E2841"/>
                          </a:solidFill>
                          <a:latin typeface="Arial"/>
                        </a:rPr>
                        <a:t>U_dc(t) &lt; 780 V DC</a:t>
                      </a:r>
                      <a:r>
                        <a:rPr sz="890" i="0" b="1">
                          <a:solidFill>
                            <a:srgbClr val="1B1B1B"/>
                          </a:solidFill>
                          <a:latin typeface="Arial"/>
                        </a:rPr>
                        <a:t> (ngưỡng Trip 800V).</a:t>
                      </a:r>
                    </a:p>
                  </a:txBody>
                  <a:tcPr anchor="ctr" marT="19050" marB="19050" marL="50800" marR="50800">
                    <a:solidFill>
                      <a:srgbClr val="FEF9E7"/>
                    </a:solidFill>
                  </a:tcPr>
                </a:tc>
                <a:tc>
                  <a:txBody>
                    <a:bodyPr wrap="square"/>
                    <a:lstStyle/>
                    <a:p>
                      <a:pPr algn="l"/>
                      <a:r>
                        <a:rPr sz="890" i="0" b="1">
                          <a:solidFill>
                            <a:srgbClr val="0E2841"/>
                          </a:solidFill>
                          <a:latin typeface="Arial"/>
                        </a:rPr>
                        <a:t>SRS-FUNC-06</a:t>
                      </a:r>
                      <a:r>
                        <a:rPr sz="890" i="0" b="1">
                          <a:solidFill>
                            <a:srgbClr val="1B1B1B"/>
                          </a:solidFill>
                          <a:latin typeface="Arial"/>
                        </a:rPr>
                        <a:t>, RRM-04</a:t>
                      </a:r>
                    </a:p>
                  </a:txBody>
                  <a:tcPr anchor="ctr" marT="19050" marB="19050" marL="50800" marR="50800">
                    <a:solidFill>
                      <a:srgbClr val="FEF9E7"/>
                    </a:solidFill>
                  </a:tcPr>
                </a:tc>
              </a:tr>
              <a:tr h="437467">
                <a:tc>
                  <a:txBody>
                    <a:bodyPr wrap="square"/>
                    <a:lstStyle/>
                    <a:p>
                      <a:pPr algn="ctr"/>
                      <a:r>
                        <a:rPr sz="890" i="0" b="1">
                          <a:solidFill>
                            <a:srgbClr val="0E2841"/>
                          </a:solidFill>
                          <a:latin typeface="Arial"/>
                        </a:rPr>
                        <a:t>IF-06</a:t>
                      </a:r>
                    </a:p>
                  </a:txBody>
                  <a:tcPr anchor="ctr" marT="19050" marB="19050" marL="50800" marR="50800">
                    <a:solidFill>
                      <a:srgbClr val="FEF9E7"/>
                    </a:solidFill>
                  </a:tcPr>
                </a:tc>
                <a:tc>
                  <a:txBody>
                    <a:bodyPr wrap="square"/>
                    <a:lstStyle/>
                    <a:p>
                      <a:pPr algn="l"/>
                      <a:r>
                        <a:rPr sz="890" i="0" b="1">
                          <a:solidFill>
                            <a:srgbClr val="0E2841"/>
                          </a:solidFill>
                          <a:latin typeface="Arial"/>
                        </a:rPr>
                        <a:t>[E/I]</a:t>
                      </a:r>
                    </a:p>
                  </a:txBody>
                  <a:tcPr anchor="ctr" marT="19050" marB="19050" marL="50800" marR="50800">
                    <a:solidFill>
                      <a:srgbClr val="FEF9E7"/>
                    </a:solidFill>
                  </a:tcPr>
                </a:tc>
                <a:tc>
                  <a:txBody>
                    <a:bodyPr wrap="square"/>
                    <a:lstStyle/>
                    <a:p>
                      <a:pPr algn="l"/>
                      <a:r>
                        <a:rPr sz="890" i="0" b="1">
                          <a:solidFill>
                            <a:srgbClr val="1B1B1B"/>
                          </a:solidFill>
                          <a:latin typeface="Arial"/>
                        </a:rPr>
                        <a:t>Logic Biến tần → Phanh từ</a:t>
                      </a:r>
                    </a:p>
                  </a:txBody>
                  <a:tcPr anchor="ctr" marT="19050" marB="19050" marL="50800" marR="50800">
                    <a:solidFill>
                      <a:srgbClr val="FEF9E7"/>
                    </a:solidFill>
                  </a:tcPr>
                </a:tc>
                <a:tc>
                  <a:txBody>
                    <a:bodyPr wrap="square"/>
                    <a:lstStyle/>
                    <a:p>
                      <a:pPr algn="l"/>
                      <a:r>
                        <a:rPr sz="890" i="0" b="1">
                          <a:solidFill>
                            <a:srgbClr val="1B1B1B"/>
                          </a:solidFill>
                          <a:latin typeface="Arial"/>
                        </a:rPr>
                        <a:t>Chỉ mở phanh khi đã dựng từ thông &amp; </a:t>
                      </a:r>
                      <a:r>
                        <a:rPr sz="890" i="0" b="1">
                          <a:solidFill>
                            <a:srgbClr val="196B24"/>
                          </a:solidFill>
                          <a:latin typeface="Arial"/>
                        </a:rPr>
                        <a:t>M_hold ∈ [100%; 150%] M_đm</a:t>
                      </a:r>
                      <a:r>
                        <a:rPr sz="890" i="0" b="1">
                          <a:solidFill>
                            <a:srgbClr val="1B1B1B"/>
                          </a:solidFill>
                          <a:latin typeface="Arial"/>
                        </a:rPr>
                        <a:t> tại </a:t>
                      </a:r>
                      <a:r>
                        <a:rPr sz="890" i="0" b="1">
                          <a:solidFill>
                            <a:srgbClr val="0E2841"/>
                          </a:solidFill>
                          <a:latin typeface="Arial"/>
                        </a:rPr>
                        <a:t>0 rpm</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SRS-FUNC-04</a:t>
                      </a:r>
                      <a:r>
                        <a:rPr sz="890" i="0" b="1">
                          <a:solidFill>
                            <a:srgbClr val="1B1B1B"/>
                          </a:solidFill>
                          <a:latin typeface="Arial"/>
                        </a:rPr>
                        <a:t>, RRM-03</a:t>
                      </a:r>
                    </a:p>
                  </a:txBody>
                  <a:tcPr anchor="ctr" marT="19050" marB="19050" marL="50800" marR="50800">
                    <a:solidFill>
                      <a:srgbClr val="FEF9E7"/>
                    </a:solidFill>
                  </a:tcPr>
                </a:tc>
              </a:tr>
              <a:tr h="437467">
                <a:tc>
                  <a:txBody>
                    <a:bodyPr wrap="square"/>
                    <a:lstStyle/>
                    <a:p>
                      <a:pPr algn="ctr"/>
                      <a:r>
                        <a:rPr sz="890" i="0" b="1">
                          <a:solidFill>
                            <a:srgbClr val="0E2841"/>
                          </a:solidFill>
                          <a:latin typeface="Arial"/>
                        </a:rPr>
                        <a:t>IF-07</a:t>
                      </a:r>
                    </a:p>
                  </a:txBody>
                  <a:tcPr anchor="ctr" marT="19050" marB="19050" marL="50800" marR="50800">
                    <a:solidFill>
                      <a:srgbClr val="FFFFFF"/>
                    </a:solidFill>
                  </a:tcPr>
                </a:tc>
                <a:tc>
                  <a:txBody>
                    <a:bodyPr wrap="square"/>
                    <a:lstStyle/>
                    <a:p>
                      <a:pPr algn="l"/>
                      <a:r>
                        <a:rPr sz="890" i="0" b="1">
                          <a:solidFill>
                            <a:srgbClr val="0E2841"/>
                          </a:solidFill>
                          <a:latin typeface="Arial"/>
                        </a:rPr>
                        <a:t>[I]</a:t>
                      </a:r>
                    </a:p>
                  </a:txBody>
                  <a:tcPr anchor="ctr" marT="19050" marB="19050" marL="50800" marR="50800">
                    <a:solidFill>
                      <a:srgbClr val="FFFFFF"/>
                    </a:solidFill>
                  </a:tcPr>
                </a:tc>
                <a:tc>
                  <a:txBody>
                    <a:bodyPr wrap="square"/>
                    <a:lstStyle/>
                    <a:p>
                      <a:pPr algn="l"/>
                      <a:r>
                        <a:rPr sz="890" i="0" b="0">
                          <a:solidFill>
                            <a:srgbClr val="1B1B1B"/>
                          </a:solidFill>
                          <a:latin typeface="Arial"/>
                        </a:rPr>
                        <a:t>Encoder → Biến tần FOC</a:t>
                      </a:r>
                    </a:p>
                  </a:txBody>
                  <a:tcPr anchor="ctr" marT="19050" marB="19050" marL="50800" marR="50800">
                    <a:solidFill>
                      <a:srgbClr val="FFFFFF"/>
                    </a:solidFill>
                  </a:tcPr>
                </a:tc>
                <a:tc>
                  <a:txBody>
                    <a:bodyPr wrap="square"/>
                    <a:lstStyle/>
                    <a:p>
                      <a:pPr algn="l"/>
                      <a:r>
                        <a:rPr sz="890" i="0" b="0">
                          <a:solidFill>
                            <a:srgbClr val="1B1B1B"/>
                          </a:solidFill>
                          <a:latin typeface="Arial"/>
                        </a:rPr>
                        <a:t>Xung vuông tốc độ thực </a:t>
                      </a:r>
                      <a:r>
                        <a:rPr sz="890" i="0" b="1">
                          <a:solidFill>
                            <a:srgbClr val="0E2841"/>
                          </a:solidFill>
                          <a:latin typeface="Arial"/>
                        </a:rPr>
                        <a:t>ω_m(t)</a:t>
                      </a:r>
                      <a:r>
                        <a:rPr sz="890" i="0" b="0">
                          <a:solidFill>
                            <a:srgbClr val="1B1B1B"/>
                          </a:solidFill>
                          <a:latin typeface="Arial"/>
                        </a:rPr>
                        <a:t> phục vụ vòng kín </a:t>
                      </a:r>
                      <a:r>
                        <a:rPr sz="890" i="0" b="1">
                          <a:solidFill>
                            <a:srgbClr val="0E2841"/>
                          </a:solidFill>
                          <a:latin typeface="Arial"/>
                        </a:rPr>
                        <a:t>RFOC</a:t>
                      </a:r>
                      <a:r>
                        <a:rPr sz="890" i="0" b="0">
                          <a:solidFill>
                            <a:srgbClr val="1B1B1B"/>
                          </a:solidFill>
                          <a:latin typeface="Arial"/>
                        </a:rPr>
                        <a:t> và dải điều chỉnh </a:t>
                      </a:r>
                      <a:r>
                        <a:rPr sz="890" i="0" b="1">
                          <a:solidFill>
                            <a:srgbClr val="0E2841"/>
                          </a:solidFill>
                          <a:latin typeface="Arial"/>
                        </a:rPr>
                        <a:t>D ≥ 10:1</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1">
                          <a:solidFill>
                            <a:srgbClr val="0E2841"/>
                          </a:solidFill>
                          <a:latin typeface="Arial"/>
                        </a:rPr>
                        <a:t>SRS-FUNC-05</a:t>
                      </a:r>
                      <a:r>
                        <a:rPr sz="890" i="0" b="0">
                          <a:solidFill>
                            <a:srgbClr val="1B1B1B"/>
                          </a:solidFill>
                          <a:latin typeface="Arial"/>
                        </a:rPr>
                        <a:t>, GAP-02</a:t>
                      </a:r>
                    </a:p>
                  </a:txBody>
                  <a:tcPr anchor="ctr" marT="19050" marB="19050" marL="50800" marR="50800">
                    <a:solidFill>
                      <a:srgbClr val="FFFFFF"/>
                    </a:solidFill>
                  </a:tcPr>
                </a:tc>
              </a:tr>
              <a:tr h="437467">
                <a:tc>
                  <a:txBody>
                    <a:bodyPr wrap="square"/>
                    <a:lstStyle/>
                    <a:p>
                      <a:pPr algn="ctr"/>
                      <a:r>
                        <a:rPr sz="890" i="0" b="1">
                          <a:solidFill>
                            <a:srgbClr val="0E2841"/>
                          </a:solidFill>
                          <a:latin typeface="Arial"/>
                        </a:rPr>
                        <a:t>IF-08</a:t>
                      </a:r>
                    </a:p>
                  </a:txBody>
                  <a:tcPr anchor="ctr" marT="19050" marB="19050" marL="50800" marR="50800">
                    <a:solidFill>
                      <a:srgbClr val="F8F9FA"/>
                    </a:solidFill>
                  </a:tcPr>
                </a:tc>
                <a:tc>
                  <a:txBody>
                    <a:bodyPr wrap="square"/>
                    <a:lstStyle/>
                    <a:p>
                      <a:pPr algn="l"/>
                      <a:r>
                        <a:rPr sz="890" i="0" b="1">
                          <a:solidFill>
                            <a:srgbClr val="0E2841"/>
                          </a:solidFill>
                          <a:latin typeface="Arial"/>
                        </a:rPr>
                        <a:t>[P]</a:t>
                      </a:r>
                    </a:p>
                  </a:txBody>
                  <a:tcPr anchor="ctr" marT="19050" marB="19050" marL="50800" marR="50800">
                    <a:solidFill>
                      <a:srgbClr val="F8F9FA"/>
                    </a:solidFill>
                  </a:tcPr>
                </a:tc>
                <a:tc>
                  <a:txBody>
                    <a:bodyPr wrap="square"/>
                    <a:lstStyle/>
                    <a:p>
                      <a:pPr algn="l"/>
                      <a:r>
                        <a:rPr sz="890" i="0" b="0">
                          <a:solidFill>
                            <a:srgbClr val="1B1B1B"/>
                          </a:solidFill>
                          <a:latin typeface="Arial"/>
                        </a:rPr>
                        <a:t>Động cơ → Hộp số → Bánh xe</a:t>
                      </a:r>
                    </a:p>
                  </a:txBody>
                  <a:tcPr anchor="ctr" marT="19050" marB="19050" marL="50800" marR="50800">
                    <a:solidFill>
                      <a:srgbClr val="F8F9FA"/>
                    </a:solidFill>
                  </a:tcPr>
                </a:tc>
                <a:tc>
                  <a:txBody>
                    <a:bodyPr wrap="square"/>
                    <a:lstStyle/>
                    <a:p>
                      <a:pPr algn="l"/>
                      <a:r>
                        <a:rPr sz="890" i="0" b="0">
                          <a:solidFill>
                            <a:srgbClr val="1B1B1B"/>
                          </a:solidFill>
                          <a:latin typeface="Arial"/>
                        </a:rPr>
                        <a:t>Truyền mô-men qua hộp giảm tốc (</a:t>
                      </a:r>
                      <a:r>
                        <a:rPr sz="890" i="0" b="1">
                          <a:solidFill>
                            <a:srgbClr val="0E2841"/>
                          </a:solidFill>
                          <a:latin typeface="Arial"/>
                        </a:rPr>
                        <a:t>η = 0.96</a:t>
                      </a:r>
                      <a:r>
                        <a:rPr sz="890" i="0" b="0">
                          <a:solidFill>
                            <a:srgbClr val="1B1B1B"/>
                          </a:solidFill>
                          <a:latin typeface="Arial"/>
                        </a:rPr>
                        <a:t>) tới bánh xe (</a:t>
                      </a:r>
                      <a:r>
                        <a:rPr sz="890" i="0" b="1">
                          <a:solidFill>
                            <a:srgbClr val="0E2841"/>
                          </a:solidFill>
                          <a:latin typeface="Arial"/>
                        </a:rPr>
                        <a:t>d = 0.25 m</a:t>
                      </a:r>
                      <a:r>
                        <a:rPr sz="890" i="0" b="0">
                          <a:solidFill>
                            <a:srgbClr val="1B1B1B"/>
                          </a:solidFill>
                          <a:latin typeface="Arial"/>
                        </a:rPr>
                        <a:t>), lực kéo </a:t>
                      </a:r>
                      <a:r>
                        <a:rPr sz="890" i="0" b="1">
                          <a:solidFill>
                            <a:srgbClr val="0E2841"/>
                          </a:solidFill>
                          <a:latin typeface="Arial"/>
                        </a:rPr>
                        <a:t>F_k</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1">
                          <a:solidFill>
                            <a:srgbClr val="0E2841"/>
                          </a:solidFill>
                          <a:latin typeface="Arial"/>
                        </a:rPr>
                        <a:t>SRS-PERM-04, 07</a:t>
                      </a:r>
                    </a:p>
                  </a:txBody>
                  <a:tcPr anchor="ctr" marT="19050" marB="19050" marL="50800" marR="50800">
                    <a:solidFill>
                      <a:srgbClr val="F8F9FA"/>
                    </a:solidFill>
                  </a:tcPr>
                </a:tc>
              </a:tr>
              <a:tr h="437467">
                <a:tc>
                  <a:txBody>
                    <a:bodyPr wrap="square"/>
                    <a:lstStyle/>
                    <a:p>
                      <a:pPr algn="ctr"/>
                      <a:r>
                        <a:rPr sz="890" i="0" b="1">
                          <a:solidFill>
                            <a:srgbClr val="0E2841"/>
                          </a:solidFill>
                          <a:latin typeface="Arial"/>
                        </a:rPr>
                        <a:t>IF-09</a:t>
                      </a:r>
                    </a:p>
                  </a:txBody>
                  <a:tcPr anchor="ctr" marT="19050" marB="19050" marL="50800" marR="50800">
                    <a:solidFill>
                      <a:srgbClr val="FEF9E7"/>
                    </a:solidFill>
                  </a:tcPr>
                </a:tc>
                <a:tc>
                  <a:txBody>
                    <a:bodyPr wrap="square"/>
                    <a:lstStyle/>
                    <a:p>
                      <a:pPr algn="l"/>
                      <a:r>
                        <a:rPr sz="890" i="0" b="1">
                          <a:solidFill>
                            <a:srgbClr val="0E2841"/>
                          </a:solidFill>
                          <a:latin typeface="Arial"/>
                        </a:rPr>
                        <a:t>[P]</a:t>
                      </a:r>
                    </a:p>
                  </a:txBody>
                  <a:tcPr anchor="ctr" marT="19050" marB="19050" marL="50800" marR="50800">
                    <a:solidFill>
                      <a:srgbClr val="FEF9E7"/>
                    </a:solidFill>
                  </a:tcPr>
                </a:tc>
                <a:tc>
                  <a:txBody>
                    <a:bodyPr wrap="square"/>
                    <a:lstStyle/>
                    <a:p>
                      <a:pPr algn="l"/>
                      <a:r>
                        <a:rPr sz="890" i="0" b="1">
                          <a:solidFill>
                            <a:srgbClr val="1B1B1B"/>
                          </a:solidFill>
                          <a:latin typeface="Arial"/>
                        </a:rPr>
                        <a:t>Bánh xe ↔ Ray cầu trục</a:t>
                      </a:r>
                    </a:p>
                  </a:txBody>
                  <a:tcPr anchor="ctr" marT="19050" marB="19050" marL="50800" marR="50800">
                    <a:solidFill>
                      <a:srgbClr val="FEF9E7"/>
                    </a:solidFill>
                  </a:tcPr>
                </a:tc>
                <a:tc>
                  <a:txBody>
                    <a:bodyPr wrap="square"/>
                    <a:lstStyle/>
                    <a:p>
                      <a:pPr algn="l"/>
                      <a:r>
                        <a:rPr sz="890" i="0" b="1">
                          <a:solidFill>
                            <a:srgbClr val="1B1B1B"/>
                          </a:solidFill>
                          <a:latin typeface="Arial"/>
                        </a:rPr>
                        <a:t>Phản lực pháp tuyến </a:t>
                      </a:r>
                      <a:r>
                        <a:rPr sz="890" i="0" b="1">
                          <a:solidFill>
                            <a:srgbClr val="0E2841"/>
                          </a:solidFill>
                          <a:latin typeface="Arial"/>
                        </a:rPr>
                        <a:t>M_Σ·g</a:t>
                      </a:r>
                      <a:r>
                        <a:rPr sz="890" i="0" b="1">
                          <a:solidFill>
                            <a:srgbClr val="1B1B1B"/>
                          </a:solidFill>
                          <a:latin typeface="Arial"/>
                        </a:rPr>
                        <a:t>, lực cản lăn </a:t>
                      </a:r>
                      <a:r>
                        <a:rPr sz="890" i="0" b="1">
                          <a:solidFill>
                            <a:srgbClr val="0E2841"/>
                          </a:solidFill>
                          <a:latin typeface="Arial"/>
                        </a:rPr>
                        <a:t>F_c ≤ 27,947 N</a:t>
                      </a:r>
                      <a:r>
                        <a:rPr sz="890" i="0" b="1">
                          <a:solidFill>
                            <a:srgbClr val="1B1B1B"/>
                          </a:solidFill>
                          <a:latin typeface="Arial"/>
                        </a:rPr>
                        <a:t>, hệ số bám </a:t>
                      </a:r>
                      <a:r>
                        <a:rPr sz="890" i="0" b="1">
                          <a:solidFill>
                            <a:srgbClr val="0E2841"/>
                          </a:solidFill>
                          <a:latin typeface="Arial"/>
                        </a:rPr>
                        <a:t>μ = 0.20</a:t>
                      </a:r>
                      <a:r>
                        <a:rPr sz="890" i="0" b="1">
                          <a:solidFill>
                            <a:srgbClr val="1B1B1B"/>
                          </a:solidFill>
                          <a:latin typeface="Arial"/>
                        </a:rPr>
                        <a:t> (</a:t>
                      </a:r>
                      <a:r>
                        <a:rPr sz="890" i="0" b="1">
                          <a:solidFill>
                            <a:srgbClr val="0E2841"/>
                          </a:solidFill>
                          <a:latin typeface="Arial"/>
                        </a:rPr>
                        <a:t>k_bám=3.92</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SRS-PERM-03</a:t>
                      </a:r>
                      <a:r>
                        <a:rPr sz="890" i="0" b="1">
                          <a:solidFill>
                            <a:srgbClr val="1B1B1B"/>
                          </a:solidFill>
                          <a:latin typeface="Arial"/>
                        </a:rPr>
                        <a:t>, RRM-01</a:t>
                      </a:r>
                    </a:p>
                  </a:txBody>
                  <a:tcPr anchor="ctr" marT="19050" marB="19050" marL="50800" marR="50800">
                    <a:solidFill>
                      <a:srgbClr val="FEF9E7"/>
                    </a:solidFill>
                  </a:tcPr>
                </a:tc>
              </a:tr>
              <a:tr h="437467">
                <a:tc>
                  <a:txBody>
                    <a:bodyPr wrap="square"/>
                    <a:lstStyle/>
                    <a:p>
                      <a:pPr algn="ctr"/>
                      <a:r>
                        <a:rPr sz="890" i="0" b="1">
                          <a:solidFill>
                            <a:srgbClr val="0E2841"/>
                          </a:solidFill>
                          <a:latin typeface="Arial"/>
                        </a:rPr>
                        <a:t>IF-10</a:t>
                      </a:r>
                    </a:p>
                  </a:txBody>
                  <a:tcPr anchor="ctr" marT="19050" marB="19050" marL="50800" marR="50800">
                    <a:solidFill>
                      <a:srgbClr val="FEF9E7"/>
                    </a:solidFill>
                  </a:tcPr>
                </a:tc>
                <a:tc>
                  <a:txBody>
                    <a:bodyPr wrap="square"/>
                    <a:lstStyle/>
                    <a:p>
                      <a:pPr algn="l"/>
                      <a:r>
                        <a:rPr sz="890" i="0" b="1">
                          <a:solidFill>
                            <a:srgbClr val="0E2841"/>
                          </a:solidFill>
                          <a:latin typeface="Arial"/>
                        </a:rPr>
                        <a:t>[P]</a:t>
                      </a:r>
                    </a:p>
                  </a:txBody>
                  <a:tcPr anchor="ctr" marT="19050" marB="19050" marL="50800" marR="50800">
                    <a:solidFill>
                      <a:srgbClr val="FEF9E7"/>
                    </a:solidFill>
                  </a:tcPr>
                </a:tc>
                <a:tc>
                  <a:txBody>
                    <a:bodyPr wrap="square"/>
                    <a:lstStyle/>
                    <a:p>
                      <a:pPr algn="l"/>
                      <a:r>
                        <a:rPr sz="890" i="0" b="1">
                          <a:solidFill>
                            <a:srgbClr val="1B1B1B"/>
                          </a:solidFill>
                          <a:latin typeface="Arial"/>
                        </a:rPr>
                        <a:t>Cáp treo tải (h=12m) ↔ Xe con</a:t>
                      </a:r>
                    </a:p>
                  </a:txBody>
                  <a:tcPr anchor="ctr" marT="19050" marB="19050" marL="50800" marR="50800">
                    <a:solidFill>
                      <a:srgbClr val="FEF9E7"/>
                    </a:solidFill>
                  </a:tcPr>
                </a:tc>
                <a:tc>
                  <a:txBody>
                    <a:bodyPr wrap="square"/>
                    <a:lstStyle/>
                    <a:p>
                      <a:pPr algn="l"/>
                      <a:r>
                        <a:rPr sz="890" i="0" b="1">
                          <a:solidFill>
                            <a:srgbClr val="1B1B1B"/>
                          </a:solidFill>
                          <a:latin typeface="Arial"/>
                        </a:rPr>
                        <a:t>Tải </a:t>
                      </a:r>
                      <a:r>
                        <a:rPr sz="890" i="0" b="1">
                          <a:solidFill>
                            <a:srgbClr val="0E2841"/>
                          </a:solidFill>
                          <a:latin typeface="Arial"/>
                        </a:rPr>
                        <a:t>Q=12,222 kg + m_nh=222 kg</a:t>
                      </a:r>
                      <a:r>
                        <a:rPr sz="890" i="0" b="1">
                          <a:solidFill>
                            <a:srgbClr val="1B1B1B"/>
                          </a:solidFill>
                          <a:latin typeface="Arial"/>
                        </a:rPr>
                        <a:t> lắc tần số </a:t>
                      </a:r>
                      <a:r>
                        <a:rPr sz="890" i="0" b="1">
                          <a:solidFill>
                            <a:srgbClr val="0E2841"/>
                          </a:solidFill>
                          <a:latin typeface="Arial"/>
                        </a:rPr>
                        <a:t>ω_p = 0.904 rad/s</a:t>
                      </a:r>
                      <a:r>
                        <a:rPr sz="890" i="0" b="1">
                          <a:solidFill>
                            <a:srgbClr val="1B1B1B"/>
                          </a:solidFill>
                          <a:latin typeface="Arial"/>
                        </a:rPr>
                        <a:t>, phản lực ngang </a:t>
                      </a:r>
                      <a:r>
                        <a:rPr sz="890" i="0" b="1">
                          <a:solidFill>
                            <a:srgbClr val="0E2841"/>
                          </a:solidFill>
                          <a:latin typeface="Arial"/>
                        </a:rPr>
                        <a:t>m_tải·g·θ(t)</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SRS-PERM-03</a:t>
                      </a:r>
                      <a:r>
                        <a:rPr sz="890" i="0" b="1">
                          <a:solidFill>
                            <a:srgbClr val="1B1B1B"/>
                          </a:solidFill>
                          <a:latin typeface="Arial"/>
                        </a:rPr>
                        <a:t>, RRM-02</a:t>
                      </a:r>
                    </a:p>
                  </a:txBody>
                  <a:tcPr anchor="ctr" marT="19050" marB="19050" marL="50800" marR="50800">
                    <a:solidFill>
                      <a:srgbClr val="FEF9E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4. SƠ ĐỒ THÔNG SỐ HỆ THỐNG (SYSTEM P-DIAGRAM — SOW-1.1)</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Thiết kế bền vững (</a:t>
            </a:r>
            <a:r>
              <a:rPr sz="1350" i="0" b="1">
                <a:solidFill>
                  <a:srgbClr val="0E2841"/>
                </a:solidFill>
                <a:latin typeface="Arial"/>
              </a:rPr>
              <a:t>Robust Design</a:t>
            </a:r>
            <a:r>
              <a:rPr sz="1350" i="0" b="1">
                <a:solidFill>
                  <a:srgbClr val="C00000"/>
                </a:solidFill>
                <a:latin typeface="Arial"/>
              </a:rPr>
              <a:t>): Dùng </a:t>
            </a:r>
            <a:r>
              <a:rPr sz="1350" i="0" b="1">
                <a:solidFill>
                  <a:srgbClr val="0E2841"/>
                </a:solidFill>
                <a:latin typeface="Arial"/>
              </a:rPr>
              <a:t>6 Tham số (CF1..CF6)</a:t>
            </a:r>
            <a:r>
              <a:rPr sz="1350" i="0" b="1">
                <a:solidFill>
                  <a:srgbClr val="C00000"/>
                </a:solidFill>
                <a:latin typeface="Arial"/>
              </a:rPr>
              <a:t> kháng </a:t>
            </a:r>
            <a:r>
              <a:rPr sz="1350" i="0" b="1">
                <a:solidFill>
                  <a:srgbClr val="0E2841"/>
                </a:solidFill>
                <a:latin typeface="Arial"/>
              </a:rPr>
              <a:t>4 Nhiễu (N1..N4)</a:t>
            </a:r>
            <a:r>
              <a:rPr sz="1350" i="0" b="1">
                <a:solidFill>
                  <a:srgbClr val="C00000"/>
                </a:solidFill>
                <a:latin typeface="Arial"/>
              </a:rPr>
              <a:t>, chặn </a:t>
            </a:r>
            <a:r>
              <a:rPr sz="1350" i="0" b="1">
                <a:solidFill>
                  <a:srgbClr val="0E2841"/>
                </a:solidFill>
                <a:latin typeface="Arial"/>
              </a:rPr>
              <a:t>4 Lỗi (E1..E4)</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SOW-1.1 — System Parameter Diagram (P-Diagram) | Slide 05 / 16</a:t>
            </a:r>
          </a:p>
        </p:txBody>
      </p:sp>
      <p:sp>
        <p:nvSpPr>
          <p:cNvPr id="5" name="Rounded Rectangle 4"/>
          <p:cNvSpPr/>
          <p:nvPr/>
        </p:nvSpPr>
        <p:spPr>
          <a:xfrm>
            <a:off x="310896" y="1234440"/>
            <a:ext cx="4709160" cy="4937760"/>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rs_s09_sh3.png"/>
          <p:cNvPicPr>
            <a:picLocks noChangeAspect="1"/>
          </p:cNvPicPr>
          <p:nvPr/>
        </p:nvPicPr>
        <p:blipFill>
          <a:blip r:embed="rId3"/>
          <a:stretch>
            <a:fillRect/>
          </a:stretch>
        </p:blipFill>
        <p:spPr>
          <a:xfrm>
            <a:off x="356616" y="2147399"/>
            <a:ext cx="4617720" cy="2823805"/>
          </a:xfrm>
          <a:prstGeom prst="rect">
            <a:avLst/>
          </a:prstGeom>
        </p:spPr>
      </p:pic>
      <p:sp>
        <p:nvSpPr>
          <p:cNvPr id="7" name="TextBox 6"/>
          <p:cNvSpPr txBox="1"/>
          <p:nvPr/>
        </p:nvSpPr>
        <p:spPr>
          <a:xfrm>
            <a:off x="347472" y="5861304"/>
            <a:ext cx="4636008" cy="292608"/>
          </a:xfrm>
          <a:prstGeom prst="rect">
            <a:avLst/>
          </a:prstGeom>
          <a:noFill/>
        </p:spPr>
        <p:txBody>
          <a:bodyPr wrap="square" anchor="ctr" lIns="12700" tIns="12700" rIns="12700" bIns="12700">
            <a:spAutoFit/>
          </a:bodyPr>
          <a:lstStyle/>
          <a:p>
            <a:pPr algn="ctr"/>
            <a:r>
              <a:rPr sz="880" b="1" i="1">
                <a:solidFill>
                  <a:srgbClr val="0E2841"/>
                </a:solidFill>
                <a:latin typeface="Arial"/>
              </a:rPr>
              <a:t>Hình 1.2: Sơ đồ P-Diagram 5 Khối (Draw.io 07 — 300 DPI, Đề x = 2)</a:t>
            </a:r>
          </a:p>
        </p:txBody>
      </p:sp>
      <p:graphicFrame>
        <p:nvGraphicFramePr>
          <p:cNvPr id="8" name="Table 7"/>
          <p:cNvGraphicFramePr>
            <a:graphicFrameLocks noGrp="1"/>
          </p:cNvGraphicFramePr>
          <p:nvPr/>
        </p:nvGraphicFramePr>
        <p:xfrm>
          <a:off x="5138928" y="1234440"/>
          <a:ext cx="6739128" cy="4469583"/>
        </p:xfrm>
        <a:graphic>
          <a:graphicData uri="http://schemas.openxmlformats.org/drawingml/2006/table">
            <a:tbl>
              <a:tblPr firstRow="1" bandRow="1">
                <a:tableStyleId>{5C22544A-7EE6-4342-B048-85BDC9FD1C3A}</a:tableStyleId>
              </a:tblPr>
              <a:tblGrid>
                <a:gridCol w="1298448"/>
                <a:gridCol w="4160520"/>
                <a:gridCol w="1280160"/>
              </a:tblGrid>
              <a:tr h="292608">
                <a:tc>
                  <a:txBody>
                    <a:bodyPr wrap="square"/>
                    <a:lstStyle/>
                    <a:p>
                      <a:pPr algn="ctr"/>
                      <a:r>
                        <a:rPr sz="1000" b="1">
                          <a:solidFill>
                            <a:srgbClr val="FFFFFF"/>
                          </a:solidFill>
                          <a:latin typeface="Arial"/>
                        </a:rPr>
                        <a:t>Khối P-Diagram</a:t>
                      </a:r>
                    </a:p>
                  </a:txBody>
                  <a:tcPr anchor="ctr" marT="19050" marB="19050" marL="50800" marR="50800">
                    <a:solidFill>
                      <a:srgbClr val="0E2841"/>
                    </a:solidFill>
                  </a:tcPr>
                </a:tc>
                <a:tc>
                  <a:txBody>
                    <a:bodyPr wrap="square"/>
                    <a:lstStyle/>
                    <a:p>
                      <a:pPr algn="ctr"/>
                      <a:r>
                        <a:rPr sz="1000" b="1">
                          <a:solidFill>
                            <a:srgbClr val="FFFFFF"/>
                          </a:solidFill>
                          <a:latin typeface="Arial"/>
                        </a:rPr>
                        <a:t>Mã &amp; Nội dung Kỹ thuật Định lượng (Đề x = 2)</a:t>
                      </a:r>
                    </a:p>
                  </a:txBody>
                  <a:tcPr anchor="ctr" marT="19050" marB="19050" marL="50800" marR="50800">
                    <a:solidFill>
                      <a:srgbClr val="0E2841"/>
                    </a:solidFill>
                  </a:tcPr>
                </a:tc>
                <a:tc>
                  <a:txBody>
                    <a:bodyPr wrap="square"/>
                    <a:lstStyle/>
                    <a:p>
                      <a:pPr algn="ctr"/>
                      <a:r>
                        <a:rPr sz="1000" b="1">
                          <a:solidFill>
                            <a:srgbClr val="FFFFFF"/>
                          </a:solidFill>
                          <a:latin typeface="Arial"/>
                        </a:rPr>
                        <a:t>Liên kết SRS &amp; RRM</a:t>
                      </a:r>
                    </a:p>
                  </a:txBody>
                  <a:tcPr anchor="ctr" marT="19050" marB="19050" marL="50800" marR="50800">
                    <a:solidFill>
                      <a:srgbClr val="0E2841"/>
                    </a:solidFill>
                  </a:tcPr>
                </a:tc>
              </a:tr>
              <a:tr h="835395">
                <a:tc>
                  <a:txBody>
                    <a:bodyPr wrap="square"/>
                    <a:lstStyle/>
                    <a:p>
                      <a:pPr algn="ctr"/>
                      <a:r>
                        <a:rPr sz="860" i="0" b="1">
                          <a:solidFill>
                            <a:srgbClr val="0E2841"/>
                          </a:solidFill>
                          <a:latin typeface="Arial"/>
                        </a:rPr>
                        <a:t>1. Tín hiệu vào</a:t>
                      </a:r>
                      <a:r>
                        <a:rPr sz="860" i="0" b="1">
                          <a:solidFill>
                            <a:srgbClr val="0E2841"/>
                          </a:solidFill>
                          <a:latin typeface="Arial"/>
                        </a:rPr>
                        <a:t>
(Input Signals)</a:t>
                      </a:r>
                    </a:p>
                  </a:txBody>
                  <a:tcPr anchor="ctr" marT="19050" marB="19050" marL="50800" marR="50800">
                    <a:solidFill>
                      <a:srgbClr val="FFFFFF"/>
                    </a:solidFill>
                  </a:tcPr>
                </a:tc>
                <a:tc>
                  <a:txBody>
                    <a:bodyPr wrap="square"/>
                    <a:lstStyle/>
                    <a:p>
                      <a:pPr algn="l"/>
                      <a:r>
                        <a:rPr sz="860" i="0" b="0">
                          <a:solidFill>
                            <a:srgbClr val="1B1B1B"/>
                          </a:solidFill>
                          <a:latin typeface="Arial"/>
                        </a:rPr>
                        <a:t>• Lệnh tốc độ </a:t>
                      </a:r>
                      <a:r>
                        <a:rPr sz="860" i="0" b="1">
                          <a:solidFill>
                            <a:srgbClr val="0E2841"/>
                          </a:solidFill>
                          <a:latin typeface="Arial"/>
                        </a:rPr>
                        <a:t>v_ref(t)</a:t>
                      </a:r>
                      <a:r>
                        <a:rPr sz="860" i="0" b="0">
                          <a:solidFill>
                            <a:srgbClr val="1B1B1B"/>
                          </a:solidFill>
                          <a:latin typeface="Arial"/>
                        </a:rPr>
                        <a:t>: Chạy chính </a:t>
                      </a:r>
                      <a:r>
                        <a:rPr sz="860" i="0" b="1">
                          <a:solidFill>
                            <a:srgbClr val="0E2841"/>
                          </a:solidFill>
                          <a:latin typeface="Arial"/>
                        </a:rPr>
                        <a:t>±0.12 m/s</a:t>
                      </a:r>
                      <a:r>
                        <a:rPr sz="860" i="0" b="0">
                          <a:solidFill>
                            <a:srgbClr val="1B1B1B"/>
                          </a:solidFill>
                          <a:latin typeface="Arial"/>
                        </a:rPr>
                        <a:t>, Bò </a:t>
                      </a:r>
                      <a:r>
                        <a:rPr sz="860" i="0" b="1">
                          <a:solidFill>
                            <a:srgbClr val="0E2841"/>
                          </a:solidFill>
                          <a:latin typeface="Arial"/>
                        </a:rPr>
                        <a:t>Creep ±0.030÷0.036 m/s</a:t>
                      </a:r>
                      <a:r>
                        <a:rPr sz="860" i="0" b="0">
                          <a:solidFill>
                            <a:srgbClr val="1B1B1B"/>
                          </a:solidFill>
                          <a:latin typeface="Arial"/>
                        </a:rPr>
                        <a:t>.
• Lệnh </a:t>
                      </a:r>
                      <a:r>
                        <a:rPr sz="860" i="0" b="1">
                          <a:solidFill>
                            <a:srgbClr val="0E2841"/>
                          </a:solidFill>
                          <a:latin typeface="Arial"/>
                        </a:rPr>
                        <a:t>Dừng chủ động (Stop Cat. 1)</a:t>
                      </a:r>
                      <a:r>
                        <a:rPr sz="860" i="0" b="0">
                          <a:solidFill>
                            <a:srgbClr val="1B1B1B"/>
                          </a:solidFill>
                          <a:latin typeface="Arial"/>
                        </a:rPr>
                        <a:t> và </a:t>
                      </a:r>
                      <a:r>
                        <a:rPr sz="860" i="0" b="1">
                          <a:solidFill>
                            <a:srgbClr val="0E2841"/>
                          </a:solidFill>
                          <a:latin typeface="Arial"/>
                        </a:rPr>
                        <a:t>Khóa liên động đảo chiều tại v = 0</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1">
                          <a:solidFill>
                            <a:srgbClr val="0E2841"/>
                          </a:solidFill>
                          <a:latin typeface="Arial"/>
                        </a:rPr>
                        <a:t>SRS-FUNC-01..03</a:t>
                      </a:r>
                      <a:r>
                        <a:rPr sz="860" i="0" b="0">
                          <a:solidFill>
                            <a:srgbClr val="1B1B1B"/>
                          </a:solidFill>
                          <a:latin typeface="Arial"/>
                        </a:rPr>
                        <a:t>
</a:t>
                      </a:r>
                      <a:r>
                        <a:rPr sz="860" i="0" b="1">
                          <a:solidFill>
                            <a:srgbClr val="0E2841"/>
                          </a:solidFill>
                          <a:latin typeface="Arial"/>
                        </a:rPr>
                        <a:t>SRS-PERM-01..02</a:t>
                      </a:r>
                    </a:p>
                  </a:txBody>
                  <a:tcPr anchor="ctr" marT="19050" marB="19050" marL="50800" marR="50800">
                    <a:solidFill>
                      <a:srgbClr val="FFFFFF"/>
                    </a:solidFill>
                  </a:tcPr>
                </a:tc>
              </a:tr>
              <a:tr h="835395">
                <a:tc>
                  <a:txBody>
                    <a:bodyPr wrap="square"/>
                    <a:lstStyle/>
                    <a:p>
                      <a:pPr algn="ctr"/>
                      <a:r>
                        <a:rPr sz="860" i="0" b="1">
                          <a:solidFill>
                            <a:srgbClr val="0E2841"/>
                          </a:solidFill>
                          <a:latin typeface="Arial"/>
                        </a:rPr>
                        <a:t>2. Nhiễu ngoại sinh</a:t>
                      </a:r>
                      <a:r>
                        <a:rPr sz="860" i="0" b="1">
                          <a:solidFill>
                            <a:srgbClr val="C00000"/>
                          </a:solidFill>
                          <a:latin typeface="Arial"/>
                        </a:rPr>
                        <a:t>
(</a:t>
                      </a:r>
                      <a:r>
                        <a:rPr sz="860" i="0" b="1">
                          <a:solidFill>
                            <a:srgbClr val="0E2841"/>
                          </a:solidFill>
                          <a:latin typeface="Arial"/>
                        </a:rPr>
                        <a:t>N1 ÷ N4</a:t>
                      </a:r>
                      <a:r>
                        <a:rPr sz="860" i="0" b="1">
                          <a:solidFill>
                            <a:srgbClr val="C00000"/>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N1 (Tải):</a:t>
                      </a:r>
                      <a:r>
                        <a:rPr sz="860" i="0" b="1">
                          <a:solidFill>
                            <a:srgbClr val="1B1B1B"/>
                          </a:solidFill>
                          <a:latin typeface="Arial"/>
                        </a:rPr>
                        <a:t> Đổi </a:t>
                      </a:r>
                      <a:r>
                        <a:rPr sz="860" i="0" b="1">
                          <a:solidFill>
                            <a:srgbClr val="0E2841"/>
                          </a:solidFill>
                          <a:latin typeface="Arial"/>
                        </a:rPr>
                        <a:t>7.04×</a:t>
                      </a:r>
                      <a:r>
                        <a:rPr sz="860" i="0" b="1">
                          <a:solidFill>
                            <a:srgbClr val="1B1B1B"/>
                          </a:solidFill>
                          <a:latin typeface="Arial"/>
                        </a:rPr>
                        <a:t> (</a:t>
                      </a:r>
                      <a:r>
                        <a:rPr sz="860" i="0" b="1">
                          <a:solidFill>
                            <a:srgbClr val="0E2841"/>
                          </a:solidFill>
                          <a:latin typeface="Arial"/>
                        </a:rPr>
                        <a:t>2,022 → 14,244 kg</a:t>
                      </a:r>
                      <a:r>
                        <a:rPr sz="860" i="0" b="1">
                          <a:solidFill>
                            <a:srgbClr val="1B1B1B"/>
                          </a:solidFill>
                          <a:latin typeface="Arial"/>
                        </a:rPr>
                        <a:t>); cáp </a:t>
                      </a:r>
                      <a:r>
                        <a:rPr sz="860" i="0" b="1">
                          <a:solidFill>
                            <a:srgbClr val="0E2841"/>
                          </a:solidFill>
                          <a:latin typeface="Arial"/>
                        </a:rPr>
                        <a:t>h=12m</a:t>
                      </a:r>
                      <a:r>
                        <a:rPr sz="860" i="0" b="1">
                          <a:solidFill>
                            <a:srgbClr val="1B1B1B"/>
                          </a:solidFill>
                          <a:latin typeface="Arial"/>
                        </a:rPr>
                        <a:t> lắc (</a:t>
                      </a:r>
                      <a:r>
                        <a:rPr sz="860" i="0" b="1">
                          <a:solidFill>
                            <a:srgbClr val="0E2841"/>
                          </a:solidFill>
                          <a:latin typeface="Arial"/>
                        </a:rPr>
                        <a:t>ω_p=0.904 rad/s</a:t>
                      </a:r>
                      <a:r>
                        <a:rPr sz="860" i="0" b="1">
                          <a:solidFill>
                            <a:srgbClr val="1B1B1B"/>
                          </a:solidFill>
                          <a:latin typeface="Arial"/>
                        </a:rPr>
                        <a:t>).
• </a:t>
                      </a:r>
                      <a:r>
                        <a:rPr sz="860" i="0" b="1">
                          <a:solidFill>
                            <a:srgbClr val="0E2841"/>
                          </a:solidFill>
                          <a:latin typeface="Arial"/>
                        </a:rPr>
                        <a:t>N2 (Lưới):</a:t>
                      </a:r>
                      <a:r>
                        <a:rPr sz="860" i="0" b="1">
                          <a:solidFill>
                            <a:srgbClr val="1B1B1B"/>
                          </a:solidFill>
                          <a:latin typeface="Arial"/>
                        </a:rPr>
                        <a:t> </a:t>
                      </a:r>
                      <a:r>
                        <a:rPr sz="860" i="0" b="1">
                          <a:solidFill>
                            <a:srgbClr val="0E2841"/>
                          </a:solidFill>
                          <a:latin typeface="Arial"/>
                        </a:rPr>
                        <a:t>380V±10% (342÷418V)</a:t>
                      </a:r>
                      <a:r>
                        <a:rPr sz="860" i="0" b="1">
                          <a:solidFill>
                            <a:srgbClr val="1B1B1B"/>
                          </a:solidFill>
                          <a:latin typeface="Arial"/>
                        </a:rPr>
                        <a:t> | </a:t>
                      </a:r>
                      <a:r>
                        <a:rPr sz="860" i="0" b="1">
                          <a:solidFill>
                            <a:srgbClr val="0E2841"/>
                          </a:solidFill>
                          <a:latin typeface="Arial"/>
                        </a:rPr>
                        <a:t>N3 (Ray):</a:t>
                      </a:r>
                      <a:r>
                        <a:rPr sz="860" i="0" b="1">
                          <a:solidFill>
                            <a:srgbClr val="1B1B1B"/>
                          </a:solidFill>
                          <a:latin typeface="Arial"/>
                        </a:rPr>
                        <a:t> </a:t>
                      </a:r>
                      <a:r>
                        <a:rPr sz="860" i="0" b="1">
                          <a:solidFill>
                            <a:srgbClr val="0E2841"/>
                          </a:solidFill>
                          <a:latin typeface="Arial"/>
                        </a:rPr>
                        <a:t>μ=0.20</a:t>
                      </a:r>
                      <a:r>
                        <a:rPr sz="860" i="0" b="1">
                          <a:solidFill>
                            <a:srgbClr val="1B1B1B"/>
                          </a:solidFill>
                          <a:latin typeface="Arial"/>
                        </a:rPr>
                        <a:t>, </a:t>
                      </a:r>
                      <a:r>
                        <a:rPr sz="860" i="0" b="1">
                          <a:solidFill>
                            <a:srgbClr val="0E2841"/>
                          </a:solidFill>
                          <a:latin typeface="Arial"/>
                        </a:rPr>
                        <a:t>F_c = 3.97÷27.95 kN</a:t>
                      </a:r>
                      <a:r>
                        <a:rPr sz="860" i="0" b="1">
                          <a:solidFill>
                            <a:srgbClr val="1B1B1B"/>
                          </a:solidFill>
                          <a:latin typeface="Arial"/>
                        </a:rPr>
                        <a:t>.
• </a:t>
                      </a:r>
                      <a:r>
                        <a:rPr sz="860" i="0" b="1">
                          <a:solidFill>
                            <a:srgbClr val="0E2841"/>
                          </a:solidFill>
                          <a:latin typeface="Arial"/>
                        </a:rPr>
                        <a:t>N4 (Nhiệt):</a:t>
                      </a:r>
                      <a:r>
                        <a:rPr sz="860" i="0" b="1">
                          <a:solidFill>
                            <a:srgbClr val="1B1B1B"/>
                          </a:solidFill>
                          <a:latin typeface="Arial"/>
                        </a:rPr>
                        <a:t> Môi trường </a:t>
                      </a:r>
                      <a:r>
                        <a:rPr sz="860" i="0" b="1">
                          <a:solidFill>
                            <a:srgbClr val="0E2841"/>
                          </a:solidFill>
                          <a:latin typeface="Arial"/>
                        </a:rPr>
                        <a:t>40°C</a:t>
                      </a:r>
                      <a:r>
                        <a:rPr sz="860" i="0" b="1">
                          <a:solidFill>
                            <a:srgbClr val="1B1B1B"/>
                          </a:solidFill>
                          <a:latin typeface="Arial"/>
                        </a:rPr>
                        <a:t>, chế độ </a:t>
                      </a:r>
                      <a:r>
                        <a:rPr sz="860" i="0" b="1">
                          <a:solidFill>
                            <a:srgbClr val="0E2841"/>
                          </a:solidFill>
                          <a:latin typeface="Arial"/>
                        </a:rPr>
                        <a:t>S3-40%</a:t>
                      </a:r>
                      <a:r>
                        <a:rPr sz="860" i="0" b="1">
                          <a:solidFill>
                            <a:srgbClr val="1B1B1B"/>
                          </a:solidFill>
                          <a:latin typeface="Arial"/>
                        </a:rPr>
                        <a:t> làm tăng </a:t>
                      </a:r>
                      <a:r>
                        <a:rPr sz="860" i="0" b="1">
                          <a:solidFill>
                            <a:srgbClr val="0E2841"/>
                          </a:solidFill>
                          <a:latin typeface="Arial"/>
                        </a:rPr>
                        <a:t>R_r (+20÷25%)</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C00000"/>
                          </a:solidFill>
                          <a:latin typeface="Arial"/>
                        </a:rPr>
                        <a:t>RRM-01..04</a:t>
                      </a:r>
                      <a:r>
                        <a:rPr sz="860" i="0" b="1">
                          <a:solidFill>
                            <a:srgbClr val="1B1B1B"/>
                          </a:solidFill>
                          <a:latin typeface="Arial"/>
                        </a:rPr>
                        <a:t>
(Trượt, Lắc, Trôi,
Quá áp DC)</a:t>
                      </a:r>
                    </a:p>
                  </a:txBody>
                  <a:tcPr anchor="ctr" marT="19050" marB="19050" marL="50800" marR="50800">
                    <a:solidFill>
                      <a:srgbClr val="FEF9E7"/>
                    </a:solidFill>
                  </a:tcPr>
                </a:tc>
              </a:tr>
              <a:tr h="835395">
                <a:tc>
                  <a:txBody>
                    <a:bodyPr wrap="square"/>
                    <a:lstStyle/>
                    <a:p>
                      <a:pPr algn="ctr"/>
                      <a:r>
                        <a:rPr sz="860" i="0" b="1">
                          <a:solidFill>
                            <a:srgbClr val="0E2841"/>
                          </a:solidFill>
                          <a:latin typeface="Arial"/>
                        </a:rPr>
                        <a:t>3. Tham số ĐK</a:t>
                      </a:r>
                      <a:r>
                        <a:rPr sz="860" i="0" b="1">
                          <a:solidFill>
                            <a:srgbClr val="C00000"/>
                          </a:solidFill>
                          <a:latin typeface="Arial"/>
                        </a:rPr>
                        <a:t>
(</a:t>
                      </a:r>
                      <a:r>
                        <a:rPr sz="860" i="0" b="1">
                          <a:solidFill>
                            <a:srgbClr val="0E2841"/>
                          </a:solidFill>
                          <a:latin typeface="Arial"/>
                        </a:rPr>
                        <a:t>CF1 ÷ CF6</a:t>
                      </a:r>
                      <a:r>
                        <a:rPr sz="860" i="0" b="1">
                          <a:solidFill>
                            <a:srgbClr val="C00000"/>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CF1:</a:t>
                      </a:r>
                      <a:r>
                        <a:rPr sz="860" i="0" b="1">
                          <a:solidFill>
                            <a:srgbClr val="1B1B1B"/>
                          </a:solidFill>
                          <a:latin typeface="Arial"/>
                        </a:rPr>
                        <a:t> </a:t>
                      </a:r>
                      <a:r>
                        <a:rPr sz="860" i="0" b="1">
                          <a:solidFill>
                            <a:srgbClr val="0E2841"/>
                          </a:solidFill>
                          <a:latin typeface="Arial"/>
                        </a:rPr>
                        <a:t>S-Curve 7 pha</a:t>
                      </a:r>
                      <a:r>
                        <a:rPr sz="860" i="0" b="1">
                          <a:solidFill>
                            <a:srgbClr val="1B1B1B"/>
                          </a:solidFill>
                          <a:latin typeface="Arial"/>
                        </a:rPr>
                        <a:t> (</a:t>
                      </a:r>
                      <a:r>
                        <a:rPr sz="860" i="0" b="1">
                          <a:solidFill>
                            <a:srgbClr val="0E2841"/>
                          </a:solidFill>
                          <a:latin typeface="Arial"/>
                        </a:rPr>
                        <a:t>|a|≤0.5</a:t>
                      </a:r>
                      <a:r>
                        <a:rPr sz="860" i="0" b="1">
                          <a:solidFill>
                            <a:srgbClr val="1B1B1B"/>
                          </a:solidFill>
                          <a:latin typeface="Arial"/>
                        </a:rPr>
                        <a:t>, </a:t>
                      </a:r>
                      <a:r>
                        <a:rPr sz="860" i="0" b="1">
                          <a:solidFill>
                            <a:srgbClr val="0E2841"/>
                          </a:solidFill>
                          <a:latin typeface="Arial"/>
                        </a:rPr>
                        <a:t>|ρ|≤2.0</a:t>
                      </a:r>
                      <a:r>
                        <a:rPr sz="860" i="0" b="1">
                          <a:solidFill>
                            <a:srgbClr val="1B1B1B"/>
                          </a:solidFill>
                          <a:latin typeface="Arial"/>
                        </a:rPr>
                        <a:t>, </a:t>
                      </a:r>
                      <a:r>
                        <a:rPr sz="860" i="0" b="1">
                          <a:solidFill>
                            <a:srgbClr val="0E2841"/>
                          </a:solidFill>
                          <a:latin typeface="Arial"/>
                        </a:rPr>
                        <a:t>t_j≥0.25s</a:t>
                      </a:r>
                      <a:r>
                        <a:rPr sz="860" i="0" b="1">
                          <a:solidFill>
                            <a:srgbClr val="1B1B1B"/>
                          </a:solidFill>
                          <a:latin typeface="Arial"/>
                        </a:rPr>
                        <a:t>) | </a:t>
                      </a:r>
                      <a:r>
                        <a:rPr sz="860" i="0" b="1">
                          <a:solidFill>
                            <a:srgbClr val="0E2841"/>
                          </a:solidFill>
                          <a:latin typeface="Arial"/>
                        </a:rPr>
                        <a:t>CF2:</a:t>
                      </a:r>
                      <a:r>
                        <a:rPr sz="860" i="0" b="1">
                          <a:solidFill>
                            <a:srgbClr val="1B1B1B"/>
                          </a:solidFill>
                          <a:latin typeface="Arial"/>
                        </a:rPr>
                        <a:t> </a:t>
                      </a:r>
                      <a:r>
                        <a:rPr sz="860" i="0" b="1">
                          <a:solidFill>
                            <a:srgbClr val="0E2841"/>
                          </a:solidFill>
                          <a:latin typeface="Arial"/>
                        </a:rPr>
                        <a:t>RFOC + Encoder</a:t>
                      </a:r>
                      <a:r>
                        <a:rPr sz="860" i="0" b="1">
                          <a:solidFill>
                            <a:srgbClr val="1B1B1B"/>
                          </a:solidFill>
                          <a:latin typeface="Arial"/>
                        </a:rPr>
                        <a:t>.
• </a:t>
                      </a:r>
                      <a:r>
                        <a:rPr sz="860" i="0" b="1">
                          <a:solidFill>
                            <a:srgbClr val="0E2841"/>
                          </a:solidFill>
                          <a:latin typeface="Arial"/>
                        </a:rPr>
                        <a:t>CF3:</a:t>
                      </a:r>
                      <a:r>
                        <a:rPr sz="860" i="0" b="1">
                          <a:solidFill>
                            <a:srgbClr val="1B1B1B"/>
                          </a:solidFill>
                          <a:latin typeface="Arial"/>
                        </a:rPr>
                        <a:t> Giữ </a:t>
                      </a:r>
                      <a:r>
                        <a:rPr sz="860" i="0" b="1">
                          <a:solidFill>
                            <a:srgbClr val="0E2841"/>
                          </a:solidFill>
                          <a:latin typeface="Arial"/>
                        </a:rPr>
                        <a:t>100÷150% M_đm tại 0 rpm</a:t>
                      </a:r>
                      <a:r>
                        <a:rPr sz="860" i="0" b="1">
                          <a:solidFill>
                            <a:srgbClr val="1B1B1B"/>
                          </a:solidFill>
                          <a:latin typeface="Arial"/>
                        </a:rPr>
                        <a:t> | </a:t>
                      </a:r>
                      <a:r>
                        <a:rPr sz="860" i="0" b="1">
                          <a:solidFill>
                            <a:srgbClr val="0E2841"/>
                          </a:solidFill>
                          <a:latin typeface="Arial"/>
                        </a:rPr>
                        <a:t>CF4:</a:t>
                      </a:r>
                      <a:r>
                        <a:rPr sz="860" i="0" b="1">
                          <a:solidFill>
                            <a:srgbClr val="1B1B1B"/>
                          </a:solidFill>
                          <a:latin typeface="Arial"/>
                        </a:rPr>
                        <a:t> </a:t>
                      </a:r>
                      <a:r>
                        <a:rPr sz="860" i="0" b="1">
                          <a:solidFill>
                            <a:srgbClr val="0E2841"/>
                          </a:solidFill>
                          <a:latin typeface="Arial"/>
                        </a:rPr>
                        <a:t>Chopper + R_h (&lt; 780V DC)</a:t>
                      </a:r>
                      <a:r>
                        <a:rPr sz="860" i="0" b="1">
                          <a:solidFill>
                            <a:srgbClr val="1B1B1B"/>
                          </a:solidFill>
                          <a:latin typeface="Arial"/>
                        </a:rPr>
                        <a:t>.
• </a:t>
                      </a:r>
                      <a:r>
                        <a:rPr sz="860" i="0" b="1">
                          <a:solidFill>
                            <a:srgbClr val="0E2841"/>
                          </a:solidFill>
                          <a:latin typeface="Arial"/>
                        </a:rPr>
                        <a:t>CF5 &amp; CF6:</a:t>
                      </a:r>
                      <a:r>
                        <a:rPr sz="860" i="0" b="1">
                          <a:solidFill>
                            <a:srgbClr val="1B1B1B"/>
                          </a:solidFill>
                          <a:latin typeface="Arial"/>
                        </a:rPr>
                        <a:t> Dự trữ nhiệt </a:t>
                      </a:r>
                      <a:r>
                        <a:rPr sz="860" i="0" b="1">
                          <a:solidFill>
                            <a:srgbClr val="0E2841"/>
                          </a:solidFill>
                          <a:latin typeface="Arial"/>
                        </a:rPr>
                        <a:t>k_dt ∈ [1.20; 1.50]</a:t>
                      </a:r>
                      <a:r>
                        <a:rPr sz="860" i="0" b="1">
                          <a:solidFill>
                            <a:srgbClr val="1B1B1B"/>
                          </a:solidFill>
                          <a:latin typeface="Arial"/>
                        </a:rPr>
                        <a:t>, </a:t>
                      </a:r>
                      <a:r>
                        <a:rPr sz="860" i="0" b="1">
                          <a:solidFill>
                            <a:srgbClr val="0E2841"/>
                          </a:solidFill>
                          <a:latin typeface="Arial"/>
                        </a:rPr>
                        <a:t>λ_max ≥ 2.0</a:t>
                      </a:r>
                      <a:r>
                        <a:rPr sz="860" i="0" b="1">
                          <a:solidFill>
                            <a:srgbClr val="1B1B1B"/>
                          </a:solidFill>
                          <a:latin typeface="Arial"/>
                        </a:rPr>
                        <a:t>, hộp số </a:t>
                      </a:r>
                      <a:r>
                        <a:rPr sz="860" i="0" b="1">
                          <a:solidFill>
                            <a:srgbClr val="0E2841"/>
                          </a:solidFill>
                          <a:latin typeface="Arial"/>
                        </a:rPr>
                        <a:t>η = 0.96</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0E2841"/>
                          </a:solidFill>
                          <a:latin typeface="Arial"/>
                        </a:rPr>
                        <a:t>SRS-FUNC-04..07</a:t>
                      </a:r>
                      <a:r>
                        <a:rPr sz="860" i="0" b="1">
                          <a:solidFill>
                            <a:srgbClr val="1B1B1B"/>
                          </a:solidFill>
                          <a:latin typeface="Arial"/>
                        </a:rPr>
                        <a:t>
</a:t>
                      </a:r>
                      <a:r>
                        <a:rPr sz="860" i="0" b="1">
                          <a:solidFill>
                            <a:srgbClr val="0E2841"/>
                          </a:solidFill>
                          <a:latin typeface="Arial"/>
                        </a:rPr>
                        <a:t>SRS-PERM-03..07</a:t>
                      </a:r>
                    </a:p>
                  </a:txBody>
                  <a:tcPr anchor="ctr" marT="19050" marB="19050" marL="50800" marR="50800">
                    <a:solidFill>
                      <a:srgbClr val="FEF9E7"/>
                    </a:solidFill>
                  </a:tcPr>
                </a:tc>
              </a:tr>
              <a:tr h="835395">
                <a:tc>
                  <a:txBody>
                    <a:bodyPr wrap="square"/>
                    <a:lstStyle/>
                    <a:p>
                      <a:pPr algn="ctr"/>
                      <a:r>
                        <a:rPr sz="860" i="0" b="1">
                          <a:solidFill>
                            <a:srgbClr val="0E2841"/>
                          </a:solidFill>
                          <a:latin typeface="Arial"/>
                        </a:rPr>
                        <a:t>4. Đầu ra Lý tưởng</a:t>
                      </a:r>
                      <a:r>
                        <a:rPr sz="860" i="0" b="1">
                          <a:solidFill>
                            <a:srgbClr val="0E2841"/>
                          </a:solidFill>
                          <a:latin typeface="Arial"/>
                        </a:rPr>
                        <a:t>
(Ideal Response)</a:t>
                      </a:r>
                    </a:p>
                  </a:txBody>
                  <a:tcPr anchor="ctr" marT="19050" marB="19050" marL="50800" marR="50800">
                    <a:solidFill>
                      <a:srgbClr val="F8F9FA"/>
                    </a:solidFill>
                  </a:tcPr>
                </a:tc>
                <a:tc>
                  <a:txBody>
                    <a:bodyPr wrap="square"/>
                    <a:lstStyle/>
                    <a:p>
                      <a:pPr algn="l"/>
                      <a:r>
                        <a:rPr sz="860" i="0" b="0">
                          <a:solidFill>
                            <a:srgbClr val="1B1B1B"/>
                          </a:solidFill>
                          <a:latin typeface="Arial"/>
                        </a:rPr>
                        <a:t>• Đạt </a:t>
                      </a:r>
                      <a:r>
                        <a:rPr sz="860" i="0" b="1">
                          <a:solidFill>
                            <a:srgbClr val="0E2841"/>
                          </a:solidFill>
                          <a:latin typeface="Arial"/>
                        </a:rPr>
                        <a:t>8 chỉ tiêu CTQ-01..08</a:t>
                      </a:r>
                      <a:r>
                        <a:rPr sz="860" i="0" b="0">
                          <a:solidFill>
                            <a:srgbClr val="1B1B1B"/>
                          </a:solidFill>
                          <a:latin typeface="Arial"/>
                        </a:rPr>
                        <a:t>: </a:t>
                      </a:r>
                      <a:r>
                        <a:rPr sz="860" i="0" b="1">
                          <a:solidFill>
                            <a:srgbClr val="0E2841"/>
                          </a:solidFill>
                          <a:latin typeface="Arial"/>
                        </a:rPr>
                        <a:t>e_xl ≤ 5%</a:t>
                      </a:r>
                      <a:r>
                        <a:rPr sz="860" i="0" b="0">
                          <a:solidFill>
                            <a:srgbClr val="1B1B1B"/>
                          </a:solidFill>
                          <a:latin typeface="Arial"/>
                        </a:rPr>
                        <a:t>, </a:t>
                      </a:r>
                      <a:r>
                        <a:rPr sz="860" i="0" b="1">
                          <a:solidFill>
                            <a:srgbClr val="0E2841"/>
                          </a:solidFill>
                          <a:latin typeface="Arial"/>
                        </a:rPr>
                        <a:t>M_p ≤ 10%</a:t>
                      </a:r>
                      <a:r>
                        <a:rPr sz="860" i="0" b="0">
                          <a:solidFill>
                            <a:srgbClr val="1B1B1B"/>
                          </a:solidFill>
                          <a:latin typeface="Arial"/>
                        </a:rPr>
                        <a:t>, </a:t>
                      </a:r>
                      <a:r>
                        <a:rPr sz="860" i="0" b="1">
                          <a:solidFill>
                            <a:srgbClr val="0E2841"/>
                          </a:solidFill>
                          <a:latin typeface="Arial"/>
                        </a:rPr>
                        <a:t>v_creep = 25÷30% v_max</a:t>
                      </a:r>
                      <a:r>
                        <a:rPr sz="860" i="0" b="0">
                          <a:solidFill>
                            <a:srgbClr val="1B1B1B"/>
                          </a:solidFill>
                          <a:latin typeface="Arial"/>
                        </a:rPr>
                        <a:t>, </a:t>
                      </a:r>
                      <a:r>
                        <a:rPr sz="860" i="0" b="1">
                          <a:solidFill>
                            <a:srgbClr val="0E2841"/>
                          </a:solidFill>
                          <a:latin typeface="Arial"/>
                        </a:rPr>
                        <a:t>|a| ≤ 0.50 m/s²</a:t>
                      </a:r>
                      <a:r>
                        <a:rPr sz="860" i="0" b="0">
                          <a:solidFill>
                            <a:srgbClr val="1B1B1B"/>
                          </a:solidFill>
                          <a:latin typeface="Arial"/>
                        </a:rPr>
                        <a:t>, </a:t>
                      </a:r>
                      <a:r>
                        <a:rPr sz="860" i="0" b="1">
                          <a:solidFill>
                            <a:srgbClr val="0E2841"/>
                          </a:solidFill>
                          <a:latin typeface="Arial"/>
                        </a:rPr>
                        <a:t>|ρ| ≤ 2.00 m/s³</a:t>
                      </a:r>
                      <a:r>
                        <a:rPr sz="860" i="0" b="0">
                          <a:solidFill>
                            <a:srgbClr val="1B1B1B"/>
                          </a:solidFill>
                          <a:latin typeface="Arial"/>
                        </a:rPr>
                        <a:t>, </a:t>
                      </a:r>
                      <a:r>
                        <a:rPr sz="860" i="0" b="1">
                          <a:solidFill>
                            <a:srgbClr val="0E2841"/>
                          </a:solidFill>
                          <a:latin typeface="Arial"/>
                        </a:rPr>
                        <a:t>0 mm trôi</a:t>
                      </a:r>
                      <a:r>
                        <a:rPr sz="860" i="0" b="0">
                          <a:solidFill>
                            <a:srgbClr val="1B1B1B"/>
                          </a:solidFill>
                          <a:latin typeface="Arial"/>
                        </a:rPr>
                        <a:t>, </a:t>
                      </a:r>
                      <a:r>
                        <a:rPr sz="860" i="0" b="1">
                          <a:solidFill>
                            <a:srgbClr val="0E2841"/>
                          </a:solidFill>
                          <a:latin typeface="Arial"/>
                        </a:rPr>
                        <a:t>U_dc &lt; 780V</a:t>
                      </a:r>
                      <a:r>
                        <a:rPr sz="860" i="0" b="0">
                          <a:solidFill>
                            <a:srgbClr val="1B1B1B"/>
                          </a:solidFill>
                          <a:latin typeface="Arial"/>
                        </a:rPr>
                        <a:t>, </a:t>
                      </a:r>
                      <a:r>
                        <a:rPr sz="860" i="0" b="1">
                          <a:solidFill>
                            <a:srgbClr val="0E2841"/>
                          </a:solidFill>
                          <a:latin typeface="Arial"/>
                        </a:rPr>
                        <a:t>P_đm ≥ k_dt·P_eq</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1">
                          <a:solidFill>
                            <a:srgbClr val="0E2841"/>
                          </a:solidFill>
                          <a:latin typeface="Arial"/>
                        </a:rPr>
                        <a:t>CTQ-01 ÷ CTQ-08</a:t>
                      </a:r>
                      <a:r>
                        <a:rPr sz="860" i="0" b="0">
                          <a:solidFill>
                            <a:srgbClr val="1B1B1B"/>
                          </a:solidFill>
                          <a:latin typeface="Arial"/>
                        </a:rPr>
                        <a:t>
(100% Đạt)</a:t>
                      </a:r>
                    </a:p>
                  </a:txBody>
                  <a:tcPr anchor="ctr" marT="19050" marB="19050" marL="50800" marR="50800">
                    <a:solidFill>
                      <a:srgbClr val="F8F9FA"/>
                    </a:solidFill>
                  </a:tcPr>
                </a:tc>
              </a:tr>
              <a:tr h="835395">
                <a:tc>
                  <a:txBody>
                    <a:bodyPr wrap="square"/>
                    <a:lstStyle/>
                    <a:p>
                      <a:pPr algn="ctr"/>
                      <a:r>
                        <a:rPr sz="860" i="0" b="1">
                          <a:solidFill>
                            <a:srgbClr val="0E2841"/>
                          </a:solidFill>
                          <a:latin typeface="Arial"/>
                        </a:rPr>
                        <a:t>5. Trạng thái Lỗi</a:t>
                      </a:r>
                      <a:r>
                        <a:rPr sz="860" i="0" b="1">
                          <a:solidFill>
                            <a:srgbClr val="C00000"/>
                          </a:solidFill>
                          <a:latin typeface="Arial"/>
                        </a:rPr>
                        <a:t>
(</a:t>
                      </a:r>
                      <a:r>
                        <a:rPr sz="860" i="0" b="1">
                          <a:solidFill>
                            <a:srgbClr val="C00000"/>
                          </a:solidFill>
                          <a:latin typeface="Arial"/>
                        </a:rPr>
                        <a:t>E1 ÷ E4</a:t>
                      </a:r>
                      <a:r>
                        <a:rPr sz="860" i="0" b="1">
                          <a:solidFill>
                            <a:srgbClr val="C00000"/>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E1:</a:t>
                      </a:r>
                      <a:r>
                        <a:rPr sz="860" i="0" b="1">
                          <a:solidFill>
                            <a:srgbClr val="1B1B1B"/>
                          </a:solidFill>
                          <a:latin typeface="Arial"/>
                        </a:rPr>
                        <a:t> Trôi/giật tải ở 0 rpm hoặc đảo chiều khi </a:t>
                      </a:r>
                      <a:r>
                        <a:rPr sz="860" i="0" b="1">
                          <a:solidFill>
                            <a:srgbClr val="0E2841"/>
                          </a:solidFill>
                          <a:latin typeface="Arial"/>
                        </a:rPr>
                        <a:t>v ≠ 0</a:t>
                      </a:r>
                      <a:r>
                        <a:rPr sz="860" i="0" b="1">
                          <a:solidFill>
                            <a:srgbClr val="1B1B1B"/>
                          </a:solidFill>
                          <a:latin typeface="Arial"/>
                        </a:rPr>
                        <a:t> | </a:t>
                      </a:r>
                      <a:r>
                        <a:rPr sz="860" i="0" b="1">
                          <a:solidFill>
                            <a:srgbClr val="C00000"/>
                          </a:solidFill>
                          <a:latin typeface="Arial"/>
                        </a:rPr>
                        <a:t>E2:</a:t>
                      </a:r>
                      <a:r>
                        <a:rPr sz="860" i="0" b="1">
                          <a:solidFill>
                            <a:srgbClr val="1B1B1B"/>
                          </a:solidFill>
                          <a:latin typeface="Arial"/>
                        </a:rPr>
                        <a:t> Lắc cáp (</a:t>
                      </a:r>
                      <a:r>
                        <a:rPr sz="860" i="0" b="1">
                          <a:solidFill>
                            <a:srgbClr val="0E2841"/>
                          </a:solidFill>
                          <a:latin typeface="Arial"/>
                        </a:rPr>
                        <a:t>θ &gt; 2.92°</a:t>
                      </a:r>
                      <a:r>
                        <a:rPr sz="860" i="0" b="1">
                          <a:solidFill>
                            <a:srgbClr val="1B1B1B"/>
                          </a:solidFill>
                          <a:latin typeface="Arial"/>
                        </a:rPr>
                        <a:t>) / trượt bánh.
• </a:t>
                      </a:r>
                      <a:r>
                        <a:rPr sz="860" i="0" b="1">
                          <a:solidFill>
                            <a:srgbClr val="C00000"/>
                          </a:solidFill>
                          <a:latin typeface="Arial"/>
                        </a:rPr>
                        <a:t>E3:</a:t>
                      </a:r>
                      <a:r>
                        <a:rPr sz="860" i="0" b="1">
                          <a:solidFill>
                            <a:srgbClr val="1B1B1B"/>
                          </a:solidFill>
                          <a:latin typeface="Arial"/>
                        </a:rPr>
                        <a:t> Quá áp </a:t>
                      </a:r>
                      <a:r>
                        <a:rPr sz="860" i="0" b="1">
                          <a:solidFill>
                            <a:srgbClr val="0E2841"/>
                          </a:solidFill>
                          <a:latin typeface="Arial"/>
                        </a:rPr>
                        <a:t>OV (&gt; 800V DC)</a:t>
                      </a:r>
                      <a:r>
                        <a:rPr sz="860" i="0" b="1">
                          <a:solidFill>
                            <a:srgbClr val="1B1B1B"/>
                          </a:solidFill>
                          <a:latin typeface="Arial"/>
                        </a:rPr>
                        <a:t> khi hãm | </a:t>
                      </a:r>
                      <a:r>
                        <a:rPr sz="860" i="0" b="1">
                          <a:solidFill>
                            <a:srgbClr val="C00000"/>
                          </a:solidFill>
                          <a:latin typeface="Arial"/>
                        </a:rPr>
                        <a:t>E4:</a:t>
                      </a:r>
                      <a:r>
                        <a:rPr sz="860" i="0" b="1">
                          <a:solidFill>
                            <a:srgbClr val="1B1B1B"/>
                          </a:solidFill>
                          <a:latin typeface="Arial"/>
                        </a:rPr>
                        <a:t> Quá nhiệt S3 hoặc sụt tốc khi áp </a:t>
                      </a:r>
                      <a:r>
                        <a:rPr sz="860" i="0" b="1">
                          <a:solidFill>
                            <a:srgbClr val="0E2841"/>
                          </a:solidFill>
                          <a:latin typeface="Arial"/>
                        </a:rPr>
                        <a:t>-10%</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Chặn bởi </a:t>
                      </a:r>
                      <a:r>
                        <a:rPr sz="860" i="0" b="1">
                          <a:solidFill>
                            <a:srgbClr val="0E2841"/>
                          </a:solidFill>
                          <a:latin typeface="Arial"/>
                        </a:rPr>
                        <a:t>5 CTS</a:t>
                      </a:r>
                      <a:r>
                        <a:rPr sz="860" i="0" b="1">
                          <a:solidFill>
                            <a:srgbClr val="1B1B1B"/>
                          </a:solidFill>
                          <a:latin typeface="Arial"/>
                        </a:rPr>
                        <a:t>
&amp; </a:t>
                      </a:r>
                      <a:r>
                        <a:rPr sz="860" i="0" b="1">
                          <a:solidFill>
                            <a:srgbClr val="0E2841"/>
                          </a:solidFill>
                          <a:latin typeface="Arial"/>
                        </a:rPr>
                        <a:t>14 DVP-L0</a:t>
                      </a:r>
                    </a:p>
                  </a:txBody>
                  <a:tcPr anchor="ctr" marT="19050" marB="19050" marL="50800" marR="50800">
                    <a:solidFill>
                      <a:srgbClr val="FDEDE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5. MA TRẬN 8 CHỈ TIÊU CHẤT LƯỢNG (CTQ) &amp; 5 AN TOÀN TỚI HẠN (CTS)</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Khóa chặt </a:t>
            </a:r>
            <a:r>
              <a:rPr sz="1350" i="0" b="1">
                <a:solidFill>
                  <a:srgbClr val="0E2841"/>
                </a:solidFill>
                <a:latin typeface="Arial"/>
              </a:rPr>
              <a:t>8 thông số CTQ</a:t>
            </a:r>
            <a:r>
              <a:rPr sz="1350" i="0" b="1">
                <a:solidFill>
                  <a:srgbClr val="C00000"/>
                </a:solidFill>
                <a:latin typeface="Arial"/>
              </a:rPr>
              <a:t> và tích hợp </a:t>
            </a:r>
            <a:r>
              <a:rPr sz="1350" i="0" b="1">
                <a:solidFill>
                  <a:srgbClr val="0E2841"/>
                </a:solidFill>
                <a:latin typeface="Arial"/>
              </a:rPr>
              <a:t>5 chỉ tiêu CTS</a:t>
            </a:r>
            <a:r>
              <a:rPr sz="1350" i="0" b="1">
                <a:solidFill>
                  <a:srgbClr val="C00000"/>
                </a:solidFill>
                <a:latin typeface="Arial"/>
              </a:rPr>
              <a:t> trực tiếp vào tập yêu cầu </a:t>
            </a:r>
            <a:r>
              <a:rPr sz="1350" i="0" b="1">
                <a:solidFill>
                  <a:srgbClr val="0E2841"/>
                </a:solidFill>
                <a:latin typeface="Arial"/>
              </a:rPr>
              <a:t>FUNC &amp; PERM</a:t>
            </a:r>
            <a:r>
              <a:rPr sz="1350" i="0" b="1">
                <a:solidFill>
                  <a:srgbClr val="C00000"/>
                </a:solidFill>
                <a:latin typeface="Arial"/>
              </a:rPr>
              <a:t> (Mục 1.2 &amp; 1.3 RTM)</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SOW-1.1 — 8 CTQ &amp; 5 CTS Matrix | Slide 06 / 16</a:t>
            </a:r>
          </a:p>
        </p:txBody>
      </p:sp>
      <p:graphicFrame>
        <p:nvGraphicFramePr>
          <p:cNvPr id="5" name="Table 4"/>
          <p:cNvGraphicFramePr>
            <a:graphicFrameLocks noGrp="1"/>
          </p:cNvGraphicFramePr>
          <p:nvPr/>
        </p:nvGraphicFramePr>
        <p:xfrm>
          <a:off x="310896" y="1234440"/>
          <a:ext cx="5989320" cy="4667280"/>
        </p:xfrm>
        <a:graphic>
          <a:graphicData uri="http://schemas.openxmlformats.org/drawingml/2006/table">
            <a:tbl>
              <a:tblPr firstRow="1" bandRow="1">
                <a:tableStyleId>{5C22544A-7EE6-4342-B048-85BDC9FD1C3A}</a:tableStyleId>
              </a:tblPr>
              <a:tblGrid>
                <a:gridCol w="822960"/>
                <a:gridCol w="2148840"/>
                <a:gridCol w="1965960"/>
                <a:gridCol w="1051560"/>
              </a:tblGrid>
              <a:tr h="292608">
                <a:tc>
                  <a:txBody>
                    <a:bodyPr wrap="square"/>
                    <a:lstStyle/>
                    <a:p>
                      <a:pPr algn="ctr"/>
                      <a:r>
                        <a:rPr sz="1030" b="1">
                          <a:solidFill>
                            <a:srgbClr val="FFFFFF"/>
                          </a:solidFill>
                          <a:latin typeface="Arial"/>
                        </a:rPr>
                        <a:t>Mã CTQ</a:t>
                      </a:r>
                    </a:p>
                  </a:txBody>
                  <a:tcPr anchor="ctr" marT="19050" marB="19050" marL="50800" marR="50800">
                    <a:solidFill>
                      <a:srgbClr val="0E2841"/>
                    </a:solidFill>
                  </a:tcPr>
                </a:tc>
                <a:tc>
                  <a:txBody>
                    <a:bodyPr wrap="square"/>
                    <a:lstStyle/>
                    <a:p>
                      <a:pPr algn="ctr"/>
                      <a:r>
                        <a:rPr sz="1030" b="1">
                          <a:solidFill>
                            <a:srgbClr val="FFFFFF"/>
                          </a:solidFill>
                          <a:latin typeface="Arial"/>
                        </a:rPr>
                        <a:t>Tên chỉ tiêu Chất lượng (CTQ)</a:t>
                      </a:r>
                    </a:p>
                  </a:txBody>
                  <a:tcPr anchor="ctr" marT="19050" marB="19050" marL="50800" marR="50800">
                    <a:solidFill>
                      <a:srgbClr val="0E2841"/>
                    </a:solidFill>
                  </a:tcPr>
                </a:tc>
                <a:tc>
                  <a:txBody>
                    <a:bodyPr wrap="square"/>
                    <a:lstStyle/>
                    <a:p>
                      <a:pPr algn="ctr"/>
                      <a:r>
                        <a:rPr sz="1030" b="1">
                          <a:solidFill>
                            <a:srgbClr val="FFFFFF"/>
                          </a:solidFill>
                          <a:latin typeface="Arial"/>
                        </a:rPr>
                        <a:t>Ngưỡng Mục tiêu &amp; Dung sai (x = 2)</a:t>
                      </a:r>
                    </a:p>
                  </a:txBody>
                  <a:tcPr anchor="ctr" marT="19050" marB="19050" marL="50800" marR="50800">
                    <a:solidFill>
                      <a:srgbClr val="0E2841"/>
                    </a:solidFill>
                  </a:tcPr>
                </a:tc>
                <a:tc>
                  <a:txBody>
                    <a:bodyPr wrap="square"/>
                    <a:lstStyle/>
                    <a:p>
                      <a:pPr algn="ctr"/>
                      <a:r>
                        <a:rPr sz="1030" b="1">
                          <a:solidFill>
                            <a:srgbClr val="FFFFFF"/>
                          </a:solidFill>
                          <a:latin typeface="Arial"/>
                        </a:rPr>
                        <a:t>Liên kết SRS</a:t>
                      </a:r>
                    </a:p>
                  </a:txBody>
                  <a:tcPr anchor="ctr" marT="19050" marB="19050" marL="50800" marR="50800">
                    <a:solidFill>
                      <a:srgbClr val="0E2841"/>
                    </a:solidFill>
                  </a:tcPr>
                </a:tc>
              </a:tr>
              <a:tr h="546834">
                <a:tc>
                  <a:txBody>
                    <a:bodyPr wrap="square"/>
                    <a:lstStyle/>
                    <a:p>
                      <a:pPr algn="ctr"/>
                      <a:r>
                        <a:rPr sz="920" i="0" b="1">
                          <a:solidFill>
                            <a:srgbClr val="0E2841"/>
                          </a:solidFill>
                          <a:latin typeface="Arial"/>
                        </a:rPr>
                        <a:t>CTQ-01</a:t>
                      </a:r>
                    </a:p>
                  </a:txBody>
                  <a:tcPr anchor="ctr" marT="19050" marB="19050" marL="50800" marR="50800">
                    <a:solidFill>
                      <a:srgbClr val="FEF9E7"/>
                    </a:solidFill>
                  </a:tcPr>
                </a:tc>
                <a:tc>
                  <a:txBody>
                    <a:bodyPr wrap="square"/>
                    <a:lstStyle/>
                    <a:p>
                      <a:pPr algn="l"/>
                      <a:r>
                        <a:rPr sz="920" i="0" b="1">
                          <a:solidFill>
                            <a:srgbClr val="1B1B1B"/>
                          </a:solidFill>
                          <a:latin typeface="Arial"/>
                        </a:rPr>
                        <a:t>Sai số tốc độ xác lập (</a:t>
                      </a:r>
                      <a:r>
                        <a:rPr sz="920" i="0" b="1">
                          <a:solidFill>
                            <a:srgbClr val="0E2841"/>
                          </a:solidFill>
                          <a:latin typeface="Arial"/>
                        </a:rPr>
                        <a:t>e_xl</a:t>
                      </a:r>
                      <a:r>
                        <a:rPr sz="920" i="0" b="1">
                          <a:solidFill>
                            <a:srgbClr val="1B1B1B"/>
                          </a:solidFill>
                          <a:latin typeface="Arial"/>
                        </a:rPr>
                        <a:t>) tại </a:t>
                      </a:r>
                      <a:r>
                        <a:rPr sz="920" i="0" b="1">
                          <a:solidFill>
                            <a:srgbClr val="0E2841"/>
                          </a:solidFill>
                          <a:latin typeface="Arial"/>
                        </a:rPr>
                        <a:t>v_max = 0.12 m/s</a:t>
                      </a:r>
                    </a:p>
                  </a:txBody>
                  <a:tcPr anchor="ctr" marT="19050" marB="19050" marL="50800" marR="50800">
                    <a:solidFill>
                      <a:srgbClr val="FEF9E7"/>
                    </a:solidFill>
                  </a:tcPr>
                </a:tc>
                <a:tc>
                  <a:txBody>
                    <a:bodyPr wrap="square"/>
                    <a:lstStyle/>
                    <a:p>
                      <a:pPr algn="l"/>
                      <a:r>
                        <a:rPr sz="920" i="0" b="1">
                          <a:solidFill>
                            <a:srgbClr val="0E2841"/>
                          </a:solidFill>
                          <a:latin typeface="Arial"/>
                        </a:rPr>
                        <a:t>e_xl ≤ 5.0%</a:t>
                      </a:r>
                      <a:r>
                        <a:rPr sz="920" i="0" b="1">
                          <a:solidFill>
                            <a:srgbClr val="1B1B1B"/>
                          </a:solidFill>
                          <a:latin typeface="Arial"/>
                        </a:rPr>
                        <a:t> (</a:t>
                      </a:r>
                      <a:r>
                        <a:rPr sz="920" i="0" b="1">
                          <a:solidFill>
                            <a:srgbClr val="0E2841"/>
                          </a:solidFill>
                          <a:latin typeface="Arial"/>
                        </a:rPr>
                        <a:t>v_xl ∈ [0.114; 0.126] m/s</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0E2841"/>
                          </a:solidFill>
                          <a:latin typeface="Arial"/>
                        </a:rPr>
                        <a:t>SRS-PERM-01</a:t>
                      </a:r>
                    </a:p>
                  </a:txBody>
                  <a:tcPr anchor="ctr" marT="19050" marB="19050" marL="50800" marR="50800">
                    <a:solidFill>
                      <a:srgbClr val="FEF9E7"/>
                    </a:solidFill>
                  </a:tcPr>
                </a:tc>
              </a:tr>
              <a:tr h="546834">
                <a:tc>
                  <a:txBody>
                    <a:bodyPr wrap="square"/>
                    <a:lstStyle/>
                    <a:p>
                      <a:pPr algn="ctr"/>
                      <a:r>
                        <a:rPr sz="920" i="0" b="1">
                          <a:solidFill>
                            <a:srgbClr val="0E2841"/>
                          </a:solidFill>
                          <a:latin typeface="Arial"/>
                        </a:rPr>
                        <a:t>CTQ-02</a:t>
                      </a:r>
                    </a:p>
                  </a:txBody>
                  <a:tcPr anchor="ctr" marT="19050" marB="19050" marL="50800" marR="50800">
                    <a:solidFill>
                      <a:srgbClr val="F8F9FA"/>
                    </a:solidFill>
                  </a:tcPr>
                </a:tc>
                <a:tc>
                  <a:txBody>
                    <a:bodyPr wrap="square"/>
                    <a:lstStyle/>
                    <a:p>
                      <a:pPr algn="l"/>
                      <a:r>
                        <a:rPr sz="920" i="0" b="0">
                          <a:solidFill>
                            <a:srgbClr val="1B1B1B"/>
                          </a:solidFill>
                          <a:latin typeface="Arial"/>
                        </a:rPr>
                        <a:t>Độ quá điều chỉnh tốc độ (</a:t>
                      </a:r>
                      <a:r>
                        <a:rPr sz="920" i="0" b="1">
                          <a:solidFill>
                            <a:srgbClr val="0E2841"/>
                          </a:solidFill>
                          <a:latin typeface="Arial"/>
                        </a:rPr>
                        <a:t>M_p</a:t>
                      </a:r>
                      <a:r>
                        <a:rPr sz="920" i="0" b="0">
                          <a:solidFill>
                            <a:srgbClr val="1B1B1B"/>
                          </a:solidFill>
                          <a:latin typeface="Arial"/>
                        </a:rPr>
                        <a:t>)</a:t>
                      </a:r>
                    </a:p>
                  </a:txBody>
                  <a:tcPr anchor="ctr" marT="19050" marB="19050" marL="50800" marR="50800">
                    <a:solidFill>
                      <a:srgbClr val="F8F9FA"/>
                    </a:solidFill>
                  </a:tcPr>
                </a:tc>
                <a:tc>
                  <a:txBody>
                    <a:bodyPr wrap="square"/>
                    <a:lstStyle/>
                    <a:p>
                      <a:pPr algn="l"/>
                      <a:r>
                        <a:rPr sz="920" i="0" b="1">
                          <a:solidFill>
                            <a:srgbClr val="0E2841"/>
                          </a:solidFill>
                          <a:latin typeface="Arial"/>
                        </a:rPr>
                        <a:t>M_p ≤ 10.0%</a:t>
                      </a:r>
                      <a:r>
                        <a:rPr sz="920" i="0" b="0">
                          <a:solidFill>
                            <a:srgbClr val="1B1B1B"/>
                          </a:solidFill>
                          <a:latin typeface="Arial"/>
                        </a:rPr>
                        <a:t> (</a:t>
                      </a:r>
                      <a:r>
                        <a:rPr sz="920" i="0" b="1">
                          <a:solidFill>
                            <a:srgbClr val="0E2841"/>
                          </a:solidFill>
                          <a:latin typeface="Arial"/>
                        </a:rPr>
                        <a:t>v_peak ≤ 0.132 m/s</a:t>
                      </a:r>
                      <a:r>
                        <a:rPr sz="920" i="0" b="0">
                          <a:solidFill>
                            <a:srgbClr val="1B1B1B"/>
                          </a:solidFill>
                          <a:latin typeface="Arial"/>
                        </a:rPr>
                        <a:t>)</a:t>
                      </a:r>
                    </a:p>
                  </a:txBody>
                  <a:tcPr anchor="ctr" marT="19050" marB="19050" marL="50800" marR="50800">
                    <a:solidFill>
                      <a:srgbClr val="F8F9FA"/>
                    </a:solidFill>
                  </a:tcPr>
                </a:tc>
                <a:tc>
                  <a:txBody>
                    <a:bodyPr wrap="square"/>
                    <a:lstStyle/>
                    <a:p>
                      <a:pPr algn="l"/>
                      <a:r>
                        <a:rPr sz="920" i="0" b="1">
                          <a:solidFill>
                            <a:srgbClr val="0E2841"/>
                          </a:solidFill>
                          <a:latin typeface="Arial"/>
                        </a:rPr>
                        <a:t>SRS-PERM-01</a:t>
                      </a:r>
                    </a:p>
                  </a:txBody>
                  <a:tcPr anchor="ctr" marT="19050" marB="19050" marL="50800" marR="50800">
                    <a:solidFill>
                      <a:srgbClr val="F8F9FA"/>
                    </a:solidFill>
                  </a:tcPr>
                </a:tc>
              </a:tr>
              <a:tr h="546834">
                <a:tc>
                  <a:txBody>
                    <a:bodyPr wrap="square"/>
                    <a:lstStyle/>
                    <a:p>
                      <a:pPr algn="ctr"/>
                      <a:r>
                        <a:rPr sz="920" i="0" b="1">
                          <a:solidFill>
                            <a:srgbClr val="0E2841"/>
                          </a:solidFill>
                          <a:latin typeface="Arial"/>
                        </a:rPr>
                        <a:t>CTQ-03</a:t>
                      </a:r>
                    </a:p>
                  </a:txBody>
                  <a:tcPr anchor="ctr" marT="19050" marB="19050" marL="50800" marR="50800">
                    <a:solidFill>
                      <a:srgbClr val="FFFFFF"/>
                    </a:solidFill>
                  </a:tcPr>
                </a:tc>
                <a:tc>
                  <a:txBody>
                    <a:bodyPr wrap="square"/>
                    <a:lstStyle/>
                    <a:p>
                      <a:pPr algn="l"/>
                      <a:r>
                        <a:rPr sz="920" i="0" b="0">
                          <a:solidFill>
                            <a:srgbClr val="1B1B1B"/>
                          </a:solidFill>
                          <a:latin typeface="Arial"/>
                        </a:rPr>
                        <a:t>Tốc độ bò (</a:t>
                      </a:r>
                      <a:r>
                        <a:rPr sz="920" i="0" b="1">
                          <a:solidFill>
                            <a:srgbClr val="0E2841"/>
                          </a:solidFill>
                          <a:latin typeface="Arial"/>
                        </a:rPr>
                        <a:t>v_creep</a:t>
                      </a:r>
                      <a:r>
                        <a:rPr sz="920" i="0" b="0">
                          <a:solidFill>
                            <a:srgbClr val="1B1B1B"/>
                          </a:solidFill>
                          <a:latin typeface="Arial"/>
                        </a:rPr>
                        <a:t>) &amp; Dải điều chỉnh </a:t>
                      </a:r>
                      <a:r>
                        <a:rPr sz="920" i="0" b="1">
                          <a:solidFill>
                            <a:srgbClr val="0E2841"/>
                          </a:solidFill>
                          <a:latin typeface="Arial"/>
                        </a:rPr>
                        <a:t>D</a:t>
                      </a:r>
                    </a:p>
                  </a:txBody>
                  <a:tcPr anchor="ctr" marT="19050" marB="19050" marL="50800" marR="50800">
                    <a:solidFill>
                      <a:srgbClr val="FFFFFF"/>
                    </a:solidFill>
                  </a:tcPr>
                </a:tc>
                <a:tc>
                  <a:txBody>
                    <a:bodyPr wrap="square"/>
                    <a:lstStyle/>
                    <a:p>
                      <a:pPr algn="l"/>
                      <a:r>
                        <a:rPr sz="920" i="0" b="1">
                          <a:solidFill>
                            <a:srgbClr val="0E2841"/>
                          </a:solidFill>
                          <a:latin typeface="Arial"/>
                        </a:rPr>
                        <a:t>0.030 ÷ 0.036 m/s</a:t>
                      </a:r>
                      <a:r>
                        <a:rPr sz="920" i="0" b="0">
                          <a:solidFill>
                            <a:srgbClr val="1B1B1B"/>
                          </a:solidFill>
                          <a:latin typeface="Arial"/>
                        </a:rPr>
                        <a:t> (</a:t>
                      </a:r>
                      <a:r>
                        <a:rPr sz="920" i="0" b="1">
                          <a:solidFill>
                            <a:srgbClr val="0E2841"/>
                          </a:solidFill>
                          <a:latin typeface="Arial"/>
                        </a:rPr>
                        <a:t>25÷30% v_max</a:t>
                      </a:r>
                      <a:r>
                        <a:rPr sz="920" i="0" b="0">
                          <a:solidFill>
                            <a:srgbClr val="1B1B1B"/>
                          </a:solidFill>
                          <a:latin typeface="Arial"/>
                        </a:rPr>
                        <a:t>); </a:t>
                      </a:r>
                      <a:r>
                        <a:rPr sz="920" i="0" b="1">
                          <a:solidFill>
                            <a:srgbClr val="0E2841"/>
                          </a:solidFill>
                          <a:latin typeface="Arial"/>
                        </a:rPr>
                        <a:t>D ≥ 10:1</a:t>
                      </a:r>
                    </a:p>
                  </a:txBody>
                  <a:tcPr anchor="ctr" marT="19050" marB="19050" marL="50800" marR="50800">
                    <a:solidFill>
                      <a:srgbClr val="FFFFFF"/>
                    </a:solidFill>
                  </a:tcPr>
                </a:tc>
                <a:tc>
                  <a:txBody>
                    <a:bodyPr wrap="square"/>
                    <a:lstStyle/>
                    <a:p>
                      <a:pPr algn="l"/>
                      <a:r>
                        <a:rPr sz="920" i="0" b="1">
                          <a:solidFill>
                            <a:srgbClr val="0E2841"/>
                          </a:solidFill>
                          <a:latin typeface="Arial"/>
                        </a:rPr>
                        <a:t>SRS-PERM-02</a:t>
                      </a:r>
                      <a:r>
                        <a:rPr sz="920" i="0" b="0">
                          <a:solidFill>
                            <a:srgbClr val="1B1B1B"/>
                          </a:solidFill>
                          <a:latin typeface="Arial"/>
                        </a:rPr>
                        <a:t>
</a:t>
                      </a:r>
                      <a:r>
                        <a:rPr sz="920" i="0" b="1">
                          <a:solidFill>
                            <a:srgbClr val="0E2841"/>
                          </a:solidFill>
                          <a:latin typeface="Arial"/>
                        </a:rPr>
                        <a:t>SRS-FUNC-05</a:t>
                      </a:r>
                    </a:p>
                  </a:txBody>
                  <a:tcPr anchor="ctr" marT="19050" marB="19050" marL="50800" marR="50800">
                    <a:solidFill>
                      <a:srgbClr val="FFFFFF"/>
                    </a:solidFill>
                  </a:tcPr>
                </a:tc>
              </a:tr>
              <a:tr h="546834">
                <a:tc>
                  <a:txBody>
                    <a:bodyPr wrap="square"/>
                    <a:lstStyle/>
                    <a:p>
                      <a:pPr algn="ctr"/>
                      <a:r>
                        <a:rPr sz="920" i="0" b="1">
                          <a:solidFill>
                            <a:srgbClr val="0E2841"/>
                          </a:solidFill>
                          <a:latin typeface="Arial"/>
                        </a:rPr>
                        <a:t>CTQ-04</a:t>
                      </a:r>
                    </a:p>
                  </a:txBody>
                  <a:tcPr anchor="ctr" marT="19050" marB="19050" marL="50800" marR="50800">
                    <a:solidFill>
                      <a:srgbClr val="FEF9E7"/>
                    </a:solidFill>
                  </a:tcPr>
                </a:tc>
                <a:tc>
                  <a:txBody>
                    <a:bodyPr wrap="square"/>
                    <a:lstStyle/>
                    <a:p>
                      <a:pPr algn="l"/>
                      <a:r>
                        <a:rPr sz="920" i="0" b="1">
                          <a:solidFill>
                            <a:srgbClr val="1B1B1B"/>
                          </a:solidFill>
                          <a:latin typeface="Arial"/>
                        </a:rPr>
                        <a:t>Giới hạn gia tốc / giảm tốc dài (</a:t>
                      </a:r>
                      <a:r>
                        <a:rPr sz="920" i="0" b="1">
                          <a:solidFill>
                            <a:srgbClr val="0E2841"/>
                          </a:solidFill>
                          <a:latin typeface="Arial"/>
                        </a:rPr>
                        <a:t>|a(t)|</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0E2841"/>
                          </a:solidFill>
                          <a:latin typeface="Arial"/>
                        </a:rPr>
                        <a:t>|a(t)| ≤ 0.50 m/s²</a:t>
                      </a:r>
                      <a:r>
                        <a:rPr sz="920" i="0" b="1">
                          <a:solidFill>
                            <a:srgbClr val="1B1B1B"/>
                          </a:solidFill>
                          <a:latin typeface="Arial"/>
                        </a:rPr>
                        <a:t> (</a:t>
                      </a:r>
                      <a:r>
                        <a:rPr sz="920" i="0" b="1">
                          <a:solidFill>
                            <a:srgbClr val="0E2841"/>
                          </a:solidFill>
                          <a:latin typeface="Arial"/>
                        </a:rPr>
                        <a:t>k_bám = 3.92</a:t>
                      </a:r>
                      <a:r>
                        <a:rPr sz="920" i="0" b="1">
                          <a:solidFill>
                            <a:srgbClr val="1B1B1B"/>
                          </a:solidFill>
                          <a:latin typeface="Arial"/>
                        </a:rPr>
                        <a:t>, </a:t>
                      </a:r>
                      <a:r>
                        <a:rPr sz="920" i="0" b="1">
                          <a:solidFill>
                            <a:srgbClr val="0E2841"/>
                          </a:solidFill>
                          <a:latin typeface="Arial"/>
                        </a:rPr>
                        <a:t>θ_0 ≤ 2.92°</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0E2841"/>
                          </a:solidFill>
                          <a:latin typeface="Arial"/>
                        </a:rPr>
                        <a:t>SRS-PERM-03</a:t>
                      </a:r>
                      <a:r>
                        <a:rPr sz="920" i="0" b="1">
                          <a:solidFill>
                            <a:srgbClr val="1B1B1B"/>
                          </a:solidFill>
                          <a:latin typeface="Arial"/>
                        </a:rPr>
                        <a:t>
</a:t>
                      </a:r>
                      <a:r>
                        <a:rPr sz="920" i="0" b="1">
                          <a:solidFill>
                            <a:srgbClr val="0E2841"/>
                          </a:solidFill>
                          <a:latin typeface="Arial"/>
                        </a:rPr>
                        <a:t>SRS-FUNC-02</a:t>
                      </a:r>
                    </a:p>
                  </a:txBody>
                  <a:tcPr anchor="ctr" marT="19050" marB="19050" marL="50800" marR="50800">
                    <a:solidFill>
                      <a:srgbClr val="FEF9E7"/>
                    </a:solidFill>
                  </a:tcPr>
                </a:tc>
              </a:tr>
              <a:tr h="546834">
                <a:tc>
                  <a:txBody>
                    <a:bodyPr wrap="square"/>
                    <a:lstStyle/>
                    <a:p>
                      <a:pPr algn="ctr"/>
                      <a:r>
                        <a:rPr sz="920" i="0" b="1">
                          <a:solidFill>
                            <a:srgbClr val="0E2841"/>
                          </a:solidFill>
                          <a:latin typeface="Arial"/>
                        </a:rPr>
                        <a:t>CTQ-05</a:t>
                      </a:r>
                    </a:p>
                  </a:txBody>
                  <a:tcPr anchor="ctr" marT="19050" marB="19050" marL="50800" marR="50800">
                    <a:solidFill>
                      <a:srgbClr val="FFFFFF"/>
                    </a:solidFill>
                  </a:tcPr>
                </a:tc>
                <a:tc>
                  <a:txBody>
                    <a:bodyPr wrap="square"/>
                    <a:lstStyle/>
                    <a:p>
                      <a:pPr algn="l"/>
                      <a:r>
                        <a:rPr sz="920" i="0" b="0">
                          <a:solidFill>
                            <a:srgbClr val="1B1B1B"/>
                          </a:solidFill>
                          <a:latin typeface="Arial"/>
                        </a:rPr>
                        <a:t>Giới hạn độ giật (</a:t>
                      </a:r>
                      <a:r>
                        <a:rPr sz="920" i="0" b="1">
                          <a:solidFill>
                            <a:srgbClr val="0E2841"/>
                          </a:solidFill>
                          <a:latin typeface="Arial"/>
                        </a:rPr>
                        <a:t>Jerk |ρ(t)|</a:t>
                      </a:r>
                      <a:r>
                        <a:rPr sz="920" i="0" b="0">
                          <a:solidFill>
                            <a:srgbClr val="1B1B1B"/>
                          </a:solidFill>
                          <a:latin typeface="Arial"/>
                        </a:rPr>
                        <a:t>)</a:t>
                      </a:r>
                    </a:p>
                  </a:txBody>
                  <a:tcPr anchor="ctr" marT="19050" marB="19050" marL="50800" marR="50800">
                    <a:solidFill>
                      <a:srgbClr val="FFFFFF"/>
                    </a:solidFill>
                  </a:tcPr>
                </a:tc>
                <a:tc>
                  <a:txBody>
                    <a:bodyPr wrap="square"/>
                    <a:lstStyle/>
                    <a:p>
                      <a:pPr algn="l"/>
                      <a:r>
                        <a:rPr sz="920" i="0" b="1">
                          <a:solidFill>
                            <a:srgbClr val="0E2841"/>
                          </a:solidFill>
                          <a:latin typeface="Arial"/>
                        </a:rPr>
                        <a:t>|ρ(t)| ≤ 2.00 m/s³</a:t>
                      </a:r>
                      <a:r>
                        <a:rPr sz="920" i="0" b="0">
                          <a:solidFill>
                            <a:srgbClr val="1B1B1B"/>
                          </a:solidFill>
                          <a:latin typeface="Arial"/>
                        </a:rPr>
                        <a:t> (</a:t>
                      </a:r>
                      <a:r>
                        <a:rPr sz="920" i="0" b="1">
                          <a:solidFill>
                            <a:srgbClr val="0E2841"/>
                          </a:solidFill>
                          <a:latin typeface="Arial"/>
                        </a:rPr>
                        <a:t>t_j = a/ρ ≥ 0.25 s</a:t>
                      </a:r>
                      <a:r>
                        <a:rPr sz="920" i="0" b="0">
                          <a:solidFill>
                            <a:srgbClr val="1B1B1B"/>
                          </a:solidFill>
                          <a:latin typeface="Arial"/>
                        </a:rPr>
                        <a:t>)</a:t>
                      </a:r>
                    </a:p>
                  </a:txBody>
                  <a:tcPr anchor="ctr" marT="19050" marB="19050" marL="50800" marR="50800">
                    <a:solidFill>
                      <a:srgbClr val="FFFFFF"/>
                    </a:solidFill>
                  </a:tcPr>
                </a:tc>
                <a:tc>
                  <a:txBody>
                    <a:bodyPr wrap="square"/>
                    <a:lstStyle/>
                    <a:p>
                      <a:pPr algn="l"/>
                      <a:r>
                        <a:rPr sz="920" i="0" b="1">
                          <a:solidFill>
                            <a:srgbClr val="0E2841"/>
                          </a:solidFill>
                          <a:latin typeface="Arial"/>
                        </a:rPr>
                        <a:t>SRS-PERM-03</a:t>
                      </a:r>
                      <a:r>
                        <a:rPr sz="920" i="0" b="0">
                          <a:solidFill>
                            <a:srgbClr val="1B1B1B"/>
                          </a:solidFill>
                          <a:latin typeface="Arial"/>
                        </a:rPr>
                        <a:t>
</a:t>
                      </a:r>
                      <a:r>
                        <a:rPr sz="920" i="0" b="1">
                          <a:solidFill>
                            <a:srgbClr val="0E2841"/>
                          </a:solidFill>
                          <a:latin typeface="Arial"/>
                        </a:rPr>
                        <a:t>SRS-FUNC-07</a:t>
                      </a:r>
                    </a:p>
                  </a:txBody>
                  <a:tcPr anchor="ctr" marT="19050" marB="19050" marL="50800" marR="50800">
                    <a:solidFill>
                      <a:srgbClr val="FFFFFF"/>
                    </a:solidFill>
                  </a:tcPr>
                </a:tc>
              </a:tr>
              <a:tr h="546834">
                <a:tc>
                  <a:txBody>
                    <a:bodyPr wrap="square"/>
                    <a:lstStyle/>
                    <a:p>
                      <a:pPr algn="ctr"/>
                      <a:r>
                        <a:rPr sz="920" i="0" b="1">
                          <a:solidFill>
                            <a:srgbClr val="0E2841"/>
                          </a:solidFill>
                          <a:latin typeface="Arial"/>
                        </a:rPr>
                        <a:t>CTQ-06</a:t>
                      </a:r>
                    </a:p>
                  </a:txBody>
                  <a:tcPr anchor="ctr" marT="19050" marB="19050" marL="50800" marR="50800">
                    <a:solidFill>
                      <a:srgbClr val="FEF9E7"/>
                    </a:solidFill>
                  </a:tcPr>
                </a:tc>
                <a:tc>
                  <a:txBody>
                    <a:bodyPr wrap="square"/>
                    <a:lstStyle/>
                    <a:p>
                      <a:pPr algn="l"/>
                      <a:r>
                        <a:rPr sz="920" i="0" b="1">
                          <a:solidFill>
                            <a:srgbClr val="1B1B1B"/>
                          </a:solidFill>
                          <a:latin typeface="Arial"/>
                        </a:rPr>
                        <a:t>Mô-men giữ tải tại tốc độ 0 (</a:t>
                      </a:r>
                      <a:r>
                        <a:rPr sz="920" i="0" b="1">
                          <a:solidFill>
                            <a:srgbClr val="0E2841"/>
                          </a:solidFill>
                          <a:latin typeface="Arial"/>
                        </a:rPr>
                        <a:t>M_hold</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196B24"/>
                          </a:solidFill>
                          <a:latin typeface="Arial"/>
                        </a:rPr>
                        <a:t>100% ÷ 150% M_đm</a:t>
                      </a:r>
                      <a:r>
                        <a:rPr sz="920" i="0" b="1">
                          <a:solidFill>
                            <a:srgbClr val="1B1B1B"/>
                          </a:solidFill>
                          <a:latin typeface="Arial"/>
                        </a:rPr>
                        <a:t> tại </a:t>
                      </a:r>
                      <a:r>
                        <a:rPr sz="920" i="0" b="1">
                          <a:solidFill>
                            <a:srgbClr val="0E2841"/>
                          </a:solidFill>
                          <a:latin typeface="Arial"/>
                        </a:rPr>
                        <a:t>0 rpm</a:t>
                      </a:r>
                      <a:r>
                        <a:rPr sz="920" i="0" b="1">
                          <a:solidFill>
                            <a:srgbClr val="1B1B1B"/>
                          </a:solidFill>
                          <a:latin typeface="Arial"/>
                        </a:rPr>
                        <a:t>; </a:t>
                      </a:r>
                      <a:r>
                        <a:rPr sz="920" i="0" b="1">
                          <a:solidFill>
                            <a:srgbClr val="0E2841"/>
                          </a:solidFill>
                          <a:latin typeface="Arial"/>
                        </a:rPr>
                        <a:t>Δx_trôi = 0 mm</a:t>
                      </a:r>
                    </a:p>
                  </a:txBody>
                  <a:tcPr anchor="ctr" marT="19050" marB="19050" marL="50800" marR="50800">
                    <a:solidFill>
                      <a:srgbClr val="FEF9E7"/>
                    </a:solidFill>
                  </a:tcPr>
                </a:tc>
                <a:tc>
                  <a:txBody>
                    <a:bodyPr wrap="square"/>
                    <a:lstStyle/>
                    <a:p>
                      <a:pPr algn="l"/>
                      <a:r>
                        <a:rPr sz="920" i="0" b="1">
                          <a:solidFill>
                            <a:srgbClr val="0E2841"/>
                          </a:solidFill>
                          <a:latin typeface="Arial"/>
                        </a:rPr>
                        <a:t>SRS-FUNC-04</a:t>
                      </a:r>
                    </a:p>
                  </a:txBody>
                  <a:tcPr anchor="ctr" marT="19050" marB="19050" marL="50800" marR="50800">
                    <a:solidFill>
                      <a:srgbClr val="FEF9E7"/>
                    </a:solidFill>
                  </a:tcPr>
                </a:tc>
              </a:tr>
              <a:tr h="546834">
                <a:tc>
                  <a:txBody>
                    <a:bodyPr wrap="square"/>
                    <a:lstStyle/>
                    <a:p>
                      <a:pPr algn="ctr"/>
                      <a:r>
                        <a:rPr sz="920" i="0" b="1">
                          <a:solidFill>
                            <a:srgbClr val="0E2841"/>
                          </a:solidFill>
                          <a:latin typeface="Arial"/>
                        </a:rPr>
                        <a:t>CTQ-07</a:t>
                      </a:r>
                    </a:p>
                  </a:txBody>
                  <a:tcPr anchor="ctr" marT="19050" marB="19050" marL="50800" marR="50800">
                    <a:solidFill>
                      <a:srgbClr val="FEF9E7"/>
                    </a:solidFill>
                  </a:tcPr>
                </a:tc>
                <a:tc>
                  <a:txBody>
                    <a:bodyPr wrap="square"/>
                    <a:lstStyle/>
                    <a:p>
                      <a:pPr algn="l"/>
                      <a:r>
                        <a:rPr sz="920" i="0" b="1">
                          <a:solidFill>
                            <a:srgbClr val="1B1B1B"/>
                          </a:solidFill>
                          <a:latin typeface="Arial"/>
                        </a:rPr>
                        <a:t>Điện áp DC-link cực đại khi hãm (</a:t>
                      </a:r>
                      <a:r>
                        <a:rPr sz="920" i="0" b="1">
                          <a:solidFill>
                            <a:srgbClr val="0E2841"/>
                          </a:solidFill>
                          <a:latin typeface="Arial"/>
                        </a:rPr>
                        <a:t>U_dc,max</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0E2841"/>
                          </a:solidFill>
                          <a:latin typeface="Arial"/>
                        </a:rPr>
                        <a:t>U_dc(t) &lt; 780 V DC</a:t>
                      </a:r>
                      <a:r>
                        <a:rPr sz="920" i="0" b="1">
                          <a:solidFill>
                            <a:srgbClr val="1B1B1B"/>
                          </a:solidFill>
                          <a:latin typeface="Arial"/>
                        </a:rPr>
                        <a:t> (dưới ngưỡng Trip </a:t>
                      </a:r>
                      <a:r>
                        <a:rPr sz="920" i="0" b="1">
                          <a:solidFill>
                            <a:srgbClr val="0E2841"/>
                          </a:solidFill>
                          <a:latin typeface="Arial"/>
                        </a:rPr>
                        <a:t>800V DC</a:t>
                      </a:r>
                      <a:r>
                        <a:rPr sz="920" i="0" b="1">
                          <a:solidFill>
                            <a:srgbClr val="1B1B1B"/>
                          </a:solidFill>
                          <a:latin typeface="Arial"/>
                        </a:rPr>
                        <a:t>)</a:t>
                      </a:r>
                    </a:p>
                  </a:txBody>
                  <a:tcPr anchor="ctr" marT="19050" marB="19050" marL="50800" marR="50800">
                    <a:solidFill>
                      <a:srgbClr val="FEF9E7"/>
                    </a:solidFill>
                  </a:tcPr>
                </a:tc>
                <a:tc>
                  <a:txBody>
                    <a:bodyPr wrap="square"/>
                    <a:lstStyle/>
                    <a:p>
                      <a:pPr algn="l"/>
                      <a:r>
                        <a:rPr sz="920" i="0" b="1">
                          <a:solidFill>
                            <a:srgbClr val="0E2841"/>
                          </a:solidFill>
                          <a:latin typeface="Arial"/>
                        </a:rPr>
                        <a:t>SRS-FUNC-06</a:t>
                      </a:r>
                    </a:p>
                  </a:txBody>
                  <a:tcPr anchor="ctr" marT="19050" marB="19050" marL="50800" marR="50800">
                    <a:solidFill>
                      <a:srgbClr val="FEF9E7"/>
                    </a:solidFill>
                  </a:tcPr>
                </a:tc>
              </a:tr>
              <a:tr h="546834">
                <a:tc>
                  <a:txBody>
                    <a:bodyPr wrap="square"/>
                    <a:lstStyle/>
                    <a:p>
                      <a:pPr algn="ctr"/>
                      <a:r>
                        <a:rPr sz="920" i="0" b="1">
                          <a:solidFill>
                            <a:srgbClr val="0E2841"/>
                          </a:solidFill>
                          <a:latin typeface="Arial"/>
                        </a:rPr>
                        <a:t>CTQ-08</a:t>
                      </a:r>
                    </a:p>
                  </a:txBody>
                  <a:tcPr anchor="ctr" marT="19050" marB="19050" marL="50800" marR="50800">
                    <a:solidFill>
                      <a:srgbClr val="F8F9FA"/>
                    </a:solidFill>
                  </a:tcPr>
                </a:tc>
                <a:tc>
                  <a:txBody>
                    <a:bodyPr wrap="square"/>
                    <a:lstStyle/>
                    <a:p>
                      <a:pPr algn="l"/>
                      <a:r>
                        <a:rPr sz="920" i="0" b="0">
                          <a:solidFill>
                            <a:srgbClr val="1B1B1B"/>
                          </a:solidFill>
                          <a:latin typeface="Arial"/>
                        </a:rPr>
                        <a:t>Dự trữ công suất nhiệt </a:t>
                      </a:r>
                      <a:r>
                        <a:rPr sz="920" i="0" b="1">
                          <a:solidFill>
                            <a:srgbClr val="0E2841"/>
                          </a:solidFill>
                          <a:latin typeface="Arial"/>
                        </a:rPr>
                        <a:t>S3-40%</a:t>
                      </a:r>
                      <a:r>
                        <a:rPr sz="920" i="0" b="0">
                          <a:solidFill>
                            <a:srgbClr val="1B1B1B"/>
                          </a:solidFill>
                          <a:latin typeface="Arial"/>
                        </a:rPr>
                        <a:t> &amp; Quá tải </a:t>
                      </a:r>
                      <a:r>
                        <a:rPr sz="920" i="0" b="1">
                          <a:solidFill>
                            <a:srgbClr val="0E2841"/>
                          </a:solidFill>
                          <a:latin typeface="Arial"/>
                        </a:rPr>
                        <a:t>λ</a:t>
                      </a:r>
                    </a:p>
                  </a:txBody>
                  <a:tcPr anchor="ctr" marT="19050" marB="19050" marL="50800" marR="50800">
                    <a:solidFill>
                      <a:srgbClr val="F8F9FA"/>
                    </a:solidFill>
                  </a:tcPr>
                </a:tc>
                <a:tc>
                  <a:txBody>
                    <a:bodyPr wrap="square"/>
                    <a:lstStyle/>
                    <a:p>
                      <a:pPr algn="l"/>
                      <a:r>
                        <a:rPr sz="920" i="0" b="1">
                          <a:solidFill>
                            <a:srgbClr val="0E2841"/>
                          </a:solidFill>
                          <a:latin typeface="Arial"/>
                        </a:rPr>
                        <a:t>k_dt ∈ [1.20; 1.50]</a:t>
                      </a:r>
                      <a:r>
                        <a:rPr sz="920" i="0" b="0">
                          <a:solidFill>
                            <a:srgbClr val="1B1B1B"/>
                          </a:solidFill>
                          <a:latin typeface="Arial"/>
                        </a:rPr>
                        <a:t>, </a:t>
                      </a:r>
                      <a:r>
                        <a:rPr sz="920" i="0" b="1">
                          <a:solidFill>
                            <a:srgbClr val="0E2841"/>
                          </a:solidFill>
                          <a:latin typeface="Arial"/>
                        </a:rPr>
                        <a:t>λ_max ≥ 2.0</a:t>
                      </a:r>
                      <a:r>
                        <a:rPr sz="920" i="0" b="0">
                          <a:solidFill>
                            <a:srgbClr val="1B1B1B"/>
                          </a:solidFill>
                          <a:latin typeface="Arial"/>
                        </a:rPr>
                        <a:t>, </a:t>
                      </a:r>
                      <a:r>
                        <a:rPr sz="920" i="0" b="1">
                          <a:solidFill>
                            <a:srgbClr val="0E2841"/>
                          </a:solidFill>
                          <a:latin typeface="Arial"/>
                        </a:rPr>
                        <a:t>η = 0.96</a:t>
                      </a:r>
                    </a:p>
                  </a:txBody>
                  <a:tcPr anchor="ctr" marT="19050" marB="19050" marL="50800" marR="50800">
                    <a:solidFill>
                      <a:srgbClr val="F8F9FA"/>
                    </a:solidFill>
                  </a:tcPr>
                </a:tc>
                <a:tc>
                  <a:txBody>
                    <a:bodyPr wrap="square"/>
                    <a:lstStyle/>
                    <a:p>
                      <a:pPr algn="l"/>
                      <a:r>
                        <a:rPr sz="920" i="0" b="1">
                          <a:solidFill>
                            <a:srgbClr val="0E2841"/>
                          </a:solidFill>
                          <a:latin typeface="Arial"/>
                        </a:rPr>
                        <a:t>SRS-PERM-04..07</a:t>
                      </a:r>
                    </a:p>
                  </a:txBody>
                  <a:tcPr anchor="ctr" marT="19050" marB="19050" marL="50800" marR="50800">
                    <a:solidFill>
                      <a:srgbClr val="F8F9FA"/>
                    </a:solidFill>
                  </a:tcPr>
                </a:tc>
              </a:tr>
            </a:tbl>
          </a:graphicData>
        </a:graphic>
      </p:graphicFrame>
      <p:graphicFrame>
        <p:nvGraphicFramePr>
          <p:cNvPr id="6" name="Table 5"/>
          <p:cNvGraphicFramePr>
            <a:graphicFrameLocks noGrp="1"/>
          </p:cNvGraphicFramePr>
          <p:nvPr/>
        </p:nvGraphicFramePr>
        <p:xfrm>
          <a:off x="6419088" y="1234440"/>
          <a:ext cx="5458968" cy="3738978"/>
        </p:xfrm>
        <a:graphic>
          <a:graphicData uri="http://schemas.openxmlformats.org/drawingml/2006/table">
            <a:tbl>
              <a:tblPr firstRow="1" bandRow="1">
                <a:tableStyleId>{5C22544A-7EE6-4342-B048-85BDC9FD1C3A}</a:tableStyleId>
              </a:tblPr>
              <a:tblGrid>
                <a:gridCol w="777240"/>
                <a:gridCol w="2029968"/>
                <a:gridCol w="1600200"/>
                <a:gridCol w="1051560"/>
              </a:tblGrid>
              <a:tr h="292608">
                <a:tc>
                  <a:txBody>
                    <a:bodyPr wrap="square"/>
                    <a:lstStyle/>
                    <a:p>
                      <a:pPr algn="ctr"/>
                      <a:r>
                        <a:rPr sz="1030" b="1">
                          <a:solidFill>
                            <a:srgbClr val="FFFFFF"/>
                          </a:solidFill>
                          <a:latin typeface="Arial"/>
                        </a:rPr>
                        <a:t>Mã CTS</a:t>
                      </a:r>
                    </a:p>
                  </a:txBody>
                  <a:tcPr anchor="ctr" marT="19050" marB="19050" marL="50800" marR="50800">
                    <a:solidFill>
                      <a:srgbClr val="0E2841"/>
                    </a:solidFill>
                  </a:tcPr>
                </a:tc>
                <a:tc>
                  <a:txBody>
                    <a:bodyPr wrap="square"/>
                    <a:lstStyle/>
                    <a:p>
                      <a:pPr algn="ctr"/>
                      <a:r>
                        <a:rPr sz="1030" b="1">
                          <a:solidFill>
                            <a:srgbClr val="FFFFFF"/>
                          </a:solidFill>
                          <a:latin typeface="Arial"/>
                        </a:rPr>
                        <a:t>Cơ chế An toàn Tích hợp trong FUNC &amp; PERM</a:t>
                      </a:r>
                    </a:p>
                  </a:txBody>
                  <a:tcPr anchor="ctr" marT="19050" marB="19050" marL="50800" marR="50800">
                    <a:solidFill>
                      <a:srgbClr val="0E2841"/>
                    </a:solidFill>
                  </a:tcPr>
                </a:tc>
                <a:tc>
                  <a:txBody>
                    <a:bodyPr wrap="square"/>
                    <a:lstStyle/>
                    <a:p>
                      <a:pPr algn="ctr"/>
                      <a:r>
                        <a:rPr sz="1030" b="1">
                          <a:solidFill>
                            <a:srgbClr val="FFFFFF"/>
                          </a:solidFill>
                          <a:latin typeface="Arial"/>
                        </a:rPr>
                        <a:t>Ngưỡng Cứng (Zero-Tolerance)</a:t>
                      </a:r>
                    </a:p>
                  </a:txBody>
                  <a:tcPr anchor="ctr" marT="19050" marB="19050" marL="50800" marR="50800">
                    <a:solidFill>
                      <a:srgbClr val="0E2841"/>
                    </a:solidFill>
                  </a:tcPr>
                </a:tc>
                <a:tc>
                  <a:txBody>
                    <a:bodyPr wrap="square"/>
                    <a:lstStyle/>
                    <a:p>
                      <a:pPr algn="ctr"/>
                      <a:r>
                        <a:rPr sz="1030" b="1">
                          <a:solidFill>
                            <a:srgbClr val="FFFFFF"/>
                          </a:solidFill>
                          <a:latin typeface="Arial"/>
                        </a:rPr>
                        <a:t>Yêu cầu SRS &amp; Test</a:t>
                      </a:r>
                    </a:p>
                  </a:txBody>
                  <a:tcPr anchor="ctr" marT="19050" marB="19050" marL="50800" marR="50800">
                    <a:solidFill>
                      <a:srgbClr val="0E2841"/>
                    </a:solidFill>
                  </a:tcPr>
                </a:tc>
              </a:tr>
              <a:tr h="689274">
                <a:tc>
                  <a:txBody>
                    <a:bodyPr wrap="square"/>
                    <a:lstStyle/>
                    <a:p>
                      <a:pPr algn="ctr"/>
                      <a:r>
                        <a:rPr sz="900" i="0" b="1">
                          <a:solidFill>
                            <a:srgbClr val="C00000"/>
                          </a:solidFill>
                          <a:latin typeface="Arial"/>
                        </a:rPr>
                        <a:t>CTS-01</a:t>
                      </a:r>
                    </a:p>
                  </a:txBody>
                  <a:tcPr anchor="ctr" marT="19050" marB="19050" marL="50800" marR="50800">
                    <a:solidFill>
                      <a:srgbClr val="FDEDEC"/>
                    </a:solidFill>
                  </a:tcPr>
                </a:tc>
                <a:tc>
                  <a:txBody>
                    <a:bodyPr wrap="square"/>
                    <a:lstStyle/>
                    <a:p>
                      <a:pPr algn="l"/>
                      <a:r>
                        <a:rPr sz="900" i="0" b="1">
                          <a:solidFill>
                            <a:srgbClr val="0E2841"/>
                          </a:solidFill>
                          <a:latin typeface="Arial"/>
                        </a:rPr>
                        <a:t>Khóa liên động đảo chiều tại tốc độ 0</a:t>
                      </a:r>
                      <a:r>
                        <a:rPr sz="900" i="0" b="1">
                          <a:solidFill>
                            <a:srgbClr val="1B1B1B"/>
                          </a:solidFill>
                          <a:latin typeface="Arial"/>
                        </a:rPr>
                        <a:t>
(Chống đảo chiều trực tiếp gây sốc dòng &amp; vỡ bánh răng)</a:t>
                      </a:r>
                    </a:p>
                  </a:txBody>
                  <a:tcPr anchor="ctr" marT="19050" marB="19050" marL="50800" marR="50800">
                    <a:solidFill>
                      <a:srgbClr val="FDEDEC"/>
                    </a:solidFill>
                  </a:tcPr>
                </a:tc>
                <a:tc>
                  <a:txBody>
                    <a:bodyPr wrap="square"/>
                    <a:lstStyle/>
                    <a:p>
                      <a:pPr algn="l"/>
                      <a:r>
                        <a:rPr sz="900" i="0" b="1">
                          <a:solidFill>
                            <a:srgbClr val="1B1B1B"/>
                          </a:solidFill>
                          <a:latin typeface="Arial"/>
                        </a:rPr>
                        <a:t>Chỉ cho phép đổi dấu mô-men chủ động khi </a:t>
                      </a:r>
                      <a:r>
                        <a:rPr sz="900" i="0" b="1">
                          <a:solidFill>
                            <a:srgbClr val="0E2841"/>
                          </a:solidFill>
                          <a:latin typeface="Arial"/>
                        </a:rPr>
                        <a:t>|v_xe(t)| = 0 m/s</a:t>
                      </a:r>
                      <a:r>
                        <a:rPr sz="900" i="0" b="1">
                          <a:solidFill>
                            <a:srgbClr val="1B1B1B"/>
                          </a:solidFill>
                          <a:latin typeface="Arial"/>
                        </a:rPr>
                        <a:t>.</a:t>
                      </a:r>
                    </a:p>
                  </a:txBody>
                  <a:tcPr anchor="ctr" marT="19050" marB="19050" marL="50800" marR="50800">
                    <a:solidFill>
                      <a:srgbClr val="FDEDEC"/>
                    </a:solidFill>
                  </a:tcPr>
                </a:tc>
                <a:tc>
                  <a:txBody>
                    <a:bodyPr wrap="square"/>
                    <a:lstStyle/>
                    <a:p>
                      <a:pPr algn="l"/>
                      <a:r>
                        <a:rPr sz="900" i="0" b="1">
                          <a:solidFill>
                            <a:srgbClr val="0E2841"/>
                          </a:solidFill>
                          <a:latin typeface="Arial"/>
                        </a:rPr>
                        <a:t>SRS-FUNC-01</a:t>
                      </a:r>
                      <a:r>
                        <a:rPr sz="900" i="0" b="1">
                          <a:solidFill>
                            <a:srgbClr val="1B1B1B"/>
                          </a:solidFill>
                          <a:latin typeface="Arial"/>
                        </a:rPr>
                        <a:t>
</a:t>
                      </a:r>
                      <a:r>
                        <a:rPr sz="900" i="0" b="1">
                          <a:solidFill>
                            <a:srgbClr val="0E2841"/>
                          </a:solidFill>
                          <a:latin typeface="Arial"/>
                        </a:rPr>
                        <a:t>DVP-L0-01</a:t>
                      </a:r>
                    </a:p>
                  </a:txBody>
                  <a:tcPr anchor="ctr" marT="19050" marB="19050" marL="50800" marR="50800">
                    <a:solidFill>
                      <a:srgbClr val="FDEDEC"/>
                    </a:solidFill>
                  </a:tcPr>
                </a:tc>
              </a:tr>
              <a:tr h="689274">
                <a:tc>
                  <a:txBody>
                    <a:bodyPr wrap="square"/>
                    <a:lstStyle/>
                    <a:p>
                      <a:pPr algn="ctr"/>
                      <a:r>
                        <a:rPr sz="900" i="0" b="1">
                          <a:solidFill>
                            <a:srgbClr val="C00000"/>
                          </a:solidFill>
                          <a:latin typeface="Arial"/>
                        </a:rPr>
                        <a:t>CTS-02</a:t>
                      </a:r>
                    </a:p>
                  </a:txBody>
                  <a:tcPr anchor="ctr" marT="19050" marB="19050" marL="50800" marR="50800">
                    <a:solidFill>
                      <a:srgbClr val="FDEDEC"/>
                    </a:solidFill>
                  </a:tcPr>
                </a:tc>
                <a:tc>
                  <a:txBody>
                    <a:bodyPr wrap="square"/>
                    <a:lstStyle/>
                    <a:p>
                      <a:pPr algn="l"/>
                      <a:r>
                        <a:rPr sz="900" i="0" b="1">
                          <a:solidFill>
                            <a:srgbClr val="0E2841"/>
                          </a:solidFill>
                          <a:latin typeface="Arial"/>
                        </a:rPr>
                        <a:t>Dừng an toàn Stop Category 1 (IEC 60204-1)</a:t>
                      </a:r>
                      <a:r>
                        <a:rPr sz="900" i="0" b="1">
                          <a:solidFill>
                            <a:srgbClr val="1B1B1B"/>
                          </a:solidFill>
                          <a:latin typeface="Arial"/>
                        </a:rPr>
                        <a:t>
(Giảm tốc chủ động về 0 trước khi đóng phanh cơ)</a:t>
                      </a:r>
                    </a:p>
                  </a:txBody>
                  <a:tcPr anchor="ctr" marT="19050" marB="19050" marL="50800" marR="50800">
                    <a:solidFill>
                      <a:srgbClr val="FDEDEC"/>
                    </a:solidFill>
                  </a:tcPr>
                </a:tc>
                <a:tc>
                  <a:txBody>
                    <a:bodyPr wrap="square"/>
                    <a:lstStyle/>
                    <a:p>
                      <a:pPr algn="l"/>
                      <a:r>
                        <a:rPr sz="900" i="0" b="1">
                          <a:solidFill>
                            <a:srgbClr val="1B1B1B"/>
                          </a:solidFill>
                          <a:latin typeface="Arial"/>
                        </a:rPr>
                        <a:t>Hãm điện từ theo S-Curve (</a:t>
                      </a:r>
                      <a:r>
                        <a:rPr sz="900" i="0" b="1">
                          <a:solidFill>
                            <a:srgbClr val="0E2841"/>
                          </a:solidFill>
                          <a:latin typeface="Arial"/>
                        </a:rPr>
                        <a:t>|a| ≤ 0.50 m/s²</a:t>
                      </a:r>
                      <a:r>
                        <a:rPr sz="900" i="0" b="1">
                          <a:solidFill>
                            <a:srgbClr val="1B1B1B"/>
                          </a:solidFill>
                          <a:latin typeface="Arial"/>
                        </a:rPr>
                        <a:t>) về </a:t>
                      </a:r>
                      <a:r>
                        <a:rPr sz="900" i="0" b="1">
                          <a:solidFill>
                            <a:srgbClr val="0E2841"/>
                          </a:solidFill>
                          <a:latin typeface="Arial"/>
                        </a:rPr>
                        <a:t>v ≈ 0</a:t>
                      </a:r>
                      <a:r>
                        <a:rPr sz="900" i="0" b="1">
                          <a:solidFill>
                            <a:srgbClr val="1B1B1B"/>
                          </a:solidFill>
                          <a:latin typeface="Arial"/>
                        </a:rPr>
                        <a:t> rồi mới cắt áp đóng phanh.</a:t>
                      </a:r>
                    </a:p>
                  </a:txBody>
                  <a:tcPr anchor="ctr" marT="19050" marB="19050" marL="50800" marR="50800">
                    <a:solidFill>
                      <a:srgbClr val="FDEDEC"/>
                    </a:solidFill>
                  </a:tcPr>
                </a:tc>
                <a:tc>
                  <a:txBody>
                    <a:bodyPr wrap="square"/>
                    <a:lstStyle/>
                    <a:p>
                      <a:pPr algn="l"/>
                      <a:r>
                        <a:rPr sz="900" i="0" b="1">
                          <a:solidFill>
                            <a:srgbClr val="0E2841"/>
                          </a:solidFill>
                          <a:latin typeface="Arial"/>
                        </a:rPr>
                        <a:t>SRS-FUNC-03</a:t>
                      </a:r>
                      <a:r>
                        <a:rPr sz="900" i="0" b="1">
                          <a:solidFill>
                            <a:srgbClr val="1B1B1B"/>
                          </a:solidFill>
                          <a:latin typeface="Arial"/>
                        </a:rPr>
                        <a:t>
</a:t>
                      </a:r>
                      <a:r>
                        <a:rPr sz="900" i="0" b="1">
                          <a:solidFill>
                            <a:srgbClr val="0E2841"/>
                          </a:solidFill>
                          <a:latin typeface="Arial"/>
                        </a:rPr>
                        <a:t>DVP-L0-03</a:t>
                      </a:r>
                    </a:p>
                  </a:txBody>
                  <a:tcPr anchor="ctr" marT="19050" marB="19050" marL="50800" marR="50800">
                    <a:solidFill>
                      <a:srgbClr val="FDEDEC"/>
                    </a:solidFill>
                  </a:tcPr>
                </a:tc>
              </a:tr>
              <a:tr h="689274">
                <a:tc>
                  <a:txBody>
                    <a:bodyPr wrap="square"/>
                    <a:lstStyle/>
                    <a:p>
                      <a:pPr algn="ctr"/>
                      <a:r>
                        <a:rPr sz="900" i="0" b="1">
                          <a:solidFill>
                            <a:srgbClr val="C00000"/>
                          </a:solidFill>
                          <a:latin typeface="Arial"/>
                        </a:rPr>
                        <a:t>CTS-03</a:t>
                      </a:r>
                    </a:p>
                  </a:txBody>
                  <a:tcPr anchor="ctr" marT="19050" marB="19050" marL="50800" marR="50800">
                    <a:solidFill>
                      <a:srgbClr val="FDEDEC"/>
                    </a:solidFill>
                  </a:tcPr>
                </a:tc>
                <a:tc>
                  <a:txBody>
                    <a:bodyPr wrap="square"/>
                    <a:lstStyle/>
                    <a:p>
                      <a:pPr algn="l"/>
                      <a:r>
                        <a:rPr sz="900" i="0" b="1">
                          <a:solidFill>
                            <a:srgbClr val="0E2841"/>
                          </a:solidFill>
                          <a:latin typeface="Arial"/>
                        </a:rPr>
                        <a:t>Chống trôi/giật tải tại 0 rpm (Anti-Rollback)</a:t>
                      </a:r>
                      <a:r>
                        <a:rPr sz="900" i="0" b="1">
                          <a:solidFill>
                            <a:srgbClr val="1B1B1B"/>
                          </a:solidFill>
                          <a:latin typeface="Arial"/>
                        </a:rPr>
                        <a:t>
(Đồng bộ từ thông FOC và phanh điện từ Fail-safe)</a:t>
                      </a:r>
                    </a:p>
                  </a:txBody>
                  <a:tcPr anchor="ctr" marT="19050" marB="19050" marL="50800" marR="50800">
                    <a:solidFill>
                      <a:srgbClr val="FDEDEC"/>
                    </a:solidFill>
                  </a:tcPr>
                </a:tc>
                <a:tc>
                  <a:txBody>
                    <a:bodyPr wrap="square"/>
                    <a:lstStyle/>
                    <a:p>
                      <a:pPr algn="l"/>
                      <a:r>
                        <a:rPr sz="900" i="0" b="1">
                          <a:solidFill>
                            <a:srgbClr val="1B1B1B"/>
                          </a:solidFill>
                          <a:latin typeface="Arial"/>
                        </a:rPr>
                        <a:t>Duy trì </a:t>
                      </a:r>
                      <a:r>
                        <a:rPr sz="900" i="0" b="1">
                          <a:solidFill>
                            <a:srgbClr val="196B24"/>
                          </a:solidFill>
                          <a:latin typeface="Arial"/>
                        </a:rPr>
                        <a:t>M_hold ∈ [100%; 150%] M_đm</a:t>
                      </a:r>
                      <a:r>
                        <a:rPr sz="900" i="0" b="1">
                          <a:solidFill>
                            <a:srgbClr val="1B1B1B"/>
                          </a:solidFill>
                          <a:latin typeface="Arial"/>
                        </a:rPr>
                        <a:t> trước khi nhả phanh; </a:t>
                      </a:r>
                      <a:r>
                        <a:rPr sz="900" i="0" b="1">
                          <a:solidFill>
                            <a:srgbClr val="0E2841"/>
                          </a:solidFill>
                          <a:latin typeface="Arial"/>
                        </a:rPr>
                        <a:t>Δx_trôi = 0 mm</a:t>
                      </a:r>
                      <a:r>
                        <a:rPr sz="900" i="0" b="1">
                          <a:solidFill>
                            <a:srgbClr val="1B1B1B"/>
                          </a:solidFill>
                          <a:latin typeface="Arial"/>
                        </a:rPr>
                        <a:t>.</a:t>
                      </a:r>
                    </a:p>
                  </a:txBody>
                  <a:tcPr anchor="ctr" marT="19050" marB="19050" marL="50800" marR="50800">
                    <a:solidFill>
                      <a:srgbClr val="FDEDEC"/>
                    </a:solidFill>
                  </a:tcPr>
                </a:tc>
                <a:tc>
                  <a:txBody>
                    <a:bodyPr wrap="square"/>
                    <a:lstStyle/>
                    <a:p>
                      <a:pPr algn="l"/>
                      <a:r>
                        <a:rPr sz="900" i="0" b="1">
                          <a:solidFill>
                            <a:srgbClr val="0E2841"/>
                          </a:solidFill>
                          <a:latin typeface="Arial"/>
                        </a:rPr>
                        <a:t>SRS-FUNC-04</a:t>
                      </a:r>
                      <a:r>
                        <a:rPr sz="900" i="0" b="1">
                          <a:solidFill>
                            <a:srgbClr val="1B1B1B"/>
                          </a:solidFill>
                          <a:latin typeface="Arial"/>
                        </a:rPr>
                        <a:t>
</a:t>
                      </a:r>
                      <a:r>
                        <a:rPr sz="900" i="0" b="1">
                          <a:solidFill>
                            <a:srgbClr val="0E2841"/>
                          </a:solidFill>
                          <a:latin typeface="Arial"/>
                        </a:rPr>
                        <a:t>DVP-L0-04</a:t>
                      </a:r>
                    </a:p>
                  </a:txBody>
                  <a:tcPr anchor="ctr" marT="19050" marB="19050" marL="50800" marR="50800">
                    <a:solidFill>
                      <a:srgbClr val="FDEDEC"/>
                    </a:solidFill>
                  </a:tcPr>
                </a:tc>
              </a:tr>
              <a:tr h="689274">
                <a:tc>
                  <a:txBody>
                    <a:bodyPr wrap="square"/>
                    <a:lstStyle/>
                    <a:p>
                      <a:pPr algn="ctr"/>
                      <a:r>
                        <a:rPr sz="900" i="0" b="1">
                          <a:solidFill>
                            <a:srgbClr val="C00000"/>
                          </a:solidFill>
                          <a:latin typeface="Arial"/>
                        </a:rPr>
                        <a:t>CTS-04</a:t>
                      </a:r>
                    </a:p>
                  </a:txBody>
                  <a:tcPr anchor="ctr" marT="19050" marB="19050" marL="50800" marR="50800">
                    <a:solidFill>
                      <a:srgbClr val="FDEDEC"/>
                    </a:solidFill>
                  </a:tcPr>
                </a:tc>
                <a:tc>
                  <a:txBody>
                    <a:bodyPr wrap="square"/>
                    <a:lstStyle/>
                    <a:p>
                      <a:pPr algn="l"/>
                      <a:r>
                        <a:rPr sz="900" i="0" b="1">
                          <a:solidFill>
                            <a:srgbClr val="0E2841"/>
                          </a:solidFill>
                          <a:latin typeface="Arial"/>
                        </a:rPr>
                        <a:t>Bảo vệ quá áp DC-Link khi hãm tái sinh Q2/Q4</a:t>
                      </a:r>
                      <a:r>
                        <a:rPr sz="900" i="0" b="1">
                          <a:solidFill>
                            <a:srgbClr val="1B1B1B"/>
                          </a:solidFill>
                          <a:latin typeface="Arial"/>
                        </a:rPr>
                        <a:t>
(Xả năng lượng qua Chopper &amp; điện trở R_h)</a:t>
                      </a:r>
                    </a:p>
                  </a:txBody>
                  <a:tcPr anchor="ctr" marT="19050" marB="19050" marL="50800" marR="50800">
                    <a:solidFill>
                      <a:srgbClr val="FDEDEC"/>
                    </a:solidFill>
                  </a:tcPr>
                </a:tc>
                <a:tc>
                  <a:txBody>
                    <a:bodyPr wrap="square"/>
                    <a:lstStyle/>
                    <a:p>
                      <a:pPr algn="l"/>
                      <a:r>
                        <a:rPr sz="900" i="0" b="1">
                          <a:solidFill>
                            <a:srgbClr val="0E2841"/>
                          </a:solidFill>
                          <a:latin typeface="Arial"/>
                        </a:rPr>
                        <a:t>U_dc(t) &lt; 780 V DC</a:t>
                      </a:r>
                      <a:r>
                        <a:rPr sz="900" i="0" b="1">
                          <a:solidFill>
                            <a:srgbClr val="1B1B1B"/>
                          </a:solidFill>
                          <a:latin typeface="Arial"/>
                        </a:rPr>
                        <a:t> trong suốt quá trình hãm đầy tải </a:t>
                      </a:r>
                      <a:r>
                        <a:rPr sz="900" i="0" b="1">
                          <a:solidFill>
                            <a:srgbClr val="0E2841"/>
                          </a:solidFill>
                          <a:latin typeface="Arial"/>
                        </a:rPr>
                        <a:t>M_Σ = 14,244 kg</a:t>
                      </a:r>
                      <a:r>
                        <a:rPr sz="900" i="0" b="1">
                          <a:solidFill>
                            <a:srgbClr val="1B1B1B"/>
                          </a:solidFill>
                          <a:latin typeface="Arial"/>
                        </a:rPr>
                        <a:t>.</a:t>
                      </a:r>
                    </a:p>
                  </a:txBody>
                  <a:tcPr anchor="ctr" marT="19050" marB="19050" marL="50800" marR="50800">
                    <a:solidFill>
                      <a:srgbClr val="FDEDEC"/>
                    </a:solidFill>
                  </a:tcPr>
                </a:tc>
                <a:tc>
                  <a:txBody>
                    <a:bodyPr wrap="square"/>
                    <a:lstStyle/>
                    <a:p>
                      <a:pPr algn="l"/>
                      <a:r>
                        <a:rPr sz="900" i="0" b="1">
                          <a:solidFill>
                            <a:srgbClr val="0E2841"/>
                          </a:solidFill>
                          <a:latin typeface="Arial"/>
                        </a:rPr>
                        <a:t>SRS-FUNC-06</a:t>
                      </a:r>
                      <a:r>
                        <a:rPr sz="900" i="0" b="1">
                          <a:solidFill>
                            <a:srgbClr val="1B1B1B"/>
                          </a:solidFill>
                          <a:latin typeface="Arial"/>
                        </a:rPr>
                        <a:t>
</a:t>
                      </a:r>
                      <a:r>
                        <a:rPr sz="900" i="0" b="1">
                          <a:solidFill>
                            <a:srgbClr val="0E2841"/>
                          </a:solidFill>
                          <a:latin typeface="Arial"/>
                        </a:rPr>
                        <a:t>DVP-L0-06</a:t>
                      </a:r>
                    </a:p>
                  </a:txBody>
                  <a:tcPr anchor="ctr" marT="19050" marB="19050" marL="50800" marR="50800">
                    <a:solidFill>
                      <a:srgbClr val="FDEDEC"/>
                    </a:solidFill>
                  </a:tcPr>
                </a:tc>
              </a:tr>
              <a:tr h="689274">
                <a:tc>
                  <a:txBody>
                    <a:bodyPr wrap="square"/>
                    <a:lstStyle/>
                    <a:p>
                      <a:pPr algn="ctr"/>
                      <a:r>
                        <a:rPr sz="900" i="0" b="1">
                          <a:solidFill>
                            <a:srgbClr val="C00000"/>
                          </a:solidFill>
                          <a:latin typeface="Arial"/>
                        </a:rPr>
                        <a:t>CTS-05</a:t>
                      </a:r>
                    </a:p>
                  </a:txBody>
                  <a:tcPr anchor="ctr" marT="19050" marB="19050" marL="50800" marR="50800">
                    <a:solidFill>
                      <a:srgbClr val="FDEDEC"/>
                    </a:solidFill>
                  </a:tcPr>
                </a:tc>
                <a:tc>
                  <a:txBody>
                    <a:bodyPr wrap="square"/>
                    <a:lstStyle/>
                    <a:p>
                      <a:pPr algn="l"/>
                      <a:r>
                        <a:rPr sz="900" i="0" b="1">
                          <a:solidFill>
                            <a:srgbClr val="0E2841"/>
                          </a:solidFill>
                          <a:latin typeface="Arial"/>
                        </a:rPr>
                        <a:t>Chống trượt bánh xe &amp; Chống cộng hưởng lắc cáp</a:t>
                      </a:r>
                      <a:r>
                        <a:rPr sz="900" i="0" b="1">
                          <a:solidFill>
                            <a:srgbClr val="1B1B1B"/>
                          </a:solidFill>
                          <a:latin typeface="Arial"/>
                        </a:rPr>
                        <a:t>
(Giới hạn cứng gia tốc và độ giật S-Curve)</a:t>
                      </a:r>
                    </a:p>
                  </a:txBody>
                  <a:tcPr anchor="ctr" marT="19050" marB="19050" marL="50800" marR="50800">
                    <a:solidFill>
                      <a:srgbClr val="FDEDEC"/>
                    </a:solidFill>
                  </a:tcPr>
                </a:tc>
                <a:tc>
                  <a:txBody>
                    <a:bodyPr wrap="square"/>
                    <a:lstStyle/>
                    <a:p>
                      <a:pPr algn="l"/>
                      <a:r>
                        <a:rPr sz="900" i="0" b="1">
                          <a:solidFill>
                            <a:srgbClr val="0E2841"/>
                          </a:solidFill>
                          <a:latin typeface="Arial"/>
                        </a:rPr>
                        <a:t>|a(t)| ≤ 0.50 m/s²</a:t>
                      </a:r>
                      <a:r>
                        <a:rPr sz="900" i="0" b="1">
                          <a:solidFill>
                            <a:srgbClr val="1B1B1B"/>
                          </a:solidFill>
                          <a:latin typeface="Arial"/>
                        </a:rPr>
                        <a:t> (</a:t>
                      </a:r>
                      <a:r>
                        <a:rPr sz="900" i="0" b="1">
                          <a:solidFill>
                            <a:srgbClr val="0E2841"/>
                          </a:solidFill>
                          <a:latin typeface="Arial"/>
                        </a:rPr>
                        <a:t>&lt; μg = 1.962 m/s²</a:t>
                      </a:r>
                      <a:r>
                        <a:rPr sz="900" i="0" b="1">
                          <a:solidFill>
                            <a:srgbClr val="1B1B1B"/>
                          </a:solidFill>
                          <a:latin typeface="Arial"/>
                        </a:rPr>
                        <a:t>) và </a:t>
                      </a:r>
                      <a:r>
                        <a:rPr sz="900" i="0" b="1">
                          <a:solidFill>
                            <a:srgbClr val="0E2841"/>
                          </a:solidFill>
                          <a:latin typeface="Arial"/>
                        </a:rPr>
                        <a:t>|ρ(t)| ≤ 2.00 m/s³</a:t>
                      </a:r>
                      <a:r>
                        <a:rPr sz="900" i="0" b="1">
                          <a:solidFill>
                            <a:srgbClr val="1B1B1B"/>
                          </a:solidFill>
                          <a:latin typeface="Arial"/>
                        </a:rPr>
                        <a:t>.</a:t>
                      </a:r>
                    </a:p>
                  </a:txBody>
                  <a:tcPr anchor="ctr" marT="19050" marB="19050" marL="50800" marR="50800">
                    <a:solidFill>
                      <a:srgbClr val="FDEDEC"/>
                    </a:solidFill>
                  </a:tcPr>
                </a:tc>
                <a:tc>
                  <a:txBody>
                    <a:bodyPr wrap="square"/>
                    <a:lstStyle/>
                    <a:p>
                      <a:pPr algn="l"/>
                      <a:r>
                        <a:rPr sz="900" i="0" b="1">
                          <a:solidFill>
                            <a:srgbClr val="0E2841"/>
                          </a:solidFill>
                          <a:latin typeface="Arial"/>
                        </a:rPr>
                        <a:t>SRS-PERM-03</a:t>
                      </a:r>
                      <a:r>
                        <a:rPr sz="900" i="0" b="1">
                          <a:solidFill>
                            <a:srgbClr val="1B1B1B"/>
                          </a:solidFill>
                          <a:latin typeface="Arial"/>
                        </a:rPr>
                        <a:t>
</a:t>
                      </a:r>
                      <a:r>
                        <a:rPr sz="900" i="0" b="1">
                          <a:solidFill>
                            <a:srgbClr val="0E2841"/>
                          </a:solidFill>
                          <a:latin typeface="Arial"/>
                        </a:rPr>
                        <a:t>DVP-L0-10</a:t>
                      </a:r>
                    </a:p>
                  </a:txBody>
                  <a:tcPr anchor="ctr" marT="19050" marB="19050" marL="50800" marR="50800">
                    <a:solidFill>
                      <a:srgbClr val="FDEDEC"/>
                    </a:solidFill>
                  </a:tcPr>
                </a:tc>
              </a:tr>
            </a:tbl>
          </a:graphicData>
        </a:graphic>
      </p:graphicFrame>
      <p:sp>
        <p:nvSpPr>
          <p:cNvPr id="7" name="Rounded Rectangle 6"/>
          <p:cNvSpPr/>
          <p:nvPr/>
        </p:nvSpPr>
        <p:spPr>
          <a:xfrm>
            <a:off x="6419088" y="5303520"/>
            <a:ext cx="5458968" cy="896112"/>
          </a:xfrm>
          <a:prstGeom prst="roundRect">
            <a:avLst>
              <a:gd name="adj" fmla="val 3000"/>
            </a:avLst>
          </a:prstGeom>
          <a:solidFill>
            <a:srgbClr val="FDEDEC"/>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80" b="1">
                <a:solidFill>
                  <a:srgbClr val="C00000"/>
                </a:solidFill>
                <a:latin typeface="Arial"/>
              </a:rPr>
              <a:t>TẠI SAO TÍCH HỢP 5 CTS VÀO TẬP SRS-FUNC &amp; SRS-PERM?</a:t>
            </a:r>
          </a:p>
          <a:p>
            <a:pPr>
              <a:spcAft>
                <a:spcPts val="150"/>
              </a:spcAft>
            </a:pPr>
            <a:r>
              <a:rPr sz="980" i="0" b="0">
                <a:solidFill>
                  <a:srgbClr val="1B1B1B"/>
                </a:solidFill>
                <a:latin typeface="Arial"/>
              </a:rPr>
              <a:t>• Theo </a:t>
            </a:r>
            <a:r>
              <a:rPr sz="980" i="0" b="1">
                <a:solidFill>
                  <a:srgbClr val="0E2841"/>
                </a:solidFill>
                <a:latin typeface="Arial"/>
              </a:rPr>
              <a:t>IEEE 29148</a:t>
            </a:r>
            <a:r>
              <a:rPr sz="980" i="0" b="0">
                <a:solidFill>
                  <a:srgbClr val="1B1B1B"/>
                </a:solidFill>
                <a:latin typeface="Arial"/>
              </a:rPr>
              <a:t>, mọi cơ chế an toàn mức hệ thống truyền động đều phải biểu diễn được bằng </a:t>
            </a:r>
            <a:r>
              <a:rPr sz="980" i="0" b="1">
                <a:solidFill>
                  <a:srgbClr val="0E2841"/>
                </a:solidFill>
                <a:latin typeface="Arial"/>
              </a:rPr>
              <a:t>Logic trạng thái (FUNC)</a:t>
            </a:r>
            <a:r>
              <a:rPr sz="980" i="0" b="0">
                <a:solidFill>
                  <a:srgbClr val="1B1B1B"/>
                </a:solidFill>
                <a:latin typeface="Arial"/>
              </a:rPr>
              <a:t> hoặc </a:t>
            </a:r>
            <a:r>
              <a:rPr sz="980" i="0" b="1">
                <a:solidFill>
                  <a:srgbClr val="0E2841"/>
                </a:solidFill>
                <a:latin typeface="Arial"/>
              </a:rPr>
              <a:t>Giới hạn vật lý đo được (PERM)</a:t>
            </a:r>
            <a:r>
              <a:rPr sz="980" i="0" b="0">
                <a:solidFill>
                  <a:srgbClr val="1B1B1B"/>
                </a:solidFill>
                <a:latin typeface="Arial"/>
              </a:rPr>
              <a:t> để kiểm chứng trực tiếp bằng xung mô phỏng trên </a:t>
            </a:r>
            <a:r>
              <a:rPr sz="980" i="0" b="1">
                <a:solidFill>
                  <a:srgbClr val="0E2841"/>
                </a:solidFill>
                <a:latin typeface="Arial"/>
              </a:rPr>
              <a:t>MATLAB/Simulink</a:t>
            </a:r>
            <a:r>
              <a:rPr sz="980" i="0" b="0">
                <a:solidFill>
                  <a:srgbClr val="1B1B1B"/>
                </a:solidFill>
                <a:latin typeface="Arial"/>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6. PHƯƠNG PHÁP PHÂN RÃ YÊU CẦU NGUYÊN TỬ (SOW-1.2 — IEEE 29148)</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Chuẩn hóa cú pháp </a:t>
            </a:r>
            <a:r>
              <a:rPr sz="1350" i="0" b="1">
                <a:solidFill>
                  <a:srgbClr val="0E2841"/>
                </a:solidFill>
                <a:latin typeface="Arial"/>
              </a:rPr>
              <a:t>5 thành phần bắt buộc</a:t>
            </a:r>
            <a:r>
              <a:rPr sz="1350" i="0" b="1">
                <a:solidFill>
                  <a:srgbClr val="C00000"/>
                </a:solidFill>
                <a:latin typeface="Arial"/>
              </a:rPr>
              <a:t> — Giải trình quy luật phân rã </a:t>
            </a:r>
            <a:r>
              <a:rPr sz="1350" i="0" b="1">
                <a:solidFill>
                  <a:srgbClr val="0E2841"/>
                </a:solidFill>
                <a:latin typeface="Arial"/>
              </a:rPr>
              <a:t>8 PRD + 8 HoQ EC → 14 SRS nguyên tử</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SOW-1.2 — Atomic Decomposition Methodology (IEEE 29148) | Slide 07 / 16</a:t>
            </a:r>
          </a:p>
        </p:txBody>
      </p:sp>
      <p:sp>
        <p:nvSpPr>
          <p:cNvPr id="5" name="Rounded Rectangle 4"/>
          <p:cNvSpPr/>
          <p:nvPr/>
        </p:nvSpPr>
        <p:spPr>
          <a:xfrm>
            <a:off x="310896" y="1243584"/>
            <a:ext cx="2194560" cy="658368"/>
          </a:xfrm>
          <a:prstGeom prst="roundRect">
            <a:avLst>
              <a:gd name="adj" fmla="val 6000"/>
            </a:avLst>
          </a:prstGeom>
          <a:solidFill>
            <a:srgbClr val="0E2841"/>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Arial"/>
              </a:rPr>
              <a:t>1. ĐIỀU KIỆN (Condition)</a:t>
            </a:r>
          </a:p>
          <a:p>
            <a:pPr algn="ctr">
              <a:spcBef>
                <a:spcPts val="100"/>
              </a:spcBef>
            </a:pPr>
            <a:r>
              <a:rPr sz="880" b="0">
                <a:solidFill>
                  <a:srgbClr val="FFFFFF"/>
                </a:solidFill>
                <a:latin typeface="Arial"/>
              </a:rPr>
              <a:t>Khi [trạng thái vận hành /
tổ hợp nhiễu N1..N4 xảy ra]</a:t>
            </a:r>
          </a:p>
        </p:txBody>
      </p:sp>
      <p:sp>
        <p:nvSpPr>
          <p:cNvPr id="6" name="Right Arrow 5"/>
          <p:cNvSpPr/>
          <p:nvPr/>
        </p:nvSpPr>
        <p:spPr>
          <a:xfrm>
            <a:off x="2523744" y="1463040"/>
            <a:ext cx="109728" cy="201168"/>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1243584"/>
            <a:ext cx="2194560" cy="658368"/>
          </a:xfrm>
          <a:prstGeom prst="roundRect">
            <a:avLst>
              <a:gd name="adj" fmla="val 6000"/>
            </a:avLst>
          </a:prstGeom>
          <a:solidFill>
            <a:srgbClr val="156082"/>
          </a:solidFill>
          <a:ln w="158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Arial"/>
              </a:rPr>
              <a:t>2. CHỦ THỂ (Subject)</a:t>
            </a:r>
          </a:p>
          <a:p>
            <a:pPr algn="ctr">
              <a:spcBef>
                <a:spcPts val="100"/>
              </a:spcBef>
            </a:pPr>
            <a:r>
              <a:rPr sz="880" b="0">
                <a:solidFill>
                  <a:srgbClr val="FFFFFF"/>
                </a:solidFill>
                <a:latin typeface="Arial"/>
              </a:rPr>
              <a:t>[Hệ truyền động / Biến tần /
Bộ điều khiển / Cơ cấu phanh]</a:t>
            </a:r>
          </a:p>
        </p:txBody>
      </p:sp>
      <p:sp>
        <p:nvSpPr>
          <p:cNvPr id="8" name="Right Arrow 7"/>
          <p:cNvSpPr/>
          <p:nvPr/>
        </p:nvSpPr>
        <p:spPr>
          <a:xfrm>
            <a:off x="4864607" y="1463040"/>
            <a:ext cx="109728" cy="201168"/>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92624" y="1243584"/>
            <a:ext cx="2194560" cy="658368"/>
          </a:xfrm>
          <a:prstGeom prst="roundRect">
            <a:avLst>
              <a:gd name="adj" fmla="val 6000"/>
            </a:avLst>
          </a:prstGeom>
          <a:solidFill>
            <a:srgbClr val="C00000"/>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Arial"/>
              </a:rPr>
              <a:t>3. ĐỘNG TỪ (Action)</a:t>
            </a:r>
          </a:p>
          <a:p>
            <a:pPr algn="ctr">
              <a:spcBef>
                <a:spcPts val="100"/>
              </a:spcBef>
            </a:pPr>
            <a:r>
              <a:rPr sz="880" b="0">
                <a:solidFill>
                  <a:srgbClr val="FFFFFF"/>
                </a:solidFill>
                <a:latin typeface="Arial"/>
              </a:rPr>
              <a:t>PHẢI (SHALL)
(Bắt buộc 100% — Cấm dùng 'nên')</a:t>
            </a:r>
          </a:p>
        </p:txBody>
      </p:sp>
      <p:sp>
        <p:nvSpPr>
          <p:cNvPr id="10" name="Right Arrow 9"/>
          <p:cNvSpPr/>
          <p:nvPr/>
        </p:nvSpPr>
        <p:spPr>
          <a:xfrm>
            <a:off x="7205471" y="1463040"/>
            <a:ext cx="109728" cy="201168"/>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33488" y="1243584"/>
            <a:ext cx="2194560" cy="658368"/>
          </a:xfrm>
          <a:prstGeom prst="roundRect">
            <a:avLst>
              <a:gd name="adj" fmla="val 6000"/>
            </a:avLst>
          </a:prstGeom>
          <a:solidFill>
            <a:srgbClr val="0F766E"/>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Arial"/>
              </a:rPr>
              <a:t>4. ĐỐI TƯỢNG &amp; NGƯỠNG</a:t>
            </a:r>
          </a:p>
          <a:p>
            <a:pPr algn="ctr">
              <a:spcBef>
                <a:spcPts val="100"/>
              </a:spcBef>
            </a:pPr>
            <a:r>
              <a:rPr sz="880" b="0">
                <a:solidFill>
                  <a:srgbClr val="FFFFFF"/>
                </a:solidFill>
                <a:latin typeface="Arial"/>
              </a:rPr>
              <a:t>[Thực hiện hành động cụ thể
với đại lượng vật lý định lượng]</a:t>
            </a:r>
          </a:p>
        </p:txBody>
      </p:sp>
      <p:sp>
        <p:nvSpPr>
          <p:cNvPr id="12" name="Right Arrow 11"/>
          <p:cNvSpPr/>
          <p:nvPr/>
        </p:nvSpPr>
        <p:spPr>
          <a:xfrm>
            <a:off x="9546336" y="1463040"/>
            <a:ext cx="109728" cy="201168"/>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74352" y="1243584"/>
            <a:ext cx="2194560" cy="658368"/>
          </a:xfrm>
          <a:prstGeom prst="roundRect">
            <a:avLst>
              <a:gd name="adj" fmla="val 6000"/>
            </a:avLst>
          </a:prstGeom>
          <a:solidFill>
            <a:srgbClr val="196B24"/>
          </a:solidFill>
          <a:ln w="15875">
            <a:solidFill>
              <a:srgbClr val="196B24"/>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00" b="1">
                <a:solidFill>
                  <a:srgbClr val="FFFFFF"/>
                </a:solidFill>
                <a:latin typeface="Arial"/>
              </a:rPr>
              <a:t>5. DUNG SAI &amp; THỜI GIAN</a:t>
            </a:r>
          </a:p>
          <a:p>
            <a:pPr algn="ctr">
              <a:spcBef>
                <a:spcPts val="100"/>
              </a:spcBef>
            </a:pPr>
            <a:r>
              <a:rPr sz="880" b="0">
                <a:solidFill>
                  <a:srgbClr val="FFFFFF"/>
                </a:solidFill>
                <a:latin typeface="Arial"/>
              </a:rPr>
              <a:t>[Trong dải ±Δ và khoảng
thời gian đáp ứng xác định]</a:t>
            </a:r>
          </a:p>
        </p:txBody>
      </p:sp>
      <p:graphicFrame>
        <p:nvGraphicFramePr>
          <p:cNvPr id="14" name="Table 13"/>
          <p:cNvGraphicFramePr>
            <a:graphicFrameLocks noGrp="1"/>
          </p:cNvGraphicFramePr>
          <p:nvPr/>
        </p:nvGraphicFramePr>
        <p:xfrm>
          <a:off x="310896" y="1956816"/>
          <a:ext cx="11567159" cy="3799144"/>
        </p:xfrm>
        <a:graphic>
          <a:graphicData uri="http://schemas.openxmlformats.org/drawingml/2006/table">
            <a:tbl>
              <a:tblPr firstRow="1" bandRow="1">
                <a:tableStyleId>{5C22544A-7EE6-4342-B048-85BDC9FD1C3A}</a:tableStyleId>
              </a:tblPr>
              <a:tblGrid>
                <a:gridCol w="1325880"/>
                <a:gridCol w="777240"/>
                <a:gridCol w="2834640"/>
                <a:gridCol w="2880360"/>
                <a:gridCol w="3749039"/>
              </a:tblGrid>
              <a:tr h="292608">
                <a:tc>
                  <a:txBody>
                    <a:bodyPr wrap="square"/>
                    <a:lstStyle/>
                    <a:p>
                      <a:pPr algn="ctr"/>
                      <a:r>
                        <a:rPr sz="1000" b="1">
                          <a:solidFill>
                            <a:srgbClr val="FFFFFF"/>
                          </a:solidFill>
                          <a:latin typeface="Arial"/>
                        </a:rPr>
                        <a:t>Mã PRD (Khối 0)</a:t>
                      </a:r>
                    </a:p>
                  </a:txBody>
                  <a:tcPr anchor="ctr" marT="19050" marB="19050" marL="50800" marR="50800">
                    <a:solidFill>
                      <a:srgbClr val="0E2841"/>
                    </a:solidFill>
                  </a:tcPr>
                </a:tc>
                <a:tc>
                  <a:txBody>
                    <a:bodyPr wrap="square"/>
                    <a:lstStyle/>
                    <a:p>
                      <a:pPr algn="ctr"/>
                      <a:r>
                        <a:rPr sz="1000" b="1">
                          <a:solidFill>
                            <a:srgbClr val="FFFFFF"/>
                          </a:solidFill>
                          <a:latin typeface="Arial"/>
                        </a:rPr>
                        <a:t>Tỷ lệ tách</a:t>
                      </a:r>
                    </a:p>
                  </a:txBody>
                  <a:tcPr anchor="ctr" marT="19050" marB="19050" marL="50800" marR="50800">
                    <a:solidFill>
                      <a:srgbClr val="0E2841"/>
                    </a:solidFill>
                  </a:tcPr>
                </a:tc>
                <a:tc>
                  <a:txBody>
                    <a:bodyPr wrap="square"/>
                    <a:lstStyle/>
                    <a:p>
                      <a:pPr algn="ctr"/>
                      <a:r>
                        <a:rPr sz="1000" b="1">
                          <a:solidFill>
                            <a:srgbClr val="FFFFFF"/>
                          </a:solidFill>
                          <a:latin typeface="Arial"/>
                        </a:rPr>
                        <a:t>Yêu cầu Chức năng (SRS-FUNC)</a:t>
                      </a:r>
                    </a:p>
                  </a:txBody>
                  <a:tcPr anchor="ctr" marT="19050" marB="19050" marL="50800" marR="50800">
                    <a:solidFill>
                      <a:srgbClr val="0E2841"/>
                    </a:solidFill>
                  </a:tcPr>
                </a:tc>
                <a:tc>
                  <a:txBody>
                    <a:bodyPr wrap="square"/>
                    <a:lstStyle/>
                    <a:p>
                      <a:pPr algn="ctr"/>
                      <a:r>
                        <a:rPr sz="1000" b="1">
                          <a:solidFill>
                            <a:srgbClr val="FFFFFF"/>
                          </a:solidFill>
                          <a:latin typeface="Arial"/>
                        </a:rPr>
                        <a:t>Yêu cầu Hiệu năng (SRS-PERM)</a:t>
                      </a:r>
                    </a:p>
                  </a:txBody>
                  <a:tcPr anchor="ctr" marT="19050" marB="19050" marL="50800" marR="50800">
                    <a:solidFill>
                      <a:srgbClr val="0E2841"/>
                    </a:solidFill>
                  </a:tcPr>
                </a:tc>
                <a:tc>
                  <a:txBody>
                    <a:bodyPr wrap="square"/>
                    <a:lstStyle/>
                    <a:p>
                      <a:pPr algn="ctr"/>
                      <a:r>
                        <a:rPr sz="1000" b="1">
                          <a:solidFill>
                            <a:srgbClr val="FFFFFF"/>
                          </a:solidFill>
                          <a:latin typeface="Arial"/>
                        </a:rPr>
                        <a:t>Lý do Kỹ thuật Phân tách Nguyên tử (IEEE 29148 §5.2.5)</a:t>
                      </a:r>
                    </a:p>
                  </a:txBody>
                  <a:tcPr anchor="ctr" marT="19050" marB="19050" marL="50800" marR="50800">
                    <a:solidFill>
                      <a:srgbClr val="0E2841"/>
                    </a:solidFill>
                  </a:tcPr>
                </a:tc>
              </a:tr>
              <a:tr h="438317">
                <a:tc>
                  <a:txBody>
                    <a:bodyPr wrap="square"/>
                    <a:lstStyle/>
                    <a:p>
                      <a:pPr algn="ctr"/>
                      <a:r>
                        <a:rPr sz="860" i="0" b="1">
                          <a:solidFill>
                            <a:srgbClr val="0E2841"/>
                          </a:solidFill>
                          <a:latin typeface="Arial"/>
                        </a:rPr>
                        <a:t>PRD-01</a:t>
                      </a:r>
                      <a:r>
                        <a:rPr sz="860" i="0" b="1">
                          <a:solidFill>
                            <a:srgbClr val="C00000"/>
                          </a:solidFill>
                          <a:latin typeface="Arial"/>
                        </a:rPr>
                        <a:t>
Di chuyển 2 chiều</a:t>
                      </a:r>
                    </a:p>
                  </a:txBody>
                  <a:tcPr anchor="ctr" marT="19050" marB="19050" marL="50800" marR="50800">
                    <a:solidFill>
                      <a:srgbClr val="FEF9E7"/>
                    </a:solidFill>
                  </a:tcPr>
                </a:tc>
                <a:tc>
                  <a:txBody>
                    <a:bodyPr wrap="square"/>
                    <a:lstStyle/>
                    <a:p>
                      <a:pPr algn="l"/>
                      <a:r>
                        <a:rPr sz="860" i="0" b="1">
                          <a:solidFill>
                            <a:srgbClr val="0E2841"/>
                          </a:solidFill>
                          <a:latin typeface="Arial"/>
                        </a:rPr>
                        <a:t>1 → 2</a:t>
                      </a:r>
                    </a:p>
                  </a:txBody>
                  <a:tcPr anchor="ctr" marT="19050" marB="19050" marL="50800" marR="50800">
                    <a:solidFill>
                      <a:srgbClr val="FEF9E7"/>
                    </a:solidFill>
                  </a:tcPr>
                </a:tc>
                <a:tc>
                  <a:txBody>
                    <a:bodyPr wrap="square"/>
                    <a:lstStyle/>
                    <a:p>
                      <a:pPr algn="l"/>
                      <a:r>
                        <a:rPr sz="860" i="0" b="1">
                          <a:solidFill>
                            <a:srgbClr val="0E2841"/>
                          </a:solidFill>
                          <a:latin typeface="Arial"/>
                        </a:rPr>
                        <a:t>SRS-FUNC-01:</a:t>
                      </a:r>
                      <a:r>
                        <a:rPr sz="860" i="0" b="1">
                          <a:solidFill>
                            <a:srgbClr val="1B1B1B"/>
                          </a:solidFill>
                          <a:latin typeface="Arial"/>
                        </a:rPr>
                        <a:t> Logic 2 chiều &amp; Khóa liên động đảo chiều tại </a:t>
                      </a:r>
                      <a:r>
                        <a:rPr sz="860" i="0" b="1">
                          <a:solidFill>
                            <a:srgbClr val="0E2841"/>
                          </a:solidFill>
                          <a:latin typeface="Arial"/>
                        </a:rPr>
                        <a:t>v = 0</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0E2841"/>
                          </a:solidFill>
                          <a:latin typeface="Arial"/>
                        </a:rPr>
                        <a:t>SRS-PERM-07:</a:t>
                      </a:r>
                      <a:r>
                        <a:rPr sz="860" i="0" b="1">
                          <a:solidFill>
                            <a:srgbClr val="1B1B1B"/>
                          </a:solidFill>
                          <a:latin typeface="Arial"/>
                        </a:rPr>
                        <a:t> Tương thích cơ học </a:t>
                      </a:r>
                      <a:r>
                        <a:rPr sz="860" i="0" b="1">
                          <a:solidFill>
                            <a:srgbClr val="0E2841"/>
                          </a:solidFill>
                          <a:latin typeface="Arial"/>
                        </a:rPr>
                        <a:t>d = 0.25 m</a:t>
                      </a:r>
                      <a:r>
                        <a:rPr sz="860" i="0" b="1">
                          <a:solidFill>
                            <a:srgbClr val="1B1B1B"/>
                          </a:solidFill>
                          <a:latin typeface="Arial"/>
                        </a:rPr>
                        <a:t>, </a:t>
                      </a:r>
                      <a:r>
                        <a:rPr sz="860" i="0" b="1">
                          <a:solidFill>
                            <a:srgbClr val="0E2841"/>
                          </a:solidFill>
                          <a:latin typeface="Arial"/>
                        </a:rPr>
                        <a:t>η = 0.96</a:t>
                      </a:r>
                      <a:r>
                        <a:rPr sz="860" i="0" b="1">
                          <a:solidFill>
                            <a:srgbClr val="1B1B1B"/>
                          </a:solidFill>
                          <a:latin typeface="Arial"/>
                        </a:rPr>
                        <a:t>, </a:t>
                      </a:r>
                      <a:r>
                        <a:rPr sz="860" i="0" b="1">
                          <a:solidFill>
                            <a:srgbClr val="0E2841"/>
                          </a:solidFill>
                          <a:latin typeface="Arial"/>
                        </a:rPr>
                        <a:t>M_Σ = 14,244 kg</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Tách biệt </a:t>
                      </a:r>
                      <a:r>
                        <a:rPr sz="860" i="0" b="1">
                          <a:solidFill>
                            <a:srgbClr val="0E2841"/>
                          </a:solidFill>
                          <a:latin typeface="Arial"/>
                        </a:rPr>
                        <a:t>logic bảo vệ đảo chiều</a:t>
                      </a:r>
                      <a:r>
                        <a:rPr sz="860" i="0" b="1">
                          <a:solidFill>
                            <a:srgbClr val="1B1B1B"/>
                          </a:solidFill>
                          <a:latin typeface="Arial"/>
                        </a:rPr>
                        <a:t> và </a:t>
                      </a:r>
                      <a:r>
                        <a:rPr sz="860" i="0" b="1">
                          <a:solidFill>
                            <a:srgbClr val="0E2841"/>
                          </a:solidFill>
                          <a:latin typeface="Arial"/>
                        </a:rPr>
                        <a:t>bài toán tính chọn tỷ số truyền cơ khí</a:t>
                      </a:r>
                      <a:r>
                        <a:rPr sz="860" i="0" b="1">
                          <a:solidFill>
                            <a:srgbClr val="1B1B1B"/>
                          </a:solidFill>
                          <a:latin typeface="Arial"/>
                        </a:rPr>
                        <a:t>.</a:t>
                      </a:r>
                    </a:p>
                  </a:txBody>
                  <a:tcPr anchor="ctr" marT="19050" marB="19050" marL="50800" marR="50800">
                    <a:solidFill>
                      <a:srgbClr val="FEF9E7"/>
                    </a:solidFill>
                  </a:tcPr>
                </a:tc>
              </a:tr>
              <a:tr h="438317">
                <a:tc>
                  <a:txBody>
                    <a:bodyPr wrap="square"/>
                    <a:lstStyle/>
                    <a:p>
                      <a:pPr algn="ctr"/>
                      <a:r>
                        <a:rPr sz="860" i="0" b="1">
                          <a:solidFill>
                            <a:srgbClr val="0E2841"/>
                          </a:solidFill>
                          <a:latin typeface="Arial"/>
                        </a:rPr>
                        <a:t>PRD-02</a:t>
                      </a:r>
                      <a:r>
                        <a:rPr sz="860" i="0" b="1">
                          <a:solidFill>
                            <a:srgbClr val="C00000"/>
                          </a:solidFill>
                          <a:latin typeface="Arial"/>
                        </a:rPr>
                        <a:t>
Chạy chính &amp; Creep</a:t>
                      </a:r>
                    </a:p>
                  </a:txBody>
                  <a:tcPr anchor="ctr" marT="19050" marB="19050" marL="50800" marR="50800">
                    <a:solidFill>
                      <a:srgbClr val="FEF9E7"/>
                    </a:solidFill>
                  </a:tcPr>
                </a:tc>
                <a:tc>
                  <a:txBody>
                    <a:bodyPr wrap="square"/>
                    <a:lstStyle/>
                    <a:p>
                      <a:pPr algn="l"/>
                      <a:r>
                        <a:rPr sz="860" i="0" b="1">
                          <a:solidFill>
                            <a:srgbClr val="0E2841"/>
                          </a:solidFill>
                          <a:latin typeface="Arial"/>
                        </a:rPr>
                        <a:t>1 → 3</a:t>
                      </a:r>
                    </a:p>
                  </a:txBody>
                  <a:tcPr anchor="ctr" marT="19050" marB="19050" marL="50800" marR="50800">
                    <a:solidFill>
                      <a:srgbClr val="FEF9E7"/>
                    </a:solidFill>
                  </a:tcPr>
                </a:tc>
                <a:tc>
                  <a:txBody>
                    <a:bodyPr wrap="square"/>
                    <a:lstStyle/>
                    <a:p>
                      <a:pPr algn="l"/>
                      <a:r>
                        <a:rPr sz="860" i="0" b="1">
                          <a:solidFill>
                            <a:srgbClr val="0E2841"/>
                          </a:solidFill>
                          <a:latin typeface="Arial"/>
                        </a:rPr>
                        <a:t>SRS-FUNC-02:</a:t>
                      </a:r>
                      <a:r>
                        <a:rPr sz="860" i="0" b="1">
                          <a:solidFill>
                            <a:srgbClr val="1B1B1B"/>
                          </a:solidFill>
                          <a:latin typeface="Arial"/>
                        </a:rPr>
                        <a:t> Nội suy đa cấp tốc độ.
</a:t>
                      </a:r>
                      <a:r>
                        <a:rPr sz="860" i="0" b="1">
                          <a:solidFill>
                            <a:srgbClr val="0E2841"/>
                          </a:solidFill>
                          <a:latin typeface="Arial"/>
                        </a:rPr>
                        <a:t>SRS-FUNC-05:</a:t>
                      </a:r>
                      <a:r>
                        <a:rPr sz="860" i="0" b="1">
                          <a:solidFill>
                            <a:srgbClr val="1B1B1B"/>
                          </a:solidFill>
                          <a:latin typeface="Arial"/>
                        </a:rPr>
                        <a:t> Vòng kín </a:t>
                      </a:r>
                      <a:r>
                        <a:rPr sz="860" i="0" b="1">
                          <a:solidFill>
                            <a:srgbClr val="0E2841"/>
                          </a:solidFill>
                          <a:latin typeface="Arial"/>
                        </a:rPr>
                        <a:t>FOC + Encoder</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0E2841"/>
                          </a:solidFill>
                          <a:latin typeface="Arial"/>
                        </a:rPr>
                        <a:t>SRS-PERM-02:</a:t>
                      </a:r>
                      <a:r>
                        <a:rPr sz="860" i="0" b="1">
                          <a:solidFill>
                            <a:srgbClr val="1B1B1B"/>
                          </a:solidFill>
                          <a:latin typeface="Arial"/>
                        </a:rPr>
                        <a:t> Bám tốc độ bò </a:t>
                      </a:r>
                      <a:r>
                        <a:rPr sz="860" i="0" b="1">
                          <a:solidFill>
                            <a:srgbClr val="0E2841"/>
                          </a:solidFill>
                          <a:latin typeface="Arial"/>
                        </a:rPr>
                        <a:t>v_creep ∈ [0.030; 0.036] m/s</a:t>
                      </a:r>
                      <a:r>
                        <a:rPr sz="860" i="0" b="1">
                          <a:solidFill>
                            <a:srgbClr val="1B1B1B"/>
                          </a:solidFill>
                          <a:latin typeface="Arial"/>
                        </a:rPr>
                        <a:t>, dải </a:t>
                      </a:r>
                      <a:r>
                        <a:rPr sz="860" i="0" b="1">
                          <a:solidFill>
                            <a:srgbClr val="0E2841"/>
                          </a:solidFill>
                          <a:latin typeface="Arial"/>
                        </a:rPr>
                        <a:t>D ≥ 10:1</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Tách biệt </a:t>
                      </a:r>
                      <a:r>
                        <a:rPr sz="860" i="0" b="1">
                          <a:solidFill>
                            <a:srgbClr val="0E2841"/>
                          </a:solidFill>
                          <a:latin typeface="Arial"/>
                        </a:rPr>
                        <a:t>thuật toán phát lệnh</a:t>
                      </a:r>
                      <a:r>
                        <a:rPr sz="860" i="0" b="1">
                          <a:solidFill>
                            <a:srgbClr val="1B1B1B"/>
                          </a:solidFill>
                          <a:latin typeface="Arial"/>
                        </a:rPr>
                        <a:t>, </a:t>
                      </a:r>
                      <a:r>
                        <a:rPr sz="860" i="0" b="1">
                          <a:solidFill>
                            <a:srgbClr val="0E2841"/>
                          </a:solidFill>
                          <a:latin typeface="Arial"/>
                        </a:rPr>
                        <a:t>cấu trúc tách kênh i_sd/i_sq</a:t>
                      </a:r>
                      <a:r>
                        <a:rPr sz="860" i="0" b="1">
                          <a:solidFill>
                            <a:srgbClr val="1B1B1B"/>
                          </a:solidFill>
                          <a:latin typeface="Arial"/>
                        </a:rPr>
                        <a:t> và </a:t>
                      </a:r>
                      <a:r>
                        <a:rPr sz="860" i="0" b="1">
                          <a:solidFill>
                            <a:srgbClr val="0E2841"/>
                          </a:solidFill>
                          <a:latin typeface="Arial"/>
                        </a:rPr>
                        <a:t>chỉ tiêu tốc độ thấp</a:t>
                      </a:r>
                      <a:r>
                        <a:rPr sz="860" i="0" b="1">
                          <a:solidFill>
                            <a:srgbClr val="1B1B1B"/>
                          </a:solidFill>
                          <a:latin typeface="Arial"/>
                        </a:rPr>
                        <a:t>.</a:t>
                      </a:r>
                    </a:p>
                  </a:txBody>
                  <a:tcPr anchor="ctr" marT="19050" marB="19050" marL="50800" marR="50800">
                    <a:solidFill>
                      <a:srgbClr val="FEF9E7"/>
                    </a:solidFill>
                  </a:tcPr>
                </a:tc>
              </a:tr>
              <a:tr h="438317">
                <a:tc>
                  <a:txBody>
                    <a:bodyPr wrap="square"/>
                    <a:lstStyle/>
                    <a:p>
                      <a:pPr algn="ctr"/>
                      <a:r>
                        <a:rPr sz="860" i="0" b="1">
                          <a:solidFill>
                            <a:srgbClr val="0E2841"/>
                          </a:solidFill>
                          <a:latin typeface="Arial"/>
                        </a:rPr>
                        <a:t>PRD-03</a:t>
                      </a:r>
                      <a:r>
                        <a:rPr sz="860" i="0" b="1">
                          <a:solidFill>
                            <a:srgbClr val="0E2841"/>
                          </a:solidFill>
                          <a:latin typeface="Arial"/>
                        </a:rPr>
                        <a:t>
Ổn định tốc độ</a:t>
                      </a:r>
                    </a:p>
                  </a:txBody>
                  <a:tcPr anchor="ctr" marT="19050" marB="19050" marL="50800" marR="50800">
                    <a:solidFill>
                      <a:srgbClr val="FFFFFF"/>
                    </a:solidFill>
                  </a:tcPr>
                </a:tc>
                <a:tc>
                  <a:txBody>
                    <a:bodyPr wrap="square"/>
                    <a:lstStyle/>
                    <a:p>
                      <a:pPr algn="l"/>
                      <a:r>
                        <a:rPr sz="860" i="0" b="1">
                          <a:solidFill>
                            <a:srgbClr val="0E2841"/>
                          </a:solidFill>
                          <a:latin typeface="Arial"/>
                        </a:rPr>
                        <a:t>1 → 1</a:t>
                      </a:r>
                    </a:p>
                  </a:txBody>
                  <a:tcPr anchor="ctr" marT="19050" marB="19050" marL="50800" marR="50800">
                    <a:solidFill>
                      <a:srgbClr val="FFFFFF"/>
                    </a:solidFill>
                  </a:tcPr>
                </a:tc>
                <a:tc>
                  <a:txBody>
                    <a:bodyPr wrap="square"/>
                    <a:lstStyle/>
                    <a:p>
                      <a:pPr algn="l"/>
                      <a:r>
                        <a:rPr sz="860" i="0" b="0">
                          <a:solidFill>
                            <a:srgbClr val="1B1B1B"/>
                          </a:solidFill>
                          <a:latin typeface="Arial"/>
                        </a:rPr>
                        <a:t>— *(Đã có cấu trúc FOC ở FUNC-05)*</a:t>
                      </a:r>
                    </a:p>
                  </a:txBody>
                  <a:tcPr anchor="ctr" marT="19050" marB="19050" marL="50800" marR="50800">
                    <a:solidFill>
                      <a:srgbClr val="FFFFFF"/>
                    </a:solidFill>
                  </a:tcPr>
                </a:tc>
                <a:tc>
                  <a:txBody>
                    <a:bodyPr wrap="square"/>
                    <a:lstStyle/>
                    <a:p>
                      <a:pPr algn="l"/>
                      <a:r>
                        <a:rPr sz="860" i="0" b="1">
                          <a:solidFill>
                            <a:srgbClr val="0E2841"/>
                          </a:solidFill>
                          <a:latin typeface="Arial"/>
                        </a:rPr>
                        <a:t>SRS-PERM-01:</a:t>
                      </a:r>
                      <a:r>
                        <a:rPr sz="860" i="0" b="0">
                          <a:solidFill>
                            <a:srgbClr val="1B1B1B"/>
                          </a:solidFill>
                          <a:latin typeface="Arial"/>
                        </a:rPr>
                        <a:t> Sai số xác lập </a:t>
                      </a:r>
                      <a:r>
                        <a:rPr sz="860" i="0" b="1">
                          <a:solidFill>
                            <a:srgbClr val="0E2841"/>
                          </a:solidFill>
                          <a:latin typeface="Arial"/>
                        </a:rPr>
                        <a:t>e_xl ≤ 5.0%</a:t>
                      </a:r>
                      <a:r>
                        <a:rPr sz="860" i="0" b="0">
                          <a:solidFill>
                            <a:srgbClr val="1B1B1B"/>
                          </a:solidFill>
                          <a:latin typeface="Arial"/>
                        </a:rPr>
                        <a:t> và quá điều chỉnh </a:t>
                      </a:r>
                      <a:r>
                        <a:rPr sz="860" i="0" b="1">
                          <a:solidFill>
                            <a:srgbClr val="0E2841"/>
                          </a:solidFill>
                          <a:latin typeface="Arial"/>
                        </a:rPr>
                        <a:t>M_p ≤ 10.0%</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Yêu cầu thuần túy về </a:t>
                      </a:r>
                      <a:r>
                        <a:rPr sz="860" i="0" b="1">
                          <a:solidFill>
                            <a:srgbClr val="0E2841"/>
                          </a:solidFill>
                          <a:latin typeface="Arial"/>
                        </a:rPr>
                        <a:t>chất lượng động học vòng tốc độ</a:t>
                      </a:r>
                      <a:r>
                        <a:rPr sz="860" i="0" b="0">
                          <a:solidFill>
                            <a:srgbClr val="1B1B1B"/>
                          </a:solidFill>
                          <a:latin typeface="Arial"/>
                        </a:rPr>
                        <a:t> ở định mức </a:t>
                      </a:r>
                      <a:r>
                        <a:rPr sz="860" i="0" b="1">
                          <a:solidFill>
                            <a:srgbClr val="0E2841"/>
                          </a:solidFill>
                          <a:latin typeface="Arial"/>
                        </a:rPr>
                        <a:t>0.12 m/s</a:t>
                      </a:r>
                      <a:r>
                        <a:rPr sz="860" i="0" b="0">
                          <a:solidFill>
                            <a:srgbClr val="1B1B1B"/>
                          </a:solidFill>
                          <a:latin typeface="Arial"/>
                        </a:rPr>
                        <a:t>.</a:t>
                      </a:r>
                    </a:p>
                  </a:txBody>
                  <a:tcPr anchor="ctr" marT="19050" marB="19050" marL="50800" marR="50800">
                    <a:solidFill>
                      <a:srgbClr val="FFFFFF"/>
                    </a:solidFill>
                  </a:tcPr>
                </a:tc>
              </a:tr>
              <a:tr h="438317">
                <a:tc>
                  <a:txBody>
                    <a:bodyPr wrap="square"/>
                    <a:lstStyle/>
                    <a:p>
                      <a:pPr algn="ctr"/>
                      <a:r>
                        <a:rPr sz="860" i="0" b="1">
                          <a:solidFill>
                            <a:srgbClr val="0E2841"/>
                          </a:solidFill>
                          <a:latin typeface="Arial"/>
                        </a:rPr>
                        <a:t>PRD-04</a:t>
                      </a:r>
                      <a:r>
                        <a:rPr sz="860" i="0" b="1">
                          <a:solidFill>
                            <a:srgbClr val="0E2841"/>
                          </a:solidFill>
                          <a:latin typeface="Arial"/>
                        </a:rPr>
                        <a:t>
Giữ tải tại 0 rpm</a:t>
                      </a:r>
                    </a:p>
                  </a:txBody>
                  <a:tcPr anchor="ctr" marT="19050" marB="19050" marL="50800" marR="50800">
                    <a:solidFill>
                      <a:srgbClr val="F8F9FA"/>
                    </a:solidFill>
                  </a:tcPr>
                </a:tc>
                <a:tc>
                  <a:txBody>
                    <a:bodyPr wrap="square"/>
                    <a:lstStyle/>
                    <a:p>
                      <a:pPr algn="l"/>
                      <a:r>
                        <a:rPr sz="860" i="0" b="1">
                          <a:solidFill>
                            <a:srgbClr val="0E2841"/>
                          </a:solidFill>
                          <a:latin typeface="Arial"/>
                        </a:rPr>
                        <a:t>1 → 1</a:t>
                      </a:r>
                    </a:p>
                  </a:txBody>
                  <a:tcPr anchor="ctr" marT="19050" marB="19050" marL="50800" marR="50800">
                    <a:solidFill>
                      <a:srgbClr val="F8F9FA"/>
                    </a:solidFill>
                  </a:tcPr>
                </a:tc>
                <a:tc>
                  <a:txBody>
                    <a:bodyPr wrap="square"/>
                    <a:lstStyle/>
                    <a:p>
                      <a:pPr algn="l"/>
                      <a:r>
                        <a:rPr sz="860" i="0" b="1">
                          <a:solidFill>
                            <a:srgbClr val="0E2841"/>
                          </a:solidFill>
                          <a:latin typeface="Arial"/>
                        </a:rPr>
                        <a:t>SRS-FUNC-04:</a:t>
                      </a:r>
                      <a:r>
                        <a:rPr sz="860" i="0" b="0">
                          <a:solidFill>
                            <a:srgbClr val="1B1B1B"/>
                          </a:solidFill>
                          <a:latin typeface="Arial"/>
                        </a:rPr>
                        <a:t> Duy trì </a:t>
                      </a:r>
                      <a:r>
                        <a:rPr sz="860" i="0" b="1">
                          <a:solidFill>
                            <a:srgbClr val="0E2841"/>
                          </a:solidFill>
                          <a:latin typeface="Arial"/>
                        </a:rPr>
                        <a:t>100÷150% M_đm tại 0 rpm</a:t>
                      </a:r>
                      <a:r>
                        <a:rPr sz="860" i="0" b="0">
                          <a:solidFill>
                            <a:srgbClr val="1B1B1B"/>
                          </a:solidFill>
                          <a:latin typeface="Arial"/>
                        </a:rPr>
                        <a:t> đồng bộ phanh (</a:t>
                      </a:r>
                      <a:r>
                        <a:rPr sz="860" i="0" b="1">
                          <a:solidFill>
                            <a:srgbClr val="0E2841"/>
                          </a:solidFill>
                          <a:latin typeface="Arial"/>
                        </a:rPr>
                        <a:t>0 mm trôi</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*(Ngưỡng mô-men gắn liền trình tự phanh)*</a:t>
                      </a:r>
                    </a:p>
                  </a:txBody>
                  <a:tcPr anchor="ctr" marT="19050" marB="19050" marL="50800" marR="50800">
                    <a:solidFill>
                      <a:srgbClr val="F8F9FA"/>
                    </a:solidFill>
                  </a:tcPr>
                </a:tc>
                <a:tc>
                  <a:txBody>
                    <a:bodyPr wrap="square"/>
                    <a:lstStyle/>
                    <a:p>
                      <a:pPr algn="l"/>
                      <a:r>
                        <a:rPr sz="860" i="0" b="0">
                          <a:solidFill>
                            <a:srgbClr val="1B1B1B"/>
                          </a:solidFill>
                          <a:latin typeface="Arial"/>
                        </a:rPr>
                        <a:t>Trình tự </a:t>
                      </a:r>
                      <a:r>
                        <a:rPr sz="860" i="0" b="1">
                          <a:solidFill>
                            <a:srgbClr val="0E2841"/>
                          </a:solidFill>
                          <a:latin typeface="Arial"/>
                        </a:rPr>
                        <a:t>bắt tay từ thông động cơ và phanh điện từ</a:t>
                      </a:r>
                      <a:r>
                        <a:rPr sz="860" i="0" b="0">
                          <a:solidFill>
                            <a:srgbClr val="1B1B1B"/>
                          </a:solidFill>
                          <a:latin typeface="Arial"/>
                        </a:rPr>
                        <a:t> là một chu trình tuần tự duy nhất.</a:t>
                      </a:r>
                    </a:p>
                  </a:txBody>
                  <a:tcPr anchor="ctr" marT="19050" marB="19050" marL="50800" marR="50800">
                    <a:solidFill>
                      <a:srgbClr val="F8F9FA"/>
                    </a:solidFill>
                  </a:tcPr>
                </a:tc>
              </a:tr>
              <a:tr h="438317">
                <a:tc>
                  <a:txBody>
                    <a:bodyPr wrap="square"/>
                    <a:lstStyle/>
                    <a:p>
                      <a:pPr algn="ctr"/>
                      <a:r>
                        <a:rPr sz="860" i="0" b="1">
                          <a:solidFill>
                            <a:srgbClr val="0E2841"/>
                          </a:solidFill>
                          <a:latin typeface="Arial"/>
                        </a:rPr>
                        <a:t>PRD-05</a:t>
                      </a:r>
                      <a:r>
                        <a:rPr sz="860" i="0" b="1">
                          <a:solidFill>
                            <a:srgbClr val="0E2841"/>
                          </a:solidFill>
                          <a:latin typeface="Arial"/>
                        </a:rPr>
                        <a:t>
Hãm tái sinh 4Q</a:t>
                      </a:r>
                    </a:p>
                  </a:txBody>
                  <a:tcPr anchor="ctr" marT="19050" marB="19050" marL="50800" marR="50800">
                    <a:solidFill>
                      <a:srgbClr val="FFFFFF"/>
                    </a:solidFill>
                  </a:tcPr>
                </a:tc>
                <a:tc>
                  <a:txBody>
                    <a:bodyPr wrap="square"/>
                    <a:lstStyle/>
                    <a:p>
                      <a:pPr algn="l"/>
                      <a:r>
                        <a:rPr sz="860" i="0" b="1">
                          <a:solidFill>
                            <a:srgbClr val="0E2841"/>
                          </a:solidFill>
                          <a:latin typeface="Arial"/>
                        </a:rPr>
                        <a:t>1 → 1</a:t>
                      </a:r>
                    </a:p>
                  </a:txBody>
                  <a:tcPr anchor="ctr" marT="19050" marB="19050" marL="50800" marR="50800">
                    <a:solidFill>
                      <a:srgbClr val="FFFFFF"/>
                    </a:solidFill>
                  </a:tcPr>
                </a:tc>
                <a:tc>
                  <a:txBody>
                    <a:bodyPr wrap="square"/>
                    <a:lstStyle/>
                    <a:p>
                      <a:pPr algn="l"/>
                      <a:r>
                        <a:rPr sz="860" i="0" b="1">
                          <a:solidFill>
                            <a:srgbClr val="0E2841"/>
                          </a:solidFill>
                          <a:latin typeface="Arial"/>
                        </a:rPr>
                        <a:t>SRS-FUNC-06:</a:t>
                      </a:r>
                      <a:r>
                        <a:rPr sz="860" i="0" b="0">
                          <a:solidFill>
                            <a:srgbClr val="1B1B1B"/>
                          </a:solidFill>
                          <a:latin typeface="Arial"/>
                        </a:rPr>
                        <a:t> Hãm tái sinh </a:t>
                      </a:r>
                      <a:r>
                        <a:rPr sz="860" i="0" b="1">
                          <a:solidFill>
                            <a:srgbClr val="0E2841"/>
                          </a:solidFill>
                          <a:latin typeface="Arial"/>
                        </a:rPr>
                        <a:t>Q2/Q4</a:t>
                      </a:r>
                      <a:r>
                        <a:rPr sz="860" i="0" b="0">
                          <a:solidFill>
                            <a:srgbClr val="1B1B1B"/>
                          </a:solidFill>
                          <a:latin typeface="Arial"/>
                        </a:rPr>
                        <a:t>, kích hoạt </a:t>
                      </a:r>
                      <a:r>
                        <a:rPr sz="860" i="0" b="1">
                          <a:solidFill>
                            <a:srgbClr val="0E2841"/>
                          </a:solidFill>
                          <a:latin typeface="Arial"/>
                        </a:rPr>
                        <a:t>Chopper + R_h</a:t>
                      </a:r>
                      <a:r>
                        <a:rPr sz="860" i="0" b="0">
                          <a:solidFill>
                            <a:srgbClr val="1B1B1B"/>
                          </a:solidFill>
                          <a:latin typeface="Arial"/>
                        </a:rPr>
                        <a:t> kẹp áp </a:t>
                      </a:r>
                      <a:r>
                        <a:rPr sz="860" i="0" b="1">
                          <a:solidFill>
                            <a:srgbClr val="0E2841"/>
                          </a:solidFill>
                          <a:latin typeface="Arial"/>
                        </a:rPr>
                        <a:t>&lt; 780V DC</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*(Ngưỡng 780V DC gắn trực tiếp mạch Chopper)*</a:t>
                      </a:r>
                    </a:p>
                  </a:txBody>
                  <a:tcPr anchor="ctr" marT="19050" marB="19050" marL="50800" marR="50800">
                    <a:solidFill>
                      <a:srgbClr val="FFFFFF"/>
                    </a:solidFill>
                  </a:tcPr>
                </a:tc>
                <a:tc>
                  <a:txBody>
                    <a:bodyPr wrap="square"/>
                    <a:lstStyle/>
                    <a:p>
                      <a:pPr algn="l"/>
                      <a:r>
                        <a:rPr sz="860" i="0" b="0">
                          <a:solidFill>
                            <a:srgbClr val="1B1B1B"/>
                          </a:solidFill>
                          <a:latin typeface="Arial"/>
                        </a:rPr>
                        <a:t>Bảo vệ quá áp DC-link là </a:t>
                      </a:r>
                      <a:r>
                        <a:rPr sz="860" i="0" b="1">
                          <a:solidFill>
                            <a:srgbClr val="0E2841"/>
                          </a:solidFill>
                          <a:latin typeface="Arial"/>
                        </a:rPr>
                        <a:t>cơ chế phản xạ phần cứng trực tiếp</a:t>
                      </a:r>
                      <a:r>
                        <a:rPr sz="860" i="0" b="0">
                          <a:solidFill>
                            <a:srgbClr val="1B1B1B"/>
                          </a:solidFill>
                          <a:latin typeface="Arial"/>
                        </a:rPr>
                        <a:t> của mạch xả năng lượng hãm.</a:t>
                      </a:r>
                    </a:p>
                  </a:txBody>
                  <a:tcPr anchor="ctr" marT="19050" marB="19050" marL="50800" marR="50800">
                    <a:solidFill>
                      <a:srgbClr val="FFFFFF"/>
                    </a:solidFill>
                  </a:tcPr>
                </a:tc>
              </a:tr>
              <a:tr h="438317">
                <a:tc>
                  <a:txBody>
                    <a:bodyPr wrap="square"/>
                    <a:lstStyle/>
                    <a:p>
                      <a:pPr algn="ctr"/>
                      <a:r>
                        <a:rPr sz="860" i="0" b="1">
                          <a:solidFill>
                            <a:srgbClr val="0E2841"/>
                          </a:solidFill>
                          <a:latin typeface="Arial"/>
                        </a:rPr>
                        <a:t>PRD-06</a:t>
                      </a:r>
                      <a:r>
                        <a:rPr sz="860" i="0" b="1">
                          <a:solidFill>
                            <a:srgbClr val="C00000"/>
                          </a:solidFill>
                          <a:latin typeface="Arial"/>
                        </a:rPr>
                        <a:t>
Hạn chế lắc tải</a:t>
                      </a:r>
                    </a:p>
                  </a:txBody>
                  <a:tcPr anchor="ctr" marT="19050" marB="19050" marL="50800" marR="50800">
                    <a:solidFill>
                      <a:srgbClr val="FEF9E7"/>
                    </a:solidFill>
                  </a:tcPr>
                </a:tc>
                <a:tc>
                  <a:txBody>
                    <a:bodyPr wrap="square"/>
                    <a:lstStyle/>
                    <a:p>
                      <a:pPr algn="l"/>
                      <a:r>
                        <a:rPr sz="860" i="0" b="1">
                          <a:solidFill>
                            <a:srgbClr val="0E2841"/>
                          </a:solidFill>
                          <a:latin typeface="Arial"/>
                        </a:rPr>
                        <a:t>1 → 3</a:t>
                      </a:r>
                    </a:p>
                  </a:txBody>
                  <a:tcPr anchor="ctr" marT="19050" marB="19050" marL="50800" marR="50800">
                    <a:solidFill>
                      <a:srgbClr val="FEF9E7"/>
                    </a:solidFill>
                  </a:tcPr>
                </a:tc>
                <a:tc>
                  <a:txBody>
                    <a:bodyPr wrap="square"/>
                    <a:lstStyle/>
                    <a:p>
                      <a:pPr algn="l"/>
                      <a:r>
                        <a:rPr sz="860" i="0" b="1">
                          <a:solidFill>
                            <a:srgbClr val="0E2841"/>
                          </a:solidFill>
                          <a:latin typeface="Arial"/>
                        </a:rPr>
                        <a:t>SRS-FUNC-03:</a:t>
                      </a:r>
                      <a:r>
                        <a:rPr sz="860" i="0" b="1">
                          <a:solidFill>
                            <a:srgbClr val="1B1B1B"/>
                          </a:solidFill>
                          <a:latin typeface="Arial"/>
                        </a:rPr>
                        <a:t> Trình tự dừng </a:t>
                      </a:r>
                      <a:r>
                        <a:rPr sz="860" i="0" b="1">
                          <a:solidFill>
                            <a:srgbClr val="0E2841"/>
                          </a:solidFill>
                          <a:latin typeface="Arial"/>
                        </a:rPr>
                        <a:t>Stop Category 1</a:t>
                      </a:r>
                      <a:r>
                        <a:rPr sz="860" i="0" b="1">
                          <a:solidFill>
                            <a:srgbClr val="1B1B1B"/>
                          </a:solidFill>
                          <a:latin typeface="Arial"/>
                        </a:rPr>
                        <a:t> (hãm điện về 0 rồi mới đóng phanh).</a:t>
                      </a:r>
                    </a:p>
                  </a:txBody>
                  <a:tcPr anchor="ctr" marT="19050" marB="19050" marL="50800" marR="50800">
                    <a:solidFill>
                      <a:srgbClr val="FEF9E7"/>
                    </a:solidFill>
                  </a:tcPr>
                </a:tc>
                <a:tc>
                  <a:txBody>
                    <a:bodyPr wrap="square"/>
                    <a:lstStyle/>
                    <a:p>
                      <a:pPr algn="l"/>
                      <a:r>
                        <a:rPr sz="860" i="0" b="1">
                          <a:solidFill>
                            <a:srgbClr val="0E2841"/>
                          </a:solidFill>
                          <a:latin typeface="Arial"/>
                        </a:rPr>
                        <a:t>SRS-PERM-03:</a:t>
                      </a:r>
                      <a:r>
                        <a:rPr sz="860" i="0" b="1">
                          <a:solidFill>
                            <a:srgbClr val="1B1B1B"/>
                          </a:solidFill>
                          <a:latin typeface="Arial"/>
                        </a:rPr>
                        <a:t> </a:t>
                      </a:r>
                      <a:r>
                        <a:rPr sz="860" i="0" b="1">
                          <a:solidFill>
                            <a:srgbClr val="0E2841"/>
                          </a:solidFill>
                          <a:latin typeface="Arial"/>
                        </a:rPr>
                        <a:t>|a| ≤ 0.50 m/s²</a:t>
                      </a:r>
                      <a:r>
                        <a:rPr sz="860" i="0" b="1">
                          <a:solidFill>
                            <a:srgbClr val="1B1B1B"/>
                          </a:solidFill>
                          <a:latin typeface="Arial"/>
                        </a:rPr>
                        <a:t>, </a:t>
                      </a:r>
                      <a:r>
                        <a:rPr sz="860" i="0" b="1">
                          <a:solidFill>
                            <a:srgbClr val="0E2841"/>
                          </a:solidFill>
                          <a:latin typeface="Arial"/>
                        </a:rPr>
                        <a:t>|ρ| ≤ 2.00 m/s³</a:t>
                      </a:r>
                      <a:r>
                        <a:rPr sz="860" i="0" b="1">
                          <a:solidFill>
                            <a:srgbClr val="1B1B1B"/>
                          </a:solidFill>
                          <a:latin typeface="Arial"/>
                        </a:rPr>
                        <a:t>.
</a:t>
                      </a:r>
                      <a:r>
                        <a:rPr sz="860" i="0" b="1">
                          <a:solidFill>
                            <a:srgbClr val="0E2841"/>
                          </a:solidFill>
                          <a:latin typeface="Arial"/>
                        </a:rPr>
                        <a:t>SRS-PERM-05:</a:t>
                      </a:r>
                      <a:r>
                        <a:rPr sz="860" i="0" b="1">
                          <a:solidFill>
                            <a:srgbClr val="1B1B1B"/>
                          </a:solidFill>
                          <a:latin typeface="Arial"/>
                        </a:rPr>
                        <a:t> Quá tải </a:t>
                      </a:r>
                      <a:r>
                        <a:rPr sz="860" i="0" b="1">
                          <a:solidFill>
                            <a:srgbClr val="0E2841"/>
                          </a:solidFill>
                          <a:latin typeface="Arial"/>
                        </a:rPr>
                        <a:t>λ_max ≥ 2.0</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Tách biệt </a:t>
                      </a:r>
                      <a:r>
                        <a:rPr sz="860" i="0" b="1">
                          <a:solidFill>
                            <a:srgbClr val="0E2841"/>
                          </a:solidFill>
                          <a:latin typeface="Arial"/>
                        </a:rPr>
                        <a:t>trình tự dừng an toàn</a:t>
                      </a:r>
                      <a:r>
                        <a:rPr sz="860" i="0" b="1">
                          <a:solidFill>
                            <a:srgbClr val="1B1B1B"/>
                          </a:solidFill>
                          <a:latin typeface="Arial"/>
                        </a:rPr>
                        <a:t>, </a:t>
                      </a:r>
                      <a:r>
                        <a:rPr sz="860" i="0" b="1">
                          <a:solidFill>
                            <a:srgbClr val="0E2841"/>
                          </a:solidFill>
                          <a:latin typeface="Arial"/>
                        </a:rPr>
                        <a:t>giới hạn S-Curve</a:t>
                      </a:r>
                      <a:r>
                        <a:rPr sz="860" i="0" b="1">
                          <a:solidFill>
                            <a:srgbClr val="1B1B1B"/>
                          </a:solidFill>
                          <a:latin typeface="Arial"/>
                        </a:rPr>
                        <a:t> và </a:t>
                      </a:r>
                      <a:r>
                        <a:rPr sz="860" i="0" b="1">
                          <a:solidFill>
                            <a:srgbClr val="0E2841"/>
                          </a:solidFill>
                          <a:latin typeface="Arial"/>
                        </a:rPr>
                        <a:t>khả năng quá tải mô-men đỉnh</a:t>
                      </a:r>
                      <a:r>
                        <a:rPr sz="860" i="0" b="1">
                          <a:solidFill>
                            <a:srgbClr val="1B1B1B"/>
                          </a:solidFill>
                          <a:latin typeface="Arial"/>
                        </a:rPr>
                        <a:t>.</a:t>
                      </a:r>
                    </a:p>
                  </a:txBody>
                  <a:tcPr anchor="ctr" marT="19050" marB="19050" marL="50800" marR="50800">
                    <a:solidFill>
                      <a:srgbClr val="FEF9E7"/>
                    </a:solidFill>
                  </a:tcPr>
                </a:tc>
              </a:tr>
              <a:tr h="438317">
                <a:tc>
                  <a:txBody>
                    <a:bodyPr wrap="square"/>
                    <a:lstStyle/>
                    <a:p>
                      <a:pPr algn="ctr"/>
                      <a:r>
                        <a:rPr sz="860" i="0" b="1">
                          <a:solidFill>
                            <a:srgbClr val="0E2841"/>
                          </a:solidFill>
                          <a:latin typeface="Arial"/>
                        </a:rPr>
                        <a:t>PRD-07</a:t>
                      </a:r>
                      <a:r>
                        <a:rPr sz="860" i="0" b="1">
                          <a:solidFill>
                            <a:srgbClr val="C00000"/>
                          </a:solidFill>
                          <a:latin typeface="Arial"/>
                        </a:rPr>
                        <a:t>
Chế độ S3-40%</a:t>
                      </a:r>
                    </a:p>
                  </a:txBody>
                  <a:tcPr anchor="ctr" marT="19050" marB="19050" marL="50800" marR="50800">
                    <a:solidFill>
                      <a:srgbClr val="FEF9E7"/>
                    </a:solidFill>
                  </a:tcPr>
                </a:tc>
                <a:tc>
                  <a:txBody>
                    <a:bodyPr wrap="square"/>
                    <a:lstStyle/>
                    <a:p>
                      <a:pPr algn="l"/>
                      <a:r>
                        <a:rPr sz="860" i="0" b="1">
                          <a:solidFill>
                            <a:srgbClr val="0E2841"/>
                          </a:solidFill>
                          <a:latin typeface="Arial"/>
                        </a:rPr>
                        <a:t>1 → 2</a:t>
                      </a:r>
                    </a:p>
                  </a:txBody>
                  <a:tcPr anchor="ctr" marT="19050" marB="19050" marL="50800" marR="50800">
                    <a:solidFill>
                      <a:srgbClr val="FEF9E7"/>
                    </a:solidFill>
                  </a:tcPr>
                </a:tc>
                <a:tc>
                  <a:txBody>
                    <a:bodyPr wrap="square"/>
                    <a:lstStyle/>
                    <a:p>
                      <a:pPr algn="l"/>
                      <a:r>
                        <a:rPr sz="860" i="0" b="1">
                          <a:solidFill>
                            <a:srgbClr val="0E2841"/>
                          </a:solidFill>
                          <a:latin typeface="Arial"/>
                        </a:rPr>
                        <a:t>SRS-FUNC-07:</a:t>
                      </a:r>
                      <a:r>
                        <a:rPr sz="860" i="0" b="1">
                          <a:solidFill>
                            <a:srgbClr val="1B1B1B"/>
                          </a:solidFill>
                          <a:latin typeface="Arial"/>
                        </a:rPr>
                        <a:t> Quy hoạch quỹ đạo </a:t>
                      </a:r>
                      <a:r>
                        <a:rPr sz="860" i="0" b="1">
                          <a:solidFill>
                            <a:srgbClr val="0E2841"/>
                          </a:solidFill>
                          <a:latin typeface="Arial"/>
                        </a:rPr>
                        <a:t>S-Curve 7 pha</a:t>
                      </a:r>
                      <a:r>
                        <a:rPr sz="860" i="0" b="1">
                          <a:solidFill>
                            <a:srgbClr val="1B1B1B"/>
                          </a:solidFill>
                          <a:latin typeface="Arial"/>
                        </a:rPr>
                        <a:t> xuyên suốt chu kỳ lặp.</a:t>
                      </a:r>
                    </a:p>
                  </a:txBody>
                  <a:tcPr anchor="ctr" marT="19050" marB="19050" marL="50800" marR="50800">
                    <a:solidFill>
                      <a:srgbClr val="FEF9E7"/>
                    </a:solidFill>
                  </a:tcPr>
                </a:tc>
                <a:tc>
                  <a:txBody>
                    <a:bodyPr wrap="square"/>
                    <a:lstStyle/>
                    <a:p>
                      <a:pPr algn="l"/>
                      <a:r>
                        <a:rPr sz="860" i="0" b="1">
                          <a:solidFill>
                            <a:srgbClr val="0E2841"/>
                          </a:solidFill>
                          <a:latin typeface="Arial"/>
                        </a:rPr>
                        <a:t>SRS-PERM-04:</a:t>
                      </a:r>
                      <a:r>
                        <a:rPr sz="860" i="0" b="1">
                          <a:solidFill>
                            <a:srgbClr val="1B1B1B"/>
                          </a:solidFill>
                          <a:latin typeface="Arial"/>
                        </a:rPr>
                        <a:t> Công suất định mức ở </a:t>
                      </a:r>
                      <a:r>
                        <a:rPr sz="860" i="0" b="1">
                          <a:solidFill>
                            <a:srgbClr val="0E2841"/>
                          </a:solidFill>
                          <a:latin typeface="Arial"/>
                        </a:rPr>
                        <a:t>S3-40% (40°C)</a:t>
                      </a:r>
                      <a:r>
                        <a:rPr sz="860" i="0" b="1">
                          <a:solidFill>
                            <a:srgbClr val="1B1B1B"/>
                          </a:solidFill>
                          <a:latin typeface="Arial"/>
                        </a:rPr>
                        <a:t> đạt </a:t>
                      </a:r>
                      <a:r>
                        <a:rPr sz="860" i="0" b="1">
                          <a:solidFill>
                            <a:srgbClr val="0E2841"/>
                          </a:solidFill>
                          <a:latin typeface="Arial"/>
                        </a:rPr>
                        <a:t>k_dt ∈ [1.20; 1.50]</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Tách biệt </a:t>
                      </a:r>
                      <a:r>
                        <a:rPr sz="860" i="0" b="1">
                          <a:solidFill>
                            <a:srgbClr val="0E2841"/>
                          </a:solidFill>
                          <a:latin typeface="Arial"/>
                        </a:rPr>
                        <a:t>hình dáng quỹ đạo vận hành</a:t>
                      </a:r>
                      <a:r>
                        <a:rPr sz="860" i="0" b="1">
                          <a:solidFill>
                            <a:srgbClr val="1B1B1B"/>
                          </a:solidFill>
                          <a:latin typeface="Arial"/>
                        </a:rPr>
                        <a:t> và </a:t>
                      </a:r>
                      <a:r>
                        <a:rPr sz="860" i="0" b="1">
                          <a:solidFill>
                            <a:srgbClr val="0E2841"/>
                          </a:solidFill>
                          <a:latin typeface="Arial"/>
                        </a:rPr>
                        <a:t>khả năng chịu nhiệt dài hạn của động cơ</a:t>
                      </a:r>
                      <a:r>
                        <a:rPr sz="860" i="0" b="1">
                          <a:solidFill>
                            <a:srgbClr val="1B1B1B"/>
                          </a:solidFill>
                          <a:latin typeface="Arial"/>
                        </a:rPr>
                        <a:t>.</a:t>
                      </a:r>
                    </a:p>
                  </a:txBody>
                  <a:tcPr anchor="ctr" marT="19050" marB="19050" marL="50800" marR="50800">
                    <a:solidFill>
                      <a:srgbClr val="FEF9E7"/>
                    </a:solidFill>
                  </a:tcPr>
                </a:tc>
              </a:tr>
              <a:tr h="438317">
                <a:tc>
                  <a:txBody>
                    <a:bodyPr wrap="square"/>
                    <a:lstStyle/>
                    <a:p>
                      <a:pPr algn="ctr"/>
                      <a:r>
                        <a:rPr sz="860" i="0" b="1">
                          <a:solidFill>
                            <a:srgbClr val="0E2841"/>
                          </a:solidFill>
                          <a:latin typeface="Arial"/>
                        </a:rPr>
                        <a:t>PRD-08</a:t>
                      </a:r>
                      <a:r>
                        <a:rPr sz="860" i="0" b="1">
                          <a:solidFill>
                            <a:srgbClr val="0E2841"/>
                          </a:solidFill>
                          <a:latin typeface="Arial"/>
                        </a:rPr>
                        <a:t>
Bền vững lưới điện</a:t>
                      </a:r>
                    </a:p>
                  </a:txBody>
                  <a:tcPr anchor="ctr" marT="19050" marB="19050" marL="50800" marR="50800">
                    <a:solidFill>
                      <a:srgbClr val="F8F9FA"/>
                    </a:solidFill>
                  </a:tcPr>
                </a:tc>
                <a:tc>
                  <a:txBody>
                    <a:bodyPr wrap="square"/>
                    <a:lstStyle/>
                    <a:p>
                      <a:pPr algn="l"/>
                      <a:r>
                        <a:rPr sz="860" i="0" b="1">
                          <a:solidFill>
                            <a:srgbClr val="0E2841"/>
                          </a:solidFill>
                          <a:latin typeface="Arial"/>
                        </a:rPr>
                        <a:t>1 → 1</a:t>
                      </a:r>
                    </a:p>
                  </a:txBody>
                  <a:tcPr anchor="ctr" marT="19050" marB="19050" marL="50800" marR="50800">
                    <a:solidFill>
                      <a:srgbClr val="F8F9FA"/>
                    </a:solidFill>
                  </a:tcPr>
                </a:tc>
                <a:tc>
                  <a:txBody>
                    <a:bodyPr wrap="square"/>
                    <a:lstStyle/>
                    <a:p>
                      <a:pPr algn="l"/>
                      <a:r>
                        <a:rPr sz="860" i="0" b="0">
                          <a:solidFill>
                            <a:srgbClr val="1B1B1B"/>
                          </a:solidFill>
                          <a:latin typeface="Arial"/>
                        </a:rPr>
                        <a:t>— *(Thuộc tính chịu đựng nguồn)*</a:t>
                      </a:r>
                    </a:p>
                  </a:txBody>
                  <a:tcPr anchor="ctr" marT="19050" marB="19050" marL="50800" marR="50800">
                    <a:solidFill>
                      <a:srgbClr val="F8F9FA"/>
                    </a:solidFill>
                  </a:tcPr>
                </a:tc>
                <a:tc>
                  <a:txBody>
                    <a:bodyPr wrap="square"/>
                    <a:lstStyle/>
                    <a:p>
                      <a:pPr algn="l"/>
                      <a:r>
                        <a:rPr sz="860" i="0" b="1">
                          <a:solidFill>
                            <a:srgbClr val="0E2841"/>
                          </a:solidFill>
                          <a:latin typeface="Arial"/>
                        </a:rPr>
                        <a:t>SRS-PERM-06:</a:t>
                      </a:r>
                      <a:r>
                        <a:rPr sz="860" i="0" b="0">
                          <a:solidFill>
                            <a:srgbClr val="1B1B1B"/>
                          </a:solidFill>
                          <a:latin typeface="Arial"/>
                        </a:rPr>
                        <a:t> Vận hành liên tục khi lưới dao động </a:t>
                      </a:r>
                      <a:r>
                        <a:rPr sz="860" i="0" b="1">
                          <a:solidFill>
                            <a:srgbClr val="0E2841"/>
                          </a:solidFill>
                          <a:latin typeface="Arial"/>
                        </a:rPr>
                        <a:t>380V ± 10% (342÷418V), 50Hz</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Yêu cầu nguyên tử về </a:t>
                      </a:r>
                      <a:r>
                        <a:rPr sz="860" i="0" b="1">
                          <a:solidFill>
                            <a:srgbClr val="0E2841"/>
                          </a:solidFill>
                          <a:latin typeface="Arial"/>
                        </a:rPr>
                        <a:t>dự trữ áp biến tần</a:t>
                      </a:r>
                      <a:r>
                        <a:rPr sz="860" i="0" b="0">
                          <a:solidFill>
                            <a:srgbClr val="1B1B1B"/>
                          </a:solidFill>
                          <a:latin typeface="Arial"/>
                        </a:rPr>
                        <a:t> và </a:t>
                      </a:r>
                      <a:r>
                        <a:rPr sz="860" i="0" b="1">
                          <a:solidFill>
                            <a:srgbClr val="0E2841"/>
                          </a:solidFill>
                          <a:latin typeface="Arial"/>
                        </a:rPr>
                        <a:t>bền vững chất lượng khi sụt áp lưới</a:t>
                      </a:r>
                      <a:r>
                        <a:rPr sz="860" i="0" b="0">
                          <a:solidFill>
                            <a:srgbClr val="1B1B1B"/>
                          </a:solidFill>
                          <a:latin typeface="Arial"/>
                        </a:rPr>
                        <a:t>.</a:t>
                      </a:r>
                    </a:p>
                  </a:txBody>
                  <a:tcPr anchor="ctr" marT="19050" marB="19050" marL="50800" marR="50800">
                    <a:solidFill>
                      <a:srgbClr val="F8F9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7. ĐẶC TẢ NHÓM 1: 7 YÊU CẦU CHỨC NĂNG &amp; LOGIC (SRS-FUNC-01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Quy định chặt chẽ </a:t>
            </a:r>
            <a:r>
              <a:rPr sz="1350" i="0" b="1">
                <a:solidFill>
                  <a:srgbClr val="0E2841"/>
                </a:solidFill>
                <a:latin typeface="Arial"/>
              </a:rPr>
              <a:t>Logic điều khiển 4 góc phần tư</a:t>
            </a:r>
            <a:r>
              <a:rPr sz="1350" i="0" b="1">
                <a:solidFill>
                  <a:srgbClr val="C00000"/>
                </a:solidFill>
                <a:latin typeface="Arial"/>
              </a:rPr>
              <a:t>, </a:t>
            </a:r>
            <a:r>
              <a:rPr sz="1350" i="0" b="1">
                <a:solidFill>
                  <a:srgbClr val="0E2841"/>
                </a:solidFill>
                <a:latin typeface="Arial"/>
              </a:rPr>
              <a:t>Khóa liên động v = 0</a:t>
            </a:r>
            <a:r>
              <a:rPr sz="1350" i="0" b="1">
                <a:solidFill>
                  <a:srgbClr val="C00000"/>
                </a:solidFill>
                <a:latin typeface="Arial"/>
              </a:rPr>
              <a:t>, </a:t>
            </a:r>
            <a:r>
              <a:rPr sz="1350" i="0" b="1">
                <a:solidFill>
                  <a:srgbClr val="0E2841"/>
                </a:solidFill>
                <a:latin typeface="Arial"/>
              </a:rPr>
              <a:t>Trình tự phanh 0 rpm</a:t>
            </a:r>
            <a:r>
              <a:rPr sz="1350" i="0" b="1">
                <a:solidFill>
                  <a:srgbClr val="C00000"/>
                </a:solidFill>
                <a:latin typeface="Arial"/>
              </a:rPr>
              <a:t> &amp; </a:t>
            </a:r>
            <a:r>
              <a:rPr sz="1350" i="0" b="1">
                <a:solidFill>
                  <a:srgbClr val="0E2841"/>
                </a:solidFill>
                <a:latin typeface="Arial"/>
              </a:rPr>
              <a:t>Bảo vệ DC-Link</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SOW-1.2 — Group 1: Functional &amp; Safety Logic Requirements | Slide 08 / 16</a:t>
            </a:r>
          </a:p>
        </p:txBody>
      </p:sp>
      <p:graphicFrame>
        <p:nvGraphicFramePr>
          <p:cNvPr id="5" name="Table 4"/>
          <p:cNvGraphicFramePr>
            <a:graphicFrameLocks noGrp="1"/>
          </p:cNvGraphicFramePr>
          <p:nvPr/>
        </p:nvGraphicFramePr>
        <p:xfrm>
          <a:off x="310896" y="1234440"/>
          <a:ext cx="11567160" cy="3283421"/>
        </p:xfrm>
        <a:graphic>
          <a:graphicData uri="http://schemas.openxmlformats.org/drawingml/2006/table">
            <a:tbl>
              <a:tblPr firstRow="1" bandRow="1">
                <a:tableStyleId>{5C22544A-7EE6-4342-B048-85BDC9FD1C3A}</a:tableStyleId>
              </a:tblPr>
              <a:tblGrid>
                <a:gridCol w="1234440"/>
                <a:gridCol w="2331720"/>
                <a:gridCol w="5257800"/>
                <a:gridCol w="1508760"/>
                <a:gridCol w="1234440"/>
              </a:tblGrid>
              <a:tr h="292608">
                <a:tc>
                  <a:txBody>
                    <a:bodyPr wrap="square"/>
                    <a:lstStyle/>
                    <a:p>
                      <a:pPr algn="ctr"/>
                      <a:r>
                        <a:rPr sz="1030" b="1">
                          <a:solidFill>
                            <a:srgbClr val="FFFFFF"/>
                          </a:solidFill>
                          <a:latin typeface="Arial"/>
                        </a:rPr>
                        <a:t>Mã SRS</a:t>
                      </a:r>
                    </a:p>
                  </a:txBody>
                  <a:tcPr anchor="ctr" marT="19050" marB="19050" marL="50800" marR="50800">
                    <a:solidFill>
                      <a:srgbClr val="0E2841"/>
                    </a:solidFill>
                  </a:tcPr>
                </a:tc>
                <a:tc>
                  <a:txBody>
                    <a:bodyPr wrap="square"/>
                    <a:lstStyle/>
                    <a:p>
                      <a:pPr algn="ctr"/>
                      <a:r>
                        <a:rPr sz="1030" b="1">
                          <a:solidFill>
                            <a:srgbClr val="FFFFFF"/>
                          </a:solidFill>
                          <a:latin typeface="Arial"/>
                        </a:rPr>
                        <a:t>Tên Yêu cầu Chức năng</a:t>
                      </a:r>
                    </a:p>
                  </a:txBody>
                  <a:tcPr anchor="ctr" marT="19050" marB="19050" marL="50800" marR="50800">
                    <a:solidFill>
                      <a:srgbClr val="0E2841"/>
                    </a:solidFill>
                  </a:tcPr>
                </a:tc>
                <a:tc>
                  <a:txBody>
                    <a:bodyPr wrap="square"/>
                    <a:lstStyle/>
                    <a:p>
                      <a:pPr algn="ctr"/>
                      <a:r>
                        <a:rPr sz="1030" b="1">
                          <a:solidFill>
                            <a:srgbClr val="FFFFFF"/>
                          </a:solidFill>
                          <a:latin typeface="Arial"/>
                        </a:rPr>
                        <a:t>Nội dung Đặc tả Nguyên tử (Tóm tắt chuẩn 'PHẢI / SHALL' — Đề x = 2)</a:t>
                      </a:r>
                    </a:p>
                  </a:txBody>
                  <a:tcPr anchor="ctr" marT="19050" marB="19050" marL="50800" marR="50800">
                    <a:solidFill>
                      <a:srgbClr val="0E2841"/>
                    </a:solidFill>
                  </a:tcPr>
                </a:tc>
                <a:tc>
                  <a:txBody>
                    <a:bodyPr wrap="square"/>
                    <a:lstStyle/>
                    <a:p>
                      <a:pPr algn="ctr"/>
                      <a:r>
                        <a:rPr sz="1030" b="1">
                          <a:solidFill>
                            <a:srgbClr val="FFFFFF"/>
                          </a:solidFill>
                          <a:latin typeface="Arial"/>
                        </a:rPr>
                        <a:t>Truy vết Nguồn</a:t>
                      </a:r>
                    </a:p>
                  </a:txBody>
                  <a:tcPr anchor="ctr" marT="19050" marB="19050" marL="50800" marR="50800">
                    <a:solidFill>
                      <a:srgbClr val="0E2841"/>
                    </a:solidFill>
                  </a:tcPr>
                </a:tc>
                <a:tc>
                  <a:txBody>
                    <a:bodyPr wrap="square"/>
                    <a:lstStyle/>
                    <a:p>
                      <a:pPr algn="ctr"/>
                      <a:r>
                        <a:rPr sz="1030" b="1">
                          <a:solidFill>
                            <a:srgbClr val="FFFFFF"/>
                          </a:solidFill>
                          <a:latin typeface="Arial"/>
                        </a:rPr>
                        <a:t>Kiểm chứng</a:t>
                      </a:r>
                    </a:p>
                  </a:txBody>
                  <a:tcPr anchor="ctr" marT="19050" marB="19050" marL="50800" marR="50800">
                    <a:solidFill>
                      <a:srgbClr val="0E2841"/>
                    </a:solidFill>
                  </a:tcPr>
                </a:tc>
              </a:tr>
              <a:tr h="427259">
                <a:tc>
                  <a:txBody>
                    <a:bodyPr wrap="square"/>
                    <a:lstStyle/>
                    <a:p>
                      <a:pPr algn="ctr"/>
                      <a:r>
                        <a:rPr sz="890" i="0" b="1">
                          <a:solidFill>
                            <a:srgbClr val="0E2841"/>
                          </a:solidFill>
                          <a:latin typeface="Arial"/>
                        </a:rPr>
                        <a:t>SRS-FUNC-01</a:t>
                      </a:r>
                    </a:p>
                  </a:txBody>
                  <a:tcPr anchor="ctr" marT="19050" marB="19050" marL="50800" marR="50800">
                    <a:solidFill>
                      <a:srgbClr val="FDEDEC"/>
                    </a:solidFill>
                  </a:tcPr>
                </a:tc>
                <a:tc>
                  <a:txBody>
                    <a:bodyPr wrap="square"/>
                    <a:lstStyle/>
                    <a:p>
                      <a:pPr algn="l"/>
                      <a:r>
                        <a:rPr sz="890" i="0" b="1">
                          <a:solidFill>
                            <a:srgbClr val="1B1B1B"/>
                          </a:solidFill>
                          <a:latin typeface="Arial"/>
                        </a:rPr>
                        <a:t>Vận hành 2 chiều &amp; </a:t>
                      </a:r>
                      <a:r>
                        <a:rPr sz="890" i="0" b="1">
                          <a:solidFill>
                            <a:srgbClr val="0E2841"/>
                          </a:solidFill>
                          <a:latin typeface="Arial"/>
                        </a:rPr>
                        <a:t>Khóa liên động đảo chiều</a:t>
                      </a:r>
                    </a:p>
                  </a:txBody>
                  <a:tcPr anchor="ctr" marT="19050" marB="19050" marL="50800" marR="50800">
                    <a:solidFill>
                      <a:srgbClr val="FDEDEC"/>
                    </a:solidFill>
                  </a:tcPr>
                </a:tc>
                <a:tc>
                  <a:txBody>
                    <a:bodyPr wrap="square"/>
                    <a:lstStyle/>
                    <a:p>
                      <a:pPr algn="l"/>
                      <a:r>
                        <a:rPr sz="890" i="0" b="1">
                          <a:solidFill>
                            <a:srgbClr val="1B1B1B"/>
                          </a:solidFill>
                          <a:latin typeface="Arial"/>
                        </a:rPr>
                        <a:t>Chuyển đổi thuận/nghịch không dùng công-tắc-tơ đảo pha mạch lực; khi có lệnh đảo chiều lúc đang chạy, </a:t>
                      </a:r>
                      <a:r>
                        <a:rPr sz="890" i="0" b="1">
                          <a:solidFill>
                            <a:srgbClr val="0E2841"/>
                          </a:solidFill>
                          <a:latin typeface="Arial"/>
                        </a:rPr>
                        <a:t>PHẢI</a:t>
                      </a:r>
                      <a:r>
                        <a:rPr sz="890" i="0" b="1">
                          <a:solidFill>
                            <a:srgbClr val="1B1B1B"/>
                          </a:solidFill>
                          <a:latin typeface="Arial"/>
                        </a:rPr>
                        <a:t> giảm tốc có kiểm soát về </a:t>
                      </a:r>
                      <a:r>
                        <a:rPr sz="890" i="0" b="1">
                          <a:solidFill>
                            <a:srgbClr val="0E2841"/>
                          </a:solidFill>
                          <a:latin typeface="Arial"/>
                        </a:rPr>
                        <a:t>|v_xe(t)| = 0 m/s</a:t>
                      </a:r>
                      <a:r>
                        <a:rPr sz="890" i="0" b="1">
                          <a:solidFill>
                            <a:srgbClr val="1B1B1B"/>
                          </a:solidFill>
                          <a:latin typeface="Arial"/>
                        </a:rPr>
                        <a:t> trước khi đổi chiều.</a:t>
                      </a:r>
                    </a:p>
                  </a:txBody>
                  <a:tcPr anchor="ctr" marT="19050" marB="19050" marL="50800" marR="50800">
                    <a:solidFill>
                      <a:srgbClr val="FDEDEC"/>
                    </a:solidFill>
                  </a:tcPr>
                </a:tc>
                <a:tc>
                  <a:txBody>
                    <a:bodyPr wrap="square"/>
                    <a:lstStyle/>
                    <a:p>
                      <a:pPr algn="l"/>
                      <a:r>
                        <a:rPr sz="890" i="0" b="1">
                          <a:solidFill>
                            <a:srgbClr val="1B1B1B"/>
                          </a:solidFill>
                          <a:latin typeface="Arial"/>
                        </a:rPr>
                        <a:t>PRD-01, GAP-01
</a:t>
                      </a:r>
                      <a:r>
                        <a:rPr sz="890" i="0" b="1">
                          <a:solidFill>
                            <a:srgbClr val="C00000"/>
                          </a:solidFill>
                          <a:latin typeface="Arial"/>
                        </a:rPr>
                        <a:t>CTS-01</a:t>
                      </a:r>
                    </a:p>
                  </a:txBody>
                  <a:tcPr anchor="ctr" marT="19050" marB="19050" marL="50800" marR="50800">
                    <a:solidFill>
                      <a:srgbClr val="FDEDEC"/>
                    </a:solidFill>
                  </a:tcPr>
                </a:tc>
                <a:tc>
                  <a:txBody>
                    <a:bodyPr wrap="square"/>
                    <a:lstStyle/>
                    <a:p>
                      <a:pPr algn="l"/>
                      <a:r>
                        <a:rPr sz="890" i="0" b="1">
                          <a:solidFill>
                            <a:srgbClr val="0E2841"/>
                          </a:solidFill>
                          <a:latin typeface="Arial"/>
                        </a:rPr>
                        <a:t>DVP-L0-01</a:t>
                      </a:r>
                      <a:r>
                        <a:rPr sz="890" i="0" b="1">
                          <a:solidFill>
                            <a:srgbClr val="1B1B1B"/>
                          </a:solidFill>
                          <a:latin typeface="Arial"/>
                        </a:rPr>
                        <a:t>
(S, I)</a:t>
                      </a:r>
                    </a:p>
                  </a:txBody>
                  <a:tcPr anchor="ctr" marT="19050" marB="19050" marL="50800" marR="50800">
                    <a:solidFill>
                      <a:srgbClr val="FDEDEC"/>
                    </a:solidFill>
                  </a:tcPr>
                </a:tc>
              </a:tr>
              <a:tr h="427259">
                <a:tc>
                  <a:txBody>
                    <a:bodyPr wrap="square"/>
                    <a:lstStyle/>
                    <a:p>
                      <a:pPr algn="ctr"/>
                      <a:r>
                        <a:rPr sz="890" i="0" b="1">
                          <a:solidFill>
                            <a:srgbClr val="0E2841"/>
                          </a:solidFill>
                          <a:latin typeface="Arial"/>
                        </a:rPr>
                        <a:t>SRS-FUNC-02</a:t>
                      </a:r>
                    </a:p>
                  </a:txBody>
                  <a:tcPr anchor="ctr" marT="19050" marB="19050" marL="50800" marR="50800">
                    <a:solidFill>
                      <a:srgbClr val="F8F9FA"/>
                    </a:solidFill>
                  </a:tcPr>
                </a:tc>
                <a:tc>
                  <a:txBody>
                    <a:bodyPr wrap="square"/>
                    <a:lstStyle/>
                    <a:p>
                      <a:pPr algn="l"/>
                      <a:r>
                        <a:rPr sz="890" i="0" b="0">
                          <a:solidFill>
                            <a:srgbClr val="1B1B1B"/>
                          </a:solidFill>
                          <a:latin typeface="Arial"/>
                        </a:rPr>
                        <a:t>Nội suy </a:t>
                      </a:r>
                      <a:r>
                        <a:rPr sz="890" i="0" b="1">
                          <a:solidFill>
                            <a:srgbClr val="0E2841"/>
                          </a:solidFill>
                          <a:latin typeface="Arial"/>
                        </a:rPr>
                        <a:t>đa cấp tốc độ</a:t>
                      </a:r>
                      <a:r>
                        <a:rPr sz="890" i="0" b="0">
                          <a:solidFill>
                            <a:srgbClr val="1B1B1B"/>
                          </a:solidFill>
                          <a:latin typeface="Arial"/>
                        </a:rPr>
                        <a:t> (Chạy chính &amp; Creep)</a:t>
                      </a:r>
                    </a:p>
                  </a:txBody>
                  <a:tcPr anchor="ctr" marT="19050" marB="19050" marL="50800" marR="50800">
                    <a:solidFill>
                      <a:srgbClr val="F8F9FA"/>
                    </a:solidFill>
                  </a:tcPr>
                </a:tc>
                <a:tc>
                  <a:txBody>
                    <a:bodyPr wrap="square"/>
                    <a:lstStyle/>
                    <a:p>
                      <a:pPr algn="l"/>
                      <a:r>
                        <a:rPr sz="890" i="0" b="0">
                          <a:solidFill>
                            <a:srgbClr val="1B1B1B"/>
                          </a:solidFill>
                          <a:latin typeface="Arial"/>
                        </a:rPr>
                        <a:t>Khi chuyển giữa cấp chạy chính (</a:t>
                      </a:r>
                      <a:r>
                        <a:rPr sz="890" i="0" b="1">
                          <a:solidFill>
                            <a:srgbClr val="0E2841"/>
                          </a:solidFill>
                          <a:latin typeface="Arial"/>
                        </a:rPr>
                        <a:t>0.12 m/s</a:t>
                      </a:r>
                      <a:r>
                        <a:rPr sz="890" i="0" b="0">
                          <a:solidFill>
                            <a:srgbClr val="1B1B1B"/>
                          </a:solidFill>
                          <a:latin typeface="Arial"/>
                        </a:rPr>
                        <a:t>) và cấp bò (</a:t>
                      </a:r>
                      <a:r>
                        <a:rPr sz="890" i="0" b="1">
                          <a:solidFill>
                            <a:srgbClr val="0E2841"/>
                          </a:solidFill>
                          <a:latin typeface="Arial"/>
                        </a:rPr>
                        <a:t>0.030÷0.036 m/s</a:t>
                      </a:r>
                      <a:r>
                        <a:rPr sz="890" i="0" b="0">
                          <a:solidFill>
                            <a:srgbClr val="1B1B1B"/>
                          </a:solidFill>
                          <a:latin typeface="Arial"/>
                        </a:rPr>
                        <a:t>), </a:t>
                      </a:r>
                      <a:r>
                        <a:rPr sz="890" i="0" b="1">
                          <a:solidFill>
                            <a:srgbClr val="0E2841"/>
                          </a:solidFill>
                          <a:latin typeface="Arial"/>
                        </a:rPr>
                        <a:t>PHẢI</a:t>
                      </a:r>
                      <a:r>
                        <a:rPr sz="890" i="0" b="0">
                          <a:solidFill>
                            <a:srgbClr val="1B1B1B"/>
                          </a:solidFill>
                          <a:latin typeface="Arial"/>
                        </a:rPr>
                        <a:t> nội suy quỹ đạo tốc độ liên tục với </a:t>
                      </a:r>
                      <a:r>
                        <a:rPr sz="890" i="0" b="1">
                          <a:solidFill>
                            <a:srgbClr val="0E2841"/>
                          </a:solidFill>
                          <a:latin typeface="Arial"/>
                        </a:rPr>
                        <a:t>|a(t)| ≤ 0.50 m/s²</a:t>
                      </a:r>
                      <a:r>
                        <a:rPr sz="890" i="0" b="0">
                          <a:solidFill>
                            <a:srgbClr val="1B1B1B"/>
                          </a:solidFill>
                          <a:latin typeface="Arial"/>
                        </a:rPr>
                        <a:t>, cấm nhảy bậc tức thời.</a:t>
                      </a:r>
                    </a:p>
                  </a:txBody>
                  <a:tcPr anchor="ctr" marT="19050" marB="19050" marL="50800" marR="50800">
                    <a:solidFill>
                      <a:srgbClr val="F8F9FA"/>
                    </a:solidFill>
                  </a:tcPr>
                </a:tc>
                <a:tc>
                  <a:txBody>
                    <a:bodyPr wrap="square"/>
                    <a:lstStyle/>
                    <a:p>
                      <a:pPr algn="l"/>
                      <a:r>
                        <a:rPr sz="890" i="0" b="0">
                          <a:solidFill>
                            <a:srgbClr val="1B1B1B"/>
                          </a:solidFill>
                          <a:latin typeface="Arial"/>
                        </a:rPr>
                        <a:t>PRD-02, EC-02
GAP-02</a:t>
                      </a:r>
                    </a:p>
                  </a:txBody>
                  <a:tcPr anchor="ctr" marT="19050" marB="19050" marL="50800" marR="50800">
                    <a:solidFill>
                      <a:srgbClr val="F8F9FA"/>
                    </a:solidFill>
                  </a:tcPr>
                </a:tc>
                <a:tc>
                  <a:txBody>
                    <a:bodyPr wrap="square"/>
                    <a:lstStyle/>
                    <a:p>
                      <a:pPr algn="l"/>
                      <a:r>
                        <a:rPr sz="890" i="0" b="1">
                          <a:solidFill>
                            <a:srgbClr val="0E2841"/>
                          </a:solidFill>
                          <a:latin typeface="Arial"/>
                        </a:rPr>
                        <a:t>DVP-L0-02</a:t>
                      </a:r>
                      <a:r>
                        <a:rPr sz="890" i="0" b="0">
                          <a:solidFill>
                            <a:srgbClr val="1B1B1B"/>
                          </a:solidFill>
                          <a:latin typeface="Arial"/>
                        </a:rPr>
                        <a:t>
(S)</a:t>
                      </a:r>
                    </a:p>
                  </a:txBody>
                  <a:tcPr anchor="ctr" marT="19050" marB="19050" marL="50800" marR="50800">
                    <a:solidFill>
                      <a:srgbClr val="F8F9FA"/>
                    </a:solidFill>
                  </a:tcPr>
                </a:tc>
              </a:tr>
              <a:tr h="427259">
                <a:tc>
                  <a:txBody>
                    <a:bodyPr wrap="square"/>
                    <a:lstStyle/>
                    <a:p>
                      <a:pPr algn="ctr"/>
                      <a:r>
                        <a:rPr sz="890" i="0" b="1">
                          <a:solidFill>
                            <a:srgbClr val="0E2841"/>
                          </a:solidFill>
                          <a:latin typeface="Arial"/>
                        </a:rPr>
                        <a:t>SRS-FUNC-03</a:t>
                      </a:r>
                    </a:p>
                  </a:txBody>
                  <a:tcPr anchor="ctr" marT="19050" marB="19050" marL="50800" marR="50800">
                    <a:solidFill>
                      <a:srgbClr val="FDEDEC"/>
                    </a:solidFill>
                  </a:tcPr>
                </a:tc>
                <a:tc>
                  <a:txBody>
                    <a:bodyPr wrap="square"/>
                    <a:lstStyle/>
                    <a:p>
                      <a:pPr algn="l"/>
                      <a:r>
                        <a:rPr sz="890" i="0" b="1">
                          <a:solidFill>
                            <a:srgbClr val="1B1B1B"/>
                          </a:solidFill>
                          <a:latin typeface="Arial"/>
                        </a:rPr>
                        <a:t>Trình tự </a:t>
                      </a:r>
                      <a:r>
                        <a:rPr sz="890" i="0" b="1">
                          <a:solidFill>
                            <a:srgbClr val="0E2841"/>
                          </a:solidFill>
                          <a:latin typeface="Arial"/>
                        </a:rPr>
                        <a:t>Dừng chủ động (Stop Category 1)</a:t>
                      </a:r>
                    </a:p>
                  </a:txBody>
                  <a:tcPr anchor="ctr" marT="19050" marB="19050" marL="50800" marR="50800">
                    <a:solidFill>
                      <a:srgbClr val="FDEDEC"/>
                    </a:solidFill>
                  </a:tcPr>
                </a:tc>
                <a:tc>
                  <a:txBody>
                    <a:bodyPr wrap="square"/>
                    <a:lstStyle/>
                    <a:p>
                      <a:pPr algn="l"/>
                      <a:r>
                        <a:rPr sz="890" i="0" b="1">
                          <a:solidFill>
                            <a:srgbClr val="1B1B1B"/>
                          </a:solidFill>
                          <a:latin typeface="Arial"/>
                        </a:rPr>
                        <a:t>Khi nhận lệnh dừng, </a:t>
                      </a:r>
                      <a:r>
                        <a:rPr sz="890" i="0" b="1">
                          <a:solidFill>
                            <a:srgbClr val="0E2841"/>
                          </a:solidFill>
                          <a:latin typeface="Arial"/>
                        </a:rPr>
                        <a:t>PHẢI</a:t>
                      </a:r>
                      <a:r>
                        <a:rPr sz="890" i="0" b="1">
                          <a:solidFill>
                            <a:srgbClr val="1B1B1B"/>
                          </a:solidFill>
                          <a:latin typeface="Arial"/>
                        </a:rPr>
                        <a:t> hãm tái sinh chủ động theo S-Curve (</a:t>
                      </a:r>
                      <a:r>
                        <a:rPr sz="890" i="0" b="1">
                          <a:solidFill>
                            <a:srgbClr val="0E2841"/>
                          </a:solidFill>
                          <a:latin typeface="Arial"/>
                        </a:rPr>
                        <a:t>|a| ≤ 0.50 m/s²</a:t>
                      </a:r>
                      <a:r>
                        <a:rPr sz="890" i="0" b="1">
                          <a:solidFill>
                            <a:srgbClr val="1B1B1B"/>
                          </a:solidFill>
                          <a:latin typeface="Arial"/>
                        </a:rPr>
                        <a:t>) đưa tốc độ về vùng lân cận </a:t>
                      </a:r>
                      <a:r>
                        <a:rPr sz="890" i="0" b="1">
                          <a:solidFill>
                            <a:srgbClr val="0E2841"/>
                          </a:solidFill>
                          <a:latin typeface="Arial"/>
                        </a:rPr>
                        <a:t>0 m/s</a:t>
                      </a:r>
                      <a:r>
                        <a:rPr sz="890" i="0" b="1">
                          <a:solidFill>
                            <a:srgbClr val="1B1B1B"/>
                          </a:solidFill>
                          <a:latin typeface="Arial"/>
                        </a:rPr>
                        <a:t> trước khi phát lệnh đóng phanh cơ khí.</a:t>
                      </a:r>
                    </a:p>
                  </a:txBody>
                  <a:tcPr anchor="ctr" marT="19050" marB="19050" marL="50800" marR="50800">
                    <a:solidFill>
                      <a:srgbClr val="FDEDEC"/>
                    </a:solidFill>
                  </a:tcPr>
                </a:tc>
                <a:tc>
                  <a:txBody>
                    <a:bodyPr wrap="square"/>
                    <a:lstStyle/>
                    <a:p>
                      <a:pPr algn="l"/>
                      <a:r>
                        <a:rPr sz="890" i="0" b="1">
                          <a:solidFill>
                            <a:srgbClr val="1B1B1B"/>
                          </a:solidFill>
                          <a:latin typeface="Arial"/>
                        </a:rPr>
                        <a:t>PRD-06, RRM-02
</a:t>
                      </a:r>
                      <a:r>
                        <a:rPr sz="890" i="0" b="1">
                          <a:solidFill>
                            <a:srgbClr val="C00000"/>
                          </a:solidFill>
                          <a:latin typeface="Arial"/>
                        </a:rPr>
                        <a:t>CTS-02</a:t>
                      </a:r>
                    </a:p>
                  </a:txBody>
                  <a:tcPr anchor="ctr" marT="19050" marB="19050" marL="50800" marR="50800">
                    <a:solidFill>
                      <a:srgbClr val="FDEDEC"/>
                    </a:solidFill>
                  </a:tcPr>
                </a:tc>
                <a:tc>
                  <a:txBody>
                    <a:bodyPr wrap="square"/>
                    <a:lstStyle/>
                    <a:p>
                      <a:pPr algn="l"/>
                      <a:r>
                        <a:rPr sz="890" i="0" b="1">
                          <a:solidFill>
                            <a:srgbClr val="0E2841"/>
                          </a:solidFill>
                          <a:latin typeface="Arial"/>
                        </a:rPr>
                        <a:t>DVP-L0-03</a:t>
                      </a:r>
                      <a:r>
                        <a:rPr sz="890" i="0" b="1">
                          <a:solidFill>
                            <a:srgbClr val="1B1B1B"/>
                          </a:solidFill>
                          <a:latin typeface="Arial"/>
                        </a:rPr>
                        <a:t>
(S, I)</a:t>
                      </a:r>
                    </a:p>
                  </a:txBody>
                  <a:tcPr anchor="ctr" marT="19050" marB="19050" marL="50800" marR="50800">
                    <a:solidFill>
                      <a:srgbClr val="FDEDEC"/>
                    </a:solidFill>
                  </a:tcPr>
                </a:tc>
              </a:tr>
              <a:tr h="427259">
                <a:tc>
                  <a:txBody>
                    <a:bodyPr wrap="square"/>
                    <a:lstStyle/>
                    <a:p>
                      <a:pPr algn="ctr"/>
                      <a:r>
                        <a:rPr sz="890" i="0" b="1">
                          <a:solidFill>
                            <a:srgbClr val="0E2841"/>
                          </a:solidFill>
                          <a:latin typeface="Arial"/>
                        </a:rPr>
                        <a:t>SRS-FUNC-04</a:t>
                      </a:r>
                    </a:p>
                  </a:txBody>
                  <a:tcPr anchor="ctr" marT="19050" marB="19050" marL="50800" marR="50800">
                    <a:solidFill>
                      <a:srgbClr val="FDEDEC"/>
                    </a:solidFill>
                  </a:tcPr>
                </a:tc>
                <a:tc>
                  <a:txBody>
                    <a:bodyPr wrap="square"/>
                    <a:lstStyle/>
                    <a:p>
                      <a:pPr algn="l"/>
                      <a:r>
                        <a:rPr sz="890" i="0" b="1">
                          <a:solidFill>
                            <a:srgbClr val="0E2841"/>
                          </a:solidFill>
                          <a:latin typeface="Arial"/>
                        </a:rPr>
                        <a:t>Giữ mô-men tại 0 rpm</a:t>
                      </a:r>
                      <a:r>
                        <a:rPr sz="890" i="0" b="1">
                          <a:solidFill>
                            <a:srgbClr val="1B1B1B"/>
                          </a:solidFill>
                          <a:latin typeface="Arial"/>
                        </a:rPr>
                        <a:t> &amp; Phối hợp phanh</a:t>
                      </a:r>
                    </a:p>
                  </a:txBody>
                  <a:tcPr anchor="ctr" marT="19050" marB="19050" marL="50800" marR="50800">
                    <a:solidFill>
                      <a:srgbClr val="FDEDEC"/>
                    </a:solidFill>
                  </a:tcPr>
                </a:tc>
                <a:tc>
                  <a:txBody>
                    <a:bodyPr wrap="square"/>
                    <a:lstStyle/>
                    <a:p>
                      <a:pPr algn="l"/>
                      <a:r>
                        <a:rPr sz="890" i="0" b="1">
                          <a:solidFill>
                            <a:srgbClr val="1B1B1B"/>
                          </a:solidFill>
                          <a:latin typeface="Arial"/>
                        </a:rPr>
                        <a:t>Trước khi nhả phanh và trước khi đóng phanh, </a:t>
                      </a:r>
                      <a:r>
                        <a:rPr sz="890" i="0" b="1">
                          <a:solidFill>
                            <a:srgbClr val="0E2841"/>
                          </a:solidFill>
                          <a:latin typeface="Arial"/>
                        </a:rPr>
                        <a:t>PHẢI</a:t>
                      </a:r>
                      <a:r>
                        <a:rPr sz="890" i="0" b="1">
                          <a:solidFill>
                            <a:srgbClr val="1B1B1B"/>
                          </a:solidFill>
                          <a:latin typeface="Arial"/>
                        </a:rPr>
                        <a:t> duy trì mô-men điện từ </a:t>
                      </a:r>
                      <a:r>
                        <a:rPr sz="890" i="0" b="1">
                          <a:solidFill>
                            <a:srgbClr val="196B24"/>
                          </a:solidFill>
                          <a:latin typeface="Arial"/>
                        </a:rPr>
                        <a:t>M_hold ∈ [100%; 150%] M_đm</a:t>
                      </a:r>
                      <a:r>
                        <a:rPr sz="890" i="0" b="1">
                          <a:solidFill>
                            <a:srgbClr val="1B1B1B"/>
                          </a:solidFill>
                          <a:latin typeface="Arial"/>
                        </a:rPr>
                        <a:t> tại </a:t>
                      </a:r>
                      <a:r>
                        <a:rPr sz="890" i="0" b="1">
                          <a:solidFill>
                            <a:srgbClr val="0E2841"/>
                          </a:solidFill>
                          <a:latin typeface="Arial"/>
                        </a:rPr>
                        <a:t>0 rpm</a:t>
                      </a:r>
                      <a:r>
                        <a:rPr sz="890" i="0" b="1">
                          <a:solidFill>
                            <a:srgbClr val="1B1B1B"/>
                          </a:solidFill>
                          <a:latin typeface="Arial"/>
                        </a:rPr>
                        <a:t>, bảo đảm </a:t>
                      </a:r>
                      <a:r>
                        <a:rPr sz="890" i="0" b="1">
                          <a:solidFill>
                            <a:srgbClr val="0E2841"/>
                          </a:solidFill>
                          <a:latin typeface="Arial"/>
                        </a:rPr>
                        <a:t>0 mm trôi tải</a:t>
                      </a:r>
                      <a:r>
                        <a:rPr sz="890" i="0" b="1">
                          <a:solidFill>
                            <a:srgbClr val="1B1B1B"/>
                          </a:solidFill>
                          <a:latin typeface="Arial"/>
                        </a:rPr>
                        <a:t> và không giật cơ khí.</a:t>
                      </a:r>
                    </a:p>
                  </a:txBody>
                  <a:tcPr anchor="ctr" marT="19050" marB="19050" marL="50800" marR="50800">
                    <a:solidFill>
                      <a:srgbClr val="FDEDEC"/>
                    </a:solidFill>
                  </a:tcPr>
                </a:tc>
                <a:tc>
                  <a:txBody>
                    <a:bodyPr wrap="square"/>
                    <a:lstStyle/>
                    <a:p>
                      <a:pPr algn="l"/>
                      <a:r>
                        <a:rPr sz="890" i="0" b="1">
                          <a:solidFill>
                            <a:srgbClr val="1B1B1B"/>
                          </a:solidFill>
                          <a:latin typeface="Arial"/>
                        </a:rPr>
                        <a:t>PRD-04, EC-06
GAP-03, </a:t>
                      </a:r>
                      <a:r>
                        <a:rPr sz="890" i="0" b="1">
                          <a:solidFill>
                            <a:srgbClr val="C00000"/>
                          </a:solidFill>
                          <a:latin typeface="Arial"/>
                        </a:rPr>
                        <a:t>CTS-03</a:t>
                      </a:r>
                    </a:p>
                  </a:txBody>
                  <a:tcPr anchor="ctr" marT="19050" marB="19050" marL="50800" marR="50800">
                    <a:solidFill>
                      <a:srgbClr val="FDEDEC"/>
                    </a:solidFill>
                  </a:tcPr>
                </a:tc>
                <a:tc>
                  <a:txBody>
                    <a:bodyPr wrap="square"/>
                    <a:lstStyle/>
                    <a:p>
                      <a:pPr algn="l"/>
                      <a:r>
                        <a:rPr sz="890" i="0" b="1">
                          <a:solidFill>
                            <a:srgbClr val="0E2841"/>
                          </a:solidFill>
                          <a:latin typeface="Arial"/>
                        </a:rPr>
                        <a:t>DVP-L0-04</a:t>
                      </a:r>
                      <a:r>
                        <a:rPr sz="890" i="0" b="1">
                          <a:solidFill>
                            <a:srgbClr val="1B1B1B"/>
                          </a:solidFill>
                          <a:latin typeface="Arial"/>
                        </a:rPr>
                        <a:t>
(S, A)</a:t>
                      </a:r>
                    </a:p>
                  </a:txBody>
                  <a:tcPr anchor="ctr" marT="19050" marB="19050" marL="50800" marR="50800">
                    <a:solidFill>
                      <a:srgbClr val="FDEDEC"/>
                    </a:solidFill>
                  </a:tcPr>
                </a:tc>
              </a:tr>
              <a:tr h="427259">
                <a:tc>
                  <a:txBody>
                    <a:bodyPr wrap="square"/>
                    <a:lstStyle/>
                    <a:p>
                      <a:pPr algn="ctr"/>
                      <a:r>
                        <a:rPr sz="890" i="0" b="1">
                          <a:solidFill>
                            <a:srgbClr val="0E2841"/>
                          </a:solidFill>
                          <a:latin typeface="Arial"/>
                        </a:rPr>
                        <a:t>SRS-FUNC-05</a:t>
                      </a:r>
                    </a:p>
                  </a:txBody>
                  <a:tcPr anchor="ctr" marT="19050" marB="19050" marL="50800" marR="50800">
                    <a:solidFill>
                      <a:srgbClr val="FFFFFF"/>
                    </a:solidFill>
                  </a:tcPr>
                </a:tc>
                <a:tc>
                  <a:txBody>
                    <a:bodyPr wrap="square"/>
                    <a:lstStyle/>
                    <a:p>
                      <a:pPr algn="l"/>
                      <a:r>
                        <a:rPr sz="890" i="0" b="0">
                          <a:solidFill>
                            <a:srgbClr val="1B1B1B"/>
                          </a:solidFill>
                          <a:latin typeface="Arial"/>
                        </a:rPr>
                        <a:t>Cấu trúc </a:t>
                      </a:r>
                      <a:r>
                        <a:rPr sz="890" i="0" b="1">
                          <a:solidFill>
                            <a:srgbClr val="0E2841"/>
                          </a:solidFill>
                          <a:latin typeface="Arial"/>
                        </a:rPr>
                        <a:t>Vector FOC vòng kín có Encoder</a:t>
                      </a:r>
                    </a:p>
                  </a:txBody>
                  <a:tcPr anchor="ctr" marT="19050" marB="19050" marL="50800" marR="50800">
                    <a:solidFill>
                      <a:srgbClr val="FFFFFF"/>
                    </a:solidFill>
                  </a:tcPr>
                </a:tc>
                <a:tc>
                  <a:txBody>
                    <a:bodyPr wrap="square"/>
                    <a:lstStyle/>
                    <a:p>
                      <a:pPr algn="l"/>
                      <a:r>
                        <a:rPr sz="890" i="0" b="1">
                          <a:solidFill>
                            <a:srgbClr val="0E2841"/>
                          </a:solidFill>
                          <a:latin typeface="Arial"/>
                        </a:rPr>
                        <a:t>PHẢI</a:t>
                      </a:r>
                      <a:r>
                        <a:rPr sz="890" i="0" b="0">
                          <a:solidFill>
                            <a:srgbClr val="1B1B1B"/>
                          </a:solidFill>
                          <a:latin typeface="Arial"/>
                        </a:rPr>
                        <a:t> trang bị phản hồi tốc độ thực từ </a:t>
                      </a:r>
                      <a:r>
                        <a:rPr sz="890" i="0" b="1">
                          <a:solidFill>
                            <a:srgbClr val="0E2841"/>
                          </a:solidFill>
                          <a:latin typeface="Arial"/>
                        </a:rPr>
                        <a:t>Encoder</a:t>
                      </a:r>
                      <a:r>
                        <a:rPr sz="890" i="0" b="0">
                          <a:solidFill>
                            <a:srgbClr val="1B1B1B"/>
                          </a:solidFill>
                          <a:latin typeface="Arial"/>
                        </a:rPr>
                        <a:t> và điều khiển định hướng từ trường rô-to (</a:t>
                      </a:r>
                      <a:r>
                        <a:rPr sz="890" i="0" b="1">
                          <a:solidFill>
                            <a:srgbClr val="0E2841"/>
                          </a:solidFill>
                          <a:latin typeface="Arial"/>
                        </a:rPr>
                        <a:t>RFOC</a:t>
                      </a:r>
                      <a:r>
                        <a:rPr sz="890" i="0" b="0">
                          <a:solidFill>
                            <a:srgbClr val="1B1B1B"/>
                          </a:solidFill>
                          <a:latin typeface="Arial"/>
                        </a:rPr>
                        <a:t>), tách độc lập kênh từ thông (</a:t>
                      </a:r>
                      <a:r>
                        <a:rPr sz="890" i="0" b="1">
                          <a:solidFill>
                            <a:srgbClr val="0E2841"/>
                          </a:solidFill>
                          <a:latin typeface="Arial"/>
                        </a:rPr>
                        <a:t>i_sd</a:t>
                      </a:r>
                      <a:r>
                        <a:rPr sz="890" i="0" b="0">
                          <a:solidFill>
                            <a:srgbClr val="1B1B1B"/>
                          </a:solidFill>
                          <a:latin typeface="Arial"/>
                        </a:rPr>
                        <a:t>) và kênh mô-men (</a:t>
                      </a:r>
                      <a:r>
                        <a:rPr sz="890" i="0" b="1">
                          <a:solidFill>
                            <a:srgbClr val="0E2841"/>
                          </a:solidFill>
                          <a:latin typeface="Arial"/>
                        </a:rPr>
                        <a:t>i_sq</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0">
                          <a:solidFill>
                            <a:srgbClr val="1B1B1B"/>
                          </a:solidFill>
                          <a:latin typeface="Arial"/>
                        </a:rPr>
                        <a:t>PRD-02,PRD-03
PA C (812đ)</a:t>
                      </a:r>
                    </a:p>
                  </a:txBody>
                  <a:tcPr anchor="ctr" marT="19050" marB="19050" marL="50800" marR="50800">
                    <a:solidFill>
                      <a:srgbClr val="FFFFFF"/>
                    </a:solidFill>
                  </a:tcPr>
                </a:tc>
                <a:tc>
                  <a:txBody>
                    <a:bodyPr wrap="square"/>
                    <a:lstStyle/>
                    <a:p>
                      <a:pPr algn="l"/>
                      <a:r>
                        <a:rPr sz="890" i="0" b="1">
                          <a:solidFill>
                            <a:srgbClr val="0E2841"/>
                          </a:solidFill>
                          <a:latin typeface="Arial"/>
                        </a:rPr>
                        <a:t>DVP-L0-05</a:t>
                      </a:r>
                      <a:r>
                        <a:rPr sz="890" i="0" b="0">
                          <a:solidFill>
                            <a:srgbClr val="1B1B1B"/>
                          </a:solidFill>
                          <a:latin typeface="Arial"/>
                        </a:rPr>
                        <a:t>
(I, S)</a:t>
                      </a:r>
                    </a:p>
                  </a:txBody>
                  <a:tcPr anchor="ctr" marT="19050" marB="19050" marL="50800" marR="50800">
                    <a:solidFill>
                      <a:srgbClr val="FFFFFF"/>
                    </a:solidFill>
                  </a:tcPr>
                </a:tc>
              </a:tr>
              <a:tr h="427259">
                <a:tc>
                  <a:txBody>
                    <a:bodyPr wrap="square"/>
                    <a:lstStyle/>
                    <a:p>
                      <a:pPr algn="ctr"/>
                      <a:r>
                        <a:rPr sz="890" i="0" b="1">
                          <a:solidFill>
                            <a:srgbClr val="0E2841"/>
                          </a:solidFill>
                          <a:latin typeface="Arial"/>
                        </a:rPr>
                        <a:t>SRS-FUNC-06</a:t>
                      </a:r>
                    </a:p>
                  </a:txBody>
                  <a:tcPr anchor="ctr" marT="19050" marB="19050" marL="50800" marR="50800">
                    <a:solidFill>
                      <a:srgbClr val="FDEDEC"/>
                    </a:solidFill>
                  </a:tcPr>
                </a:tc>
                <a:tc>
                  <a:txBody>
                    <a:bodyPr wrap="square"/>
                    <a:lstStyle/>
                    <a:p>
                      <a:pPr algn="l"/>
                      <a:r>
                        <a:rPr sz="890" i="0" b="1">
                          <a:solidFill>
                            <a:srgbClr val="1B1B1B"/>
                          </a:solidFill>
                          <a:latin typeface="Arial"/>
                        </a:rPr>
                        <a:t>Hãm tái sinh </a:t>
                      </a:r>
                      <a:r>
                        <a:rPr sz="890" i="0" b="1">
                          <a:solidFill>
                            <a:srgbClr val="0E2841"/>
                          </a:solidFill>
                          <a:latin typeface="Arial"/>
                        </a:rPr>
                        <a:t>4 góc phần tư</a:t>
                      </a:r>
                      <a:r>
                        <a:rPr sz="890" i="0" b="1">
                          <a:solidFill>
                            <a:srgbClr val="1B1B1B"/>
                          </a:solidFill>
                          <a:latin typeface="Arial"/>
                        </a:rPr>
                        <a:t> &amp; </a:t>
                      </a:r>
                      <a:r>
                        <a:rPr sz="890" i="0" b="1">
                          <a:solidFill>
                            <a:srgbClr val="0E2841"/>
                          </a:solidFill>
                          <a:latin typeface="Arial"/>
                        </a:rPr>
                        <a:t>Chopper R_h</a:t>
                      </a:r>
                    </a:p>
                  </a:txBody>
                  <a:tcPr anchor="ctr" marT="19050" marB="19050" marL="50800" marR="50800">
                    <a:solidFill>
                      <a:srgbClr val="FDEDEC"/>
                    </a:solidFill>
                  </a:tcPr>
                </a:tc>
                <a:tc>
                  <a:txBody>
                    <a:bodyPr wrap="square"/>
                    <a:lstStyle/>
                    <a:p>
                      <a:pPr algn="l"/>
                      <a:r>
                        <a:rPr sz="890" i="0" b="1">
                          <a:solidFill>
                            <a:srgbClr val="1B1B1B"/>
                          </a:solidFill>
                          <a:latin typeface="Arial"/>
                        </a:rPr>
                        <a:t>Khi hãm ở </a:t>
                      </a:r>
                      <a:r>
                        <a:rPr sz="890" i="0" b="1">
                          <a:solidFill>
                            <a:srgbClr val="0E2841"/>
                          </a:solidFill>
                          <a:latin typeface="Arial"/>
                        </a:rPr>
                        <a:t>Q2/Q4</a:t>
                      </a:r>
                      <a:r>
                        <a:rPr sz="890" i="0" b="1">
                          <a:solidFill>
                            <a:srgbClr val="1B1B1B"/>
                          </a:solidFill>
                          <a:latin typeface="Arial"/>
                        </a:rPr>
                        <a:t>, </a:t>
                      </a:r>
                      <a:r>
                        <a:rPr sz="890" i="0" b="1">
                          <a:solidFill>
                            <a:srgbClr val="0E2841"/>
                          </a:solidFill>
                          <a:latin typeface="Arial"/>
                        </a:rPr>
                        <a:t>PHẢI</a:t>
                      </a:r>
                      <a:r>
                        <a:rPr sz="890" i="0" b="1">
                          <a:solidFill>
                            <a:srgbClr val="1B1B1B"/>
                          </a:solidFill>
                          <a:latin typeface="Arial"/>
                        </a:rPr>
                        <a:t> kích hoạt </a:t>
                      </a:r>
                      <a:r>
                        <a:rPr sz="890" i="0" b="1">
                          <a:solidFill>
                            <a:srgbClr val="0E2841"/>
                          </a:solidFill>
                          <a:latin typeface="Arial"/>
                        </a:rPr>
                        <a:t>Braking Chopper + điện trở R_h</a:t>
                      </a:r>
                      <a:r>
                        <a:rPr sz="890" i="0" b="1">
                          <a:solidFill>
                            <a:srgbClr val="1B1B1B"/>
                          </a:solidFill>
                          <a:latin typeface="Arial"/>
                        </a:rPr>
                        <a:t> xả năng lượng dư, giữ điện áp bus một chiều </a:t>
                      </a:r>
                      <a:r>
                        <a:rPr sz="890" i="0" b="1">
                          <a:solidFill>
                            <a:srgbClr val="0E2841"/>
                          </a:solidFill>
                          <a:latin typeface="Arial"/>
                        </a:rPr>
                        <a:t>U_dc(t) &lt; 780 V DC</a:t>
                      </a:r>
                      <a:r>
                        <a:rPr sz="890" i="0" b="1">
                          <a:solidFill>
                            <a:srgbClr val="1B1B1B"/>
                          </a:solidFill>
                          <a:latin typeface="Arial"/>
                        </a:rPr>
                        <a:t> (dưới ngưỡng bảo vệ 800V DC).</a:t>
                      </a:r>
                    </a:p>
                  </a:txBody>
                  <a:tcPr anchor="ctr" marT="19050" marB="19050" marL="50800" marR="50800">
                    <a:solidFill>
                      <a:srgbClr val="FDEDEC"/>
                    </a:solidFill>
                  </a:tcPr>
                </a:tc>
                <a:tc>
                  <a:txBody>
                    <a:bodyPr wrap="square"/>
                    <a:lstStyle/>
                    <a:p>
                      <a:pPr algn="l"/>
                      <a:r>
                        <a:rPr sz="890" i="0" b="1">
                          <a:solidFill>
                            <a:srgbClr val="1B1B1B"/>
                          </a:solidFill>
                          <a:latin typeface="Arial"/>
                        </a:rPr>
                        <a:t>PRD-05, EC-07
GAP-04, </a:t>
                      </a:r>
                      <a:r>
                        <a:rPr sz="890" i="0" b="1">
                          <a:solidFill>
                            <a:srgbClr val="C00000"/>
                          </a:solidFill>
                          <a:latin typeface="Arial"/>
                        </a:rPr>
                        <a:t>CTS-04</a:t>
                      </a:r>
                    </a:p>
                  </a:txBody>
                  <a:tcPr anchor="ctr" marT="19050" marB="19050" marL="50800" marR="50800">
                    <a:solidFill>
                      <a:srgbClr val="FDEDEC"/>
                    </a:solidFill>
                  </a:tcPr>
                </a:tc>
                <a:tc>
                  <a:txBody>
                    <a:bodyPr wrap="square"/>
                    <a:lstStyle/>
                    <a:p>
                      <a:pPr algn="l"/>
                      <a:r>
                        <a:rPr sz="890" i="0" b="1">
                          <a:solidFill>
                            <a:srgbClr val="0E2841"/>
                          </a:solidFill>
                          <a:latin typeface="Arial"/>
                        </a:rPr>
                        <a:t>DVP-L0-06</a:t>
                      </a:r>
                      <a:r>
                        <a:rPr sz="890" i="0" b="1">
                          <a:solidFill>
                            <a:srgbClr val="1B1B1B"/>
                          </a:solidFill>
                          <a:latin typeface="Arial"/>
                        </a:rPr>
                        <a:t>
(A, S)</a:t>
                      </a:r>
                    </a:p>
                  </a:txBody>
                  <a:tcPr anchor="ctr" marT="19050" marB="19050" marL="50800" marR="50800">
                    <a:solidFill>
                      <a:srgbClr val="FDEDEC"/>
                    </a:solidFill>
                  </a:tcPr>
                </a:tc>
              </a:tr>
              <a:tr h="427259">
                <a:tc>
                  <a:txBody>
                    <a:bodyPr wrap="square"/>
                    <a:lstStyle/>
                    <a:p>
                      <a:pPr algn="ctr"/>
                      <a:r>
                        <a:rPr sz="890" i="0" b="1">
                          <a:solidFill>
                            <a:srgbClr val="0E2841"/>
                          </a:solidFill>
                          <a:latin typeface="Arial"/>
                        </a:rPr>
                        <a:t>SRS-FUNC-07</a:t>
                      </a:r>
                    </a:p>
                  </a:txBody>
                  <a:tcPr anchor="ctr" marT="19050" marB="19050" marL="50800" marR="50800">
                    <a:solidFill>
                      <a:srgbClr val="FFFFFF"/>
                    </a:solidFill>
                  </a:tcPr>
                </a:tc>
                <a:tc>
                  <a:txBody>
                    <a:bodyPr wrap="square"/>
                    <a:lstStyle/>
                    <a:p>
                      <a:pPr algn="l"/>
                      <a:r>
                        <a:rPr sz="890" i="0" b="0">
                          <a:solidFill>
                            <a:srgbClr val="1B1B1B"/>
                          </a:solidFill>
                          <a:latin typeface="Arial"/>
                        </a:rPr>
                        <a:t>Bộ tạo </a:t>
                      </a:r>
                      <a:r>
                        <a:rPr sz="890" i="0" b="1">
                          <a:solidFill>
                            <a:srgbClr val="0E2841"/>
                          </a:solidFill>
                          <a:latin typeface="Arial"/>
                        </a:rPr>
                        <a:t>Quỹ đạo S-Curve 7 pha</a:t>
                      </a:r>
                      <a:r>
                        <a:rPr sz="890" i="0" b="0">
                          <a:solidFill>
                            <a:srgbClr val="1B1B1B"/>
                          </a:solidFill>
                          <a:latin typeface="Arial"/>
                        </a:rPr>
                        <a:t> hạn chế Jerk</a:t>
                      </a:r>
                    </a:p>
                  </a:txBody>
                  <a:tcPr anchor="ctr" marT="19050" marB="19050" marL="50800" marR="50800">
                    <a:solidFill>
                      <a:srgbClr val="FFFFFF"/>
                    </a:solidFill>
                  </a:tcPr>
                </a:tc>
                <a:tc>
                  <a:txBody>
                    <a:bodyPr wrap="square"/>
                    <a:lstStyle/>
                    <a:p>
                      <a:pPr algn="l"/>
                      <a:r>
                        <a:rPr sz="890" i="0" b="1">
                          <a:solidFill>
                            <a:srgbClr val="0E2841"/>
                          </a:solidFill>
                          <a:latin typeface="Arial"/>
                        </a:rPr>
                        <a:t>PHẢI</a:t>
                      </a:r>
                      <a:r>
                        <a:rPr sz="890" i="0" b="0">
                          <a:solidFill>
                            <a:srgbClr val="1B1B1B"/>
                          </a:solidFill>
                          <a:latin typeface="Arial"/>
                        </a:rPr>
                        <a:t> tích hợp bộ tạo quỹ đạo </a:t>
                      </a:r>
                      <a:r>
                        <a:rPr sz="890" i="0" b="1">
                          <a:solidFill>
                            <a:srgbClr val="0E2841"/>
                          </a:solidFill>
                          <a:latin typeface="Arial"/>
                        </a:rPr>
                        <a:t>S-Curve 7 đoạn</a:t>
                      </a:r>
                      <a:r>
                        <a:rPr sz="890" i="0" b="0">
                          <a:solidFill>
                            <a:srgbClr val="1B1B1B"/>
                          </a:solidFill>
                          <a:latin typeface="Arial"/>
                        </a:rPr>
                        <a:t> (tăng/hằng/giảm gia tốc - chạy đều - giảm tốc) để đạo hàm bậc hai </a:t>
                      </a:r>
                      <a:r>
                        <a:rPr sz="890" i="0" b="1">
                          <a:solidFill>
                            <a:srgbClr val="0E2841"/>
                          </a:solidFill>
                          <a:latin typeface="Arial"/>
                        </a:rPr>
                        <a:t>|ρ(t)| ≤ 2.00 m/s³</a:t>
                      </a:r>
                      <a:r>
                        <a:rPr sz="890" i="0" b="0">
                          <a:solidFill>
                            <a:srgbClr val="1B1B1B"/>
                          </a:solidFill>
                          <a:latin typeface="Arial"/>
                        </a:rPr>
                        <a:t> liên tục theo thời gian.</a:t>
                      </a:r>
                    </a:p>
                  </a:txBody>
                  <a:tcPr anchor="ctr" marT="19050" marB="19050" marL="50800" marR="50800">
                    <a:solidFill>
                      <a:srgbClr val="FFFFFF"/>
                    </a:solidFill>
                  </a:tcPr>
                </a:tc>
                <a:tc>
                  <a:txBody>
                    <a:bodyPr wrap="square"/>
                    <a:lstStyle/>
                    <a:p>
                      <a:pPr algn="l"/>
                      <a:r>
                        <a:rPr sz="890" i="0" b="0">
                          <a:solidFill>
                            <a:srgbClr val="1B1B1B"/>
                          </a:solidFill>
                          <a:latin typeface="Arial"/>
                        </a:rPr>
                        <a:t>PRD-06,PRD-07
EC-05, GAP-05</a:t>
                      </a:r>
                    </a:p>
                  </a:txBody>
                  <a:tcPr anchor="ctr" marT="19050" marB="19050" marL="50800" marR="50800">
                    <a:solidFill>
                      <a:srgbClr val="FFFFFF"/>
                    </a:solidFill>
                  </a:tcPr>
                </a:tc>
                <a:tc>
                  <a:txBody>
                    <a:bodyPr wrap="square"/>
                    <a:lstStyle/>
                    <a:p>
                      <a:pPr algn="l"/>
                      <a:r>
                        <a:rPr sz="890" i="0" b="1">
                          <a:solidFill>
                            <a:srgbClr val="0E2841"/>
                          </a:solidFill>
                          <a:latin typeface="Arial"/>
                        </a:rPr>
                        <a:t>DVP-L0-07</a:t>
                      </a:r>
                      <a:r>
                        <a:rPr sz="890" i="0" b="0">
                          <a:solidFill>
                            <a:srgbClr val="1B1B1B"/>
                          </a:solidFill>
                          <a:latin typeface="Arial"/>
                        </a:rPr>
                        <a:t>
(A, S)</a:t>
                      </a:r>
                    </a:p>
                  </a:txBody>
                  <a:tcPr anchor="ctr" marT="19050" marB="19050" marL="50800" marR="50800">
                    <a:solidFill>
                      <a:srgbClr val="FFFFFF"/>
                    </a:solidFill>
                  </a:tcPr>
                </a:tc>
              </a:tr>
            </a:tbl>
          </a:graphicData>
        </a:graphic>
      </p:graphicFrame>
      <p:sp>
        <p:nvSpPr>
          <p:cNvPr id="6" name="Rounded Rectangle 5"/>
          <p:cNvSpPr/>
          <p:nvPr/>
        </p:nvSpPr>
        <p:spPr>
          <a:xfrm>
            <a:off x="310896" y="4754880"/>
            <a:ext cx="11567160" cy="1444752"/>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rawio_09_part1_steps_only.png"/>
          <p:cNvPicPr>
            <a:picLocks noChangeAspect="1"/>
          </p:cNvPicPr>
          <p:nvPr/>
        </p:nvPicPr>
        <p:blipFill>
          <a:blip r:embed="rId3"/>
          <a:stretch>
            <a:fillRect/>
          </a:stretch>
        </p:blipFill>
        <p:spPr>
          <a:xfrm>
            <a:off x="2961311" y="4800600"/>
            <a:ext cx="6266329" cy="1065276"/>
          </a:xfrm>
          <a:prstGeom prst="rect">
            <a:avLst/>
          </a:prstGeom>
        </p:spPr>
      </p:pic>
      <p:sp>
        <p:nvSpPr>
          <p:cNvPr id="8" name="TextBox 7"/>
          <p:cNvSpPr txBox="1"/>
          <p:nvPr/>
        </p:nvSpPr>
        <p:spPr>
          <a:xfrm>
            <a:off x="347472" y="5888736"/>
            <a:ext cx="11494008" cy="292608"/>
          </a:xfrm>
          <a:prstGeom prst="rect">
            <a:avLst/>
          </a:prstGeom>
          <a:noFill/>
        </p:spPr>
        <p:txBody>
          <a:bodyPr wrap="square" anchor="ctr" lIns="12700" tIns="12700" rIns="12700" bIns="12700">
            <a:spAutoFit/>
          </a:bodyPr>
          <a:lstStyle/>
          <a:p>
            <a:pPr algn="ctr"/>
            <a:r>
              <a:rPr sz="880" b="1" i="1">
                <a:solidFill>
                  <a:srgbClr val="0E2841"/>
                </a:solidFill>
                <a:latin typeface="Arial"/>
              </a:rPr>
              <a:t>Sơ đồ 6 bước Logic Phối hợp Mô-men giữ 0 rpm (SRS-FUNC-04) &amp; Dừng chủ động Stop Category 1 (SRS-FUNC-03) — Draw.io 09 (300 DPI)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8. ĐẶC TẢ NHÓM 2: 7 YÊU CẦU HIỆU NĂNG ĐỊNH LƯỢNG (SRS-PERM-01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Khóa chặt các ngưỡng biên độ vật lý của Đề </a:t>
            </a:r>
            <a:r>
              <a:rPr sz="1350" i="0" b="1">
                <a:solidFill>
                  <a:srgbClr val="0E2841"/>
                </a:solidFill>
                <a:latin typeface="Arial"/>
              </a:rPr>
              <a:t>x = 2</a:t>
            </a:r>
            <a:r>
              <a:rPr sz="1350" i="0" b="1">
                <a:solidFill>
                  <a:srgbClr val="C00000"/>
                </a:solidFill>
                <a:latin typeface="Arial"/>
              </a:rPr>
              <a:t> (</a:t>
            </a:r>
            <a:r>
              <a:rPr sz="1350" i="0" b="1">
                <a:solidFill>
                  <a:srgbClr val="0E2841"/>
                </a:solidFill>
                <a:latin typeface="Arial"/>
              </a:rPr>
              <a:t>Q = 12,222 kg</a:t>
            </a:r>
            <a:r>
              <a:rPr sz="1350" i="0" b="1">
                <a:solidFill>
                  <a:srgbClr val="C00000"/>
                </a:solidFill>
                <a:latin typeface="Arial"/>
              </a:rPr>
              <a:t>, </a:t>
            </a:r>
            <a:r>
              <a:rPr sz="1350" i="0" b="1">
                <a:solidFill>
                  <a:srgbClr val="0E2841"/>
                </a:solidFill>
                <a:latin typeface="Arial"/>
              </a:rPr>
              <a:t>v_max = 0.12 m/s</a:t>
            </a:r>
            <a:r>
              <a:rPr sz="1350" i="0" b="1">
                <a:solidFill>
                  <a:srgbClr val="C00000"/>
                </a:solidFill>
                <a:latin typeface="Arial"/>
              </a:rPr>
              <a:t>, </a:t>
            </a:r>
            <a:r>
              <a:rPr sz="1350" i="0" b="1">
                <a:solidFill>
                  <a:srgbClr val="0E2841"/>
                </a:solidFill>
                <a:latin typeface="Arial"/>
              </a:rPr>
              <a:t>|a| ≤ 0.50</a:t>
            </a:r>
            <a:r>
              <a:rPr sz="1350" i="0" b="1">
                <a:solidFill>
                  <a:srgbClr val="C00000"/>
                </a:solidFill>
                <a:latin typeface="Arial"/>
              </a:rPr>
              <a:t>, </a:t>
            </a:r>
            <a:r>
              <a:rPr sz="1350" i="0" b="1">
                <a:solidFill>
                  <a:srgbClr val="0E2841"/>
                </a:solidFill>
                <a:latin typeface="Arial"/>
              </a:rPr>
              <a:t>|ρ| ≤ 2.00</a:t>
            </a:r>
            <a:r>
              <a:rPr sz="1350" i="0" b="1">
                <a:solidFill>
                  <a:srgbClr val="C00000"/>
                </a:solidFill>
                <a:latin typeface="Arial"/>
              </a:rPr>
              <a:t>, </a:t>
            </a:r>
            <a:r>
              <a:rPr sz="1350" i="0" b="1">
                <a:solidFill>
                  <a:srgbClr val="0E2841"/>
                </a:solidFill>
                <a:latin typeface="Arial"/>
              </a:rPr>
              <a:t>S3-40%</a:t>
            </a:r>
            <a:r>
              <a:rPr sz="1350" i="0" b="1">
                <a:solidFill>
                  <a:srgbClr val="C00000"/>
                </a:solidFill>
                <a:latin typeface="Arial"/>
              </a:rPr>
              <a:t>)</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SOW-1.2 — Group 2: Quantitative Performance Requirements | Slide 09 / 16</a:t>
            </a:r>
          </a:p>
        </p:txBody>
      </p:sp>
      <p:graphicFrame>
        <p:nvGraphicFramePr>
          <p:cNvPr id="5" name="Table 4"/>
          <p:cNvGraphicFramePr>
            <a:graphicFrameLocks noGrp="1"/>
          </p:cNvGraphicFramePr>
          <p:nvPr/>
        </p:nvGraphicFramePr>
        <p:xfrm>
          <a:off x="310896" y="1234440"/>
          <a:ext cx="11567160" cy="3309209"/>
        </p:xfrm>
        <a:graphic>
          <a:graphicData uri="http://schemas.openxmlformats.org/drawingml/2006/table">
            <a:tbl>
              <a:tblPr firstRow="1" bandRow="1">
                <a:tableStyleId>{5C22544A-7EE6-4342-B048-85BDC9FD1C3A}</a:tableStyleId>
              </a:tblPr>
              <a:tblGrid>
                <a:gridCol w="1234440"/>
                <a:gridCol w="2331720"/>
                <a:gridCol w="5257800"/>
                <a:gridCol w="1508760"/>
                <a:gridCol w="1234440"/>
              </a:tblGrid>
              <a:tr h="292608">
                <a:tc>
                  <a:txBody>
                    <a:bodyPr wrap="square"/>
                    <a:lstStyle/>
                    <a:p>
                      <a:pPr algn="ctr"/>
                      <a:r>
                        <a:rPr sz="1030" b="1">
                          <a:solidFill>
                            <a:srgbClr val="FFFFFF"/>
                          </a:solidFill>
                          <a:latin typeface="Arial"/>
                        </a:rPr>
                        <a:t>Mã SRS</a:t>
                      </a:r>
                    </a:p>
                  </a:txBody>
                  <a:tcPr anchor="ctr" marT="19050" marB="19050" marL="50800" marR="50800">
                    <a:solidFill>
                      <a:srgbClr val="0E2841"/>
                    </a:solidFill>
                  </a:tcPr>
                </a:tc>
                <a:tc>
                  <a:txBody>
                    <a:bodyPr wrap="square"/>
                    <a:lstStyle/>
                    <a:p>
                      <a:pPr algn="ctr"/>
                      <a:r>
                        <a:rPr sz="1030" b="1">
                          <a:solidFill>
                            <a:srgbClr val="FFFFFF"/>
                          </a:solidFill>
                          <a:latin typeface="Arial"/>
                        </a:rPr>
                        <a:t>Tên Yêu cầu Hiệu năng</a:t>
                      </a:r>
                    </a:p>
                  </a:txBody>
                  <a:tcPr anchor="ctr" marT="19050" marB="19050" marL="50800" marR="50800">
                    <a:solidFill>
                      <a:srgbClr val="0E2841"/>
                    </a:solidFill>
                  </a:tcPr>
                </a:tc>
                <a:tc>
                  <a:txBody>
                    <a:bodyPr wrap="square"/>
                    <a:lstStyle/>
                    <a:p>
                      <a:pPr algn="ctr"/>
                      <a:r>
                        <a:rPr sz="1030" b="1">
                          <a:solidFill>
                            <a:srgbClr val="FFFFFF"/>
                          </a:solidFill>
                          <a:latin typeface="Arial"/>
                        </a:rPr>
                        <a:t>Ngưỡng Định lượng &amp; Dung sai Bắt buộc (Đề x = 2: Q = 12,222 kg)</a:t>
                      </a:r>
                    </a:p>
                  </a:txBody>
                  <a:tcPr anchor="ctr" marT="19050" marB="19050" marL="50800" marR="50800">
                    <a:solidFill>
                      <a:srgbClr val="0E2841"/>
                    </a:solidFill>
                  </a:tcPr>
                </a:tc>
                <a:tc>
                  <a:txBody>
                    <a:bodyPr wrap="square"/>
                    <a:lstStyle/>
                    <a:p>
                      <a:pPr algn="ctr"/>
                      <a:r>
                        <a:rPr sz="1030" b="1">
                          <a:solidFill>
                            <a:srgbClr val="FFFFFF"/>
                          </a:solidFill>
                          <a:latin typeface="Arial"/>
                        </a:rPr>
                        <a:t>Truy vết Nguồn</a:t>
                      </a:r>
                    </a:p>
                  </a:txBody>
                  <a:tcPr anchor="ctr" marT="19050" marB="19050" marL="50800" marR="50800">
                    <a:solidFill>
                      <a:srgbClr val="0E2841"/>
                    </a:solidFill>
                  </a:tcPr>
                </a:tc>
                <a:tc>
                  <a:txBody>
                    <a:bodyPr wrap="square"/>
                    <a:lstStyle/>
                    <a:p>
                      <a:pPr algn="ctr"/>
                      <a:r>
                        <a:rPr sz="1030" b="1">
                          <a:solidFill>
                            <a:srgbClr val="FFFFFF"/>
                          </a:solidFill>
                          <a:latin typeface="Arial"/>
                        </a:rPr>
                        <a:t>Kiểm chứng</a:t>
                      </a:r>
                    </a:p>
                  </a:txBody>
                  <a:tcPr anchor="ctr" marT="19050" marB="19050" marL="50800" marR="50800">
                    <a:solidFill>
                      <a:srgbClr val="0E2841"/>
                    </a:solidFill>
                  </a:tcPr>
                </a:tc>
              </a:tr>
              <a:tr h="430943">
                <a:tc>
                  <a:txBody>
                    <a:bodyPr wrap="square"/>
                    <a:lstStyle/>
                    <a:p>
                      <a:pPr algn="ctr"/>
                      <a:r>
                        <a:rPr sz="890" i="0" b="1">
                          <a:solidFill>
                            <a:srgbClr val="0E2841"/>
                          </a:solidFill>
                          <a:latin typeface="Arial"/>
                        </a:rPr>
                        <a:t>SRS-PERM-01</a:t>
                      </a:r>
                    </a:p>
                  </a:txBody>
                  <a:tcPr anchor="ctr" marT="19050" marB="19050" marL="50800" marR="50800">
                    <a:solidFill>
                      <a:srgbClr val="FEF9E7"/>
                    </a:solidFill>
                  </a:tcPr>
                </a:tc>
                <a:tc>
                  <a:txBody>
                    <a:bodyPr wrap="square"/>
                    <a:lstStyle/>
                    <a:p>
                      <a:pPr algn="l"/>
                      <a:r>
                        <a:rPr sz="890" i="0" b="1">
                          <a:solidFill>
                            <a:srgbClr val="1B1B1B"/>
                          </a:solidFill>
                          <a:latin typeface="Arial"/>
                        </a:rPr>
                        <a:t>Độ chính xác tốc độ </a:t>
                      </a:r>
                      <a:r>
                        <a:rPr sz="890" i="0" b="1">
                          <a:solidFill>
                            <a:srgbClr val="0E2841"/>
                          </a:solidFill>
                          <a:latin typeface="Arial"/>
                        </a:rPr>
                        <a:t>e_xl</a:t>
                      </a:r>
                      <a:r>
                        <a:rPr sz="890" i="0" b="1">
                          <a:solidFill>
                            <a:srgbClr val="1B1B1B"/>
                          </a:solidFill>
                          <a:latin typeface="Arial"/>
                        </a:rPr>
                        <a:t> &amp; Quá điều chỉnh </a:t>
                      </a:r>
                      <a:r>
                        <a:rPr sz="890" i="0" b="1">
                          <a:solidFill>
                            <a:srgbClr val="0E2841"/>
                          </a:solidFill>
                          <a:latin typeface="Arial"/>
                        </a:rPr>
                        <a:t>M_p</a:t>
                      </a:r>
                    </a:p>
                  </a:txBody>
                  <a:tcPr anchor="ctr" marT="19050" marB="19050" marL="50800" marR="50800">
                    <a:solidFill>
                      <a:srgbClr val="FEF9E7"/>
                    </a:solidFill>
                  </a:tcPr>
                </a:tc>
                <a:tc>
                  <a:txBody>
                    <a:bodyPr wrap="square"/>
                    <a:lstStyle/>
                    <a:p>
                      <a:pPr algn="l"/>
                      <a:r>
                        <a:rPr sz="890" i="0" b="1">
                          <a:solidFill>
                            <a:srgbClr val="1B1B1B"/>
                          </a:solidFill>
                          <a:latin typeface="Arial"/>
                        </a:rPr>
                        <a:t>Tại </a:t>
                      </a:r>
                      <a:r>
                        <a:rPr sz="890" i="0" b="1">
                          <a:solidFill>
                            <a:srgbClr val="0E2841"/>
                          </a:solidFill>
                          <a:latin typeface="Arial"/>
                        </a:rPr>
                        <a:t>v_max = 0.12 m/s</a:t>
                      </a:r>
                      <a:r>
                        <a:rPr sz="890" i="0" b="1">
                          <a:solidFill>
                            <a:srgbClr val="1B1B1B"/>
                          </a:solidFill>
                          <a:latin typeface="Arial"/>
                        </a:rPr>
                        <a:t> dưới mọi tải </a:t>
                      </a:r>
                      <a:r>
                        <a:rPr sz="890" i="0" b="1">
                          <a:solidFill>
                            <a:srgbClr val="0E2841"/>
                          </a:solidFill>
                          <a:latin typeface="Arial"/>
                        </a:rPr>
                        <a:t>0 ÷ 12,222 kg</a:t>
                      </a:r>
                      <a:r>
                        <a:rPr sz="890" i="0" b="1">
                          <a:solidFill>
                            <a:srgbClr val="1B1B1B"/>
                          </a:solidFill>
                          <a:latin typeface="Arial"/>
                        </a:rPr>
                        <a:t>: sai số xác lập </a:t>
                      </a:r>
                      <a:r>
                        <a:rPr sz="890" i="0" b="1">
                          <a:solidFill>
                            <a:srgbClr val="0E2841"/>
                          </a:solidFill>
                          <a:latin typeface="Arial"/>
                        </a:rPr>
                        <a:t>e_xl ≤ 5.0%</a:t>
                      </a:r>
                      <a:r>
                        <a:rPr sz="890" i="0" b="1">
                          <a:solidFill>
                            <a:srgbClr val="1B1B1B"/>
                          </a:solidFill>
                          <a:latin typeface="Arial"/>
                        </a:rPr>
                        <a:t> (</a:t>
                      </a:r>
                      <a:r>
                        <a:rPr sz="890" i="0" b="1">
                          <a:solidFill>
                            <a:srgbClr val="0E2841"/>
                          </a:solidFill>
                          <a:latin typeface="Arial"/>
                        </a:rPr>
                        <a:t>0.114 ÷ 0.126 m/s</a:t>
                      </a:r>
                      <a:r>
                        <a:rPr sz="890" i="0" b="1">
                          <a:solidFill>
                            <a:srgbClr val="1B1B1B"/>
                          </a:solidFill>
                          <a:latin typeface="Arial"/>
                        </a:rPr>
                        <a:t>) và độ quá điều chỉnh </a:t>
                      </a:r>
                      <a:r>
                        <a:rPr sz="890" i="0" b="1">
                          <a:solidFill>
                            <a:srgbClr val="0E2841"/>
                          </a:solidFill>
                          <a:latin typeface="Arial"/>
                        </a:rPr>
                        <a:t>M_p ≤ 10.0%</a:t>
                      </a:r>
                      <a:r>
                        <a:rPr sz="890" i="0" b="1">
                          <a:solidFill>
                            <a:srgbClr val="1B1B1B"/>
                          </a:solidFill>
                          <a:latin typeface="Arial"/>
                        </a:rPr>
                        <a:t> (</a:t>
                      </a:r>
                      <a:r>
                        <a:rPr sz="890" i="0" b="1">
                          <a:solidFill>
                            <a:srgbClr val="0E2841"/>
                          </a:solidFill>
                          <a:latin typeface="Arial"/>
                        </a:rPr>
                        <a:t>v_peak ≤ 0.132 m/s</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1B1B1B"/>
                          </a:solidFill>
                          <a:latin typeface="Arial"/>
                        </a:rPr>
                        <a:t>PRD-03, MOP-01
EC-01, </a:t>
                      </a:r>
                      <a:r>
                        <a:rPr sz="890" i="0" b="1">
                          <a:solidFill>
                            <a:srgbClr val="0E2841"/>
                          </a:solidFill>
                          <a:latin typeface="Arial"/>
                        </a:rPr>
                        <a:t>CTQ-01,02</a:t>
                      </a:r>
                    </a:p>
                  </a:txBody>
                  <a:tcPr anchor="ctr" marT="19050" marB="19050" marL="50800" marR="50800">
                    <a:solidFill>
                      <a:srgbClr val="FEF9E7"/>
                    </a:solidFill>
                  </a:tcPr>
                </a:tc>
                <a:tc>
                  <a:txBody>
                    <a:bodyPr wrap="square"/>
                    <a:lstStyle/>
                    <a:p>
                      <a:pPr algn="l"/>
                      <a:r>
                        <a:rPr sz="890" i="0" b="1">
                          <a:solidFill>
                            <a:srgbClr val="0E2841"/>
                          </a:solidFill>
                          <a:latin typeface="Arial"/>
                        </a:rPr>
                        <a:t>DVP-L0-08</a:t>
                      </a:r>
                      <a:r>
                        <a:rPr sz="890" i="0" b="1">
                          <a:solidFill>
                            <a:srgbClr val="1B1B1B"/>
                          </a:solidFill>
                          <a:latin typeface="Arial"/>
                        </a:rPr>
                        <a:t>
(S)</a:t>
                      </a:r>
                    </a:p>
                  </a:txBody>
                  <a:tcPr anchor="ctr" marT="19050" marB="19050" marL="50800" marR="50800">
                    <a:solidFill>
                      <a:srgbClr val="FEF9E7"/>
                    </a:solidFill>
                  </a:tcPr>
                </a:tc>
              </a:tr>
              <a:tr h="430943">
                <a:tc>
                  <a:txBody>
                    <a:bodyPr wrap="square"/>
                    <a:lstStyle/>
                    <a:p>
                      <a:pPr algn="ctr"/>
                      <a:r>
                        <a:rPr sz="890" i="0" b="1">
                          <a:solidFill>
                            <a:srgbClr val="0E2841"/>
                          </a:solidFill>
                          <a:latin typeface="Arial"/>
                        </a:rPr>
                        <a:t>SRS-PERM-02</a:t>
                      </a:r>
                    </a:p>
                  </a:txBody>
                  <a:tcPr anchor="ctr" marT="19050" marB="19050" marL="50800" marR="50800">
                    <a:solidFill>
                      <a:srgbClr val="F8F9FA"/>
                    </a:solidFill>
                  </a:tcPr>
                </a:tc>
                <a:tc>
                  <a:txBody>
                    <a:bodyPr wrap="square"/>
                    <a:lstStyle/>
                    <a:p>
                      <a:pPr algn="l"/>
                      <a:r>
                        <a:rPr sz="890" i="0" b="0">
                          <a:solidFill>
                            <a:srgbClr val="1B1B1B"/>
                          </a:solidFill>
                          <a:latin typeface="Arial"/>
                        </a:rPr>
                        <a:t>Dải điều chỉnh tốc độ (</a:t>
                      </a:r>
                      <a:r>
                        <a:rPr sz="890" i="0" b="1">
                          <a:solidFill>
                            <a:srgbClr val="0E2841"/>
                          </a:solidFill>
                          <a:latin typeface="Arial"/>
                        </a:rPr>
                        <a:t>D ≥ 10:1</a:t>
                      </a:r>
                      <a:r>
                        <a:rPr sz="890" i="0" b="0">
                          <a:solidFill>
                            <a:srgbClr val="1B1B1B"/>
                          </a:solidFill>
                          <a:latin typeface="Arial"/>
                        </a:rPr>
                        <a:t>) &amp; </a:t>
                      </a:r>
                      <a:r>
                        <a:rPr sz="890" i="0" b="1">
                          <a:solidFill>
                            <a:srgbClr val="0E2841"/>
                          </a:solidFill>
                          <a:latin typeface="Arial"/>
                        </a:rPr>
                        <a:t>Tốc độ bò</a:t>
                      </a:r>
                    </a:p>
                  </a:txBody>
                  <a:tcPr anchor="ctr" marT="19050" marB="19050" marL="50800" marR="50800">
                    <a:solidFill>
                      <a:srgbClr val="F8F9FA"/>
                    </a:solidFill>
                  </a:tcPr>
                </a:tc>
                <a:tc>
                  <a:txBody>
                    <a:bodyPr wrap="square"/>
                    <a:lstStyle/>
                    <a:p>
                      <a:pPr algn="l"/>
                      <a:r>
                        <a:rPr sz="890" i="0" b="0">
                          <a:solidFill>
                            <a:srgbClr val="1B1B1B"/>
                          </a:solidFill>
                          <a:latin typeface="Arial"/>
                        </a:rPr>
                        <a:t>Vận hành ổn định ở tốc độ bò </a:t>
                      </a:r>
                      <a:r>
                        <a:rPr sz="890" i="0" b="1">
                          <a:solidFill>
                            <a:srgbClr val="0E2841"/>
                          </a:solidFill>
                          <a:latin typeface="Arial"/>
                        </a:rPr>
                        <a:t>v_creep ∈ [0.030; 0.036] m/s</a:t>
                      </a:r>
                      <a:r>
                        <a:rPr sz="890" i="0" b="0">
                          <a:solidFill>
                            <a:srgbClr val="1B1B1B"/>
                          </a:solidFill>
                          <a:latin typeface="Arial"/>
                        </a:rPr>
                        <a:t> (</a:t>
                      </a:r>
                      <a:r>
                        <a:rPr sz="890" i="0" b="1">
                          <a:solidFill>
                            <a:srgbClr val="0E2841"/>
                          </a:solidFill>
                          <a:latin typeface="Arial"/>
                        </a:rPr>
                        <a:t>25%÷30% v_max</a:t>
                      </a:r>
                      <a:r>
                        <a:rPr sz="890" i="0" b="0">
                          <a:solidFill>
                            <a:srgbClr val="1B1B1B"/>
                          </a:solidFill>
                          <a:latin typeface="Arial"/>
                        </a:rPr>
                        <a:t>) với sai số bám </a:t>
                      </a:r>
                      <a:r>
                        <a:rPr sz="890" i="0" b="1">
                          <a:solidFill>
                            <a:srgbClr val="0E2841"/>
                          </a:solidFill>
                          <a:latin typeface="Arial"/>
                        </a:rPr>
                        <a:t>≤ ±5.0%</a:t>
                      </a:r>
                      <a:r>
                        <a:rPr sz="890" i="0" b="0">
                          <a:solidFill>
                            <a:srgbClr val="1B1B1B"/>
                          </a:solidFill>
                          <a:latin typeface="Arial"/>
                        </a:rPr>
                        <a:t>; đảm bảo dải điều chỉnh </a:t>
                      </a:r>
                      <a:r>
                        <a:rPr sz="890" i="0" b="1">
                          <a:solidFill>
                            <a:srgbClr val="0E2841"/>
                          </a:solidFill>
                          <a:latin typeface="Arial"/>
                        </a:rPr>
                        <a:t>D = v_max/v_min ≥ 10:1</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0">
                          <a:solidFill>
                            <a:srgbClr val="1B1B1B"/>
                          </a:solidFill>
                          <a:latin typeface="Arial"/>
                        </a:rPr>
                        <a:t>PRD-02, EC-02
</a:t>
                      </a:r>
                      <a:r>
                        <a:rPr sz="890" i="0" b="1">
                          <a:solidFill>
                            <a:srgbClr val="0E2841"/>
                          </a:solidFill>
                          <a:latin typeface="Arial"/>
                        </a:rPr>
                        <a:t>CTQ-03</a:t>
                      </a:r>
                    </a:p>
                  </a:txBody>
                  <a:tcPr anchor="ctr" marT="19050" marB="19050" marL="50800" marR="50800">
                    <a:solidFill>
                      <a:srgbClr val="F8F9FA"/>
                    </a:solidFill>
                  </a:tcPr>
                </a:tc>
                <a:tc>
                  <a:txBody>
                    <a:bodyPr wrap="square"/>
                    <a:lstStyle/>
                    <a:p>
                      <a:pPr algn="l"/>
                      <a:r>
                        <a:rPr sz="890" i="0" b="1">
                          <a:solidFill>
                            <a:srgbClr val="0E2841"/>
                          </a:solidFill>
                          <a:latin typeface="Arial"/>
                        </a:rPr>
                        <a:t>DVP-L0-09</a:t>
                      </a:r>
                      <a:r>
                        <a:rPr sz="890" i="0" b="0">
                          <a:solidFill>
                            <a:srgbClr val="1B1B1B"/>
                          </a:solidFill>
                          <a:latin typeface="Arial"/>
                        </a:rPr>
                        <a:t>
(S)</a:t>
                      </a:r>
                    </a:p>
                  </a:txBody>
                  <a:tcPr anchor="ctr" marT="19050" marB="19050" marL="50800" marR="50800">
                    <a:solidFill>
                      <a:srgbClr val="F8F9FA"/>
                    </a:solidFill>
                  </a:tcPr>
                </a:tc>
              </a:tr>
              <a:tr h="430943">
                <a:tc>
                  <a:txBody>
                    <a:bodyPr wrap="square"/>
                    <a:lstStyle/>
                    <a:p>
                      <a:pPr algn="ctr"/>
                      <a:r>
                        <a:rPr sz="890" i="0" b="1">
                          <a:solidFill>
                            <a:srgbClr val="0E2841"/>
                          </a:solidFill>
                          <a:latin typeface="Arial"/>
                        </a:rPr>
                        <a:t>SRS-PERM-03</a:t>
                      </a:r>
                    </a:p>
                  </a:txBody>
                  <a:tcPr anchor="ctr" marT="19050" marB="19050" marL="50800" marR="50800">
                    <a:solidFill>
                      <a:srgbClr val="FDEDEC"/>
                    </a:solidFill>
                  </a:tcPr>
                </a:tc>
                <a:tc>
                  <a:txBody>
                    <a:bodyPr wrap="square"/>
                    <a:lstStyle/>
                    <a:p>
                      <a:pPr algn="l"/>
                      <a:r>
                        <a:rPr sz="890" i="0" b="1">
                          <a:solidFill>
                            <a:srgbClr val="1B1B1B"/>
                          </a:solidFill>
                          <a:latin typeface="Arial"/>
                        </a:rPr>
                        <a:t>Giới hạn cứng </a:t>
                      </a:r>
                      <a:r>
                        <a:rPr sz="890" i="0" b="1">
                          <a:solidFill>
                            <a:srgbClr val="0E2841"/>
                          </a:solidFill>
                          <a:latin typeface="Arial"/>
                        </a:rPr>
                        <a:t>Gia tốc |a(t)|</a:t>
                      </a:r>
                      <a:r>
                        <a:rPr sz="890" i="0" b="1">
                          <a:solidFill>
                            <a:srgbClr val="1B1B1B"/>
                          </a:solidFill>
                          <a:latin typeface="Arial"/>
                        </a:rPr>
                        <a:t> &amp; </a:t>
                      </a:r>
                      <a:r>
                        <a:rPr sz="890" i="0" b="1">
                          <a:solidFill>
                            <a:srgbClr val="0E2841"/>
                          </a:solidFill>
                          <a:latin typeface="Arial"/>
                        </a:rPr>
                        <a:t>Độ giật |ρ(t)|</a:t>
                      </a:r>
                    </a:p>
                  </a:txBody>
                  <a:tcPr anchor="ctr" marT="19050" marB="19050" marL="50800" marR="50800">
                    <a:solidFill>
                      <a:srgbClr val="FDEDEC"/>
                    </a:solidFill>
                  </a:tcPr>
                </a:tc>
                <a:tc>
                  <a:txBody>
                    <a:bodyPr wrap="square"/>
                    <a:lstStyle/>
                    <a:p>
                      <a:pPr algn="l"/>
                      <a:r>
                        <a:rPr sz="890" i="0" b="1">
                          <a:solidFill>
                            <a:srgbClr val="1B1B1B"/>
                          </a:solidFill>
                          <a:latin typeface="Arial"/>
                        </a:rPr>
                        <a:t>Trong mọi chế độ khởi động/dừng/đổi tốc độ: </a:t>
                      </a:r>
                      <a:r>
                        <a:rPr sz="890" i="0" b="1">
                          <a:solidFill>
                            <a:srgbClr val="0E2841"/>
                          </a:solidFill>
                          <a:latin typeface="Arial"/>
                        </a:rPr>
                        <a:t>|a(t)| ≤ 0.50 m/s²</a:t>
                      </a:r>
                      <a:r>
                        <a:rPr sz="890" i="0" b="1">
                          <a:solidFill>
                            <a:srgbClr val="1B1B1B"/>
                          </a:solidFill>
                          <a:latin typeface="Arial"/>
                        </a:rPr>
                        <a:t> (</a:t>
                      </a:r>
                      <a:r>
                        <a:rPr sz="890" i="0" b="1">
                          <a:solidFill>
                            <a:srgbClr val="0E2841"/>
                          </a:solidFill>
                          <a:latin typeface="Arial"/>
                        </a:rPr>
                        <a:t>k_bám = 3.92</a:t>
                      </a:r>
                      <a:r>
                        <a:rPr sz="890" i="0" b="1">
                          <a:solidFill>
                            <a:srgbClr val="1B1B1B"/>
                          </a:solidFill>
                          <a:latin typeface="Arial"/>
                        </a:rPr>
                        <a:t>, góc lắc tĩnh </a:t>
                      </a:r>
                      <a:r>
                        <a:rPr sz="890" i="0" b="1">
                          <a:solidFill>
                            <a:srgbClr val="0E2841"/>
                          </a:solidFill>
                          <a:latin typeface="Arial"/>
                        </a:rPr>
                        <a:t>θ_0 ≤ 2.92°</a:t>
                      </a:r>
                      <a:r>
                        <a:rPr sz="890" i="0" b="1">
                          <a:solidFill>
                            <a:srgbClr val="1B1B1B"/>
                          </a:solidFill>
                          <a:latin typeface="Arial"/>
                        </a:rPr>
                        <a:t>) và </a:t>
                      </a:r>
                      <a:r>
                        <a:rPr sz="890" i="0" b="1">
                          <a:solidFill>
                            <a:srgbClr val="0E2841"/>
                          </a:solidFill>
                          <a:latin typeface="Arial"/>
                        </a:rPr>
                        <a:t>|ρ(t)| ≤ 2.00 m/s³</a:t>
                      </a:r>
                      <a:r>
                        <a:rPr sz="890" i="0" b="1">
                          <a:solidFill>
                            <a:srgbClr val="1B1B1B"/>
                          </a:solidFill>
                          <a:latin typeface="Arial"/>
                        </a:rPr>
                        <a:t> (</a:t>
                      </a:r>
                      <a:r>
                        <a:rPr sz="890" i="0" b="1">
                          <a:solidFill>
                            <a:srgbClr val="0E2841"/>
                          </a:solidFill>
                          <a:latin typeface="Arial"/>
                        </a:rPr>
                        <a:t>t_j ≥ 0.25 s</a:t>
                      </a:r>
                      <a:r>
                        <a:rPr sz="890" i="0" b="1">
                          <a:solidFill>
                            <a:srgbClr val="1B1B1B"/>
                          </a:solidFill>
                          <a:latin typeface="Arial"/>
                        </a:rPr>
                        <a:t>).</a:t>
                      </a:r>
                    </a:p>
                  </a:txBody>
                  <a:tcPr anchor="ctr" marT="19050" marB="19050" marL="50800" marR="50800">
                    <a:solidFill>
                      <a:srgbClr val="FDEDEC"/>
                    </a:solidFill>
                  </a:tcPr>
                </a:tc>
                <a:tc>
                  <a:txBody>
                    <a:bodyPr wrap="square"/>
                    <a:lstStyle/>
                    <a:p>
                      <a:pPr algn="l"/>
                      <a:r>
                        <a:rPr sz="890" i="0" b="1">
                          <a:solidFill>
                            <a:srgbClr val="1B1B1B"/>
                          </a:solidFill>
                          <a:latin typeface="Arial"/>
                        </a:rPr>
                        <a:t>PRD-06, MOP-02,03
</a:t>
                      </a:r>
                      <a:r>
                        <a:rPr sz="890" i="0" b="1">
                          <a:solidFill>
                            <a:srgbClr val="C00000"/>
                          </a:solidFill>
                          <a:latin typeface="Arial"/>
                        </a:rPr>
                        <a:t>CTQ-04,05, CTS-05</a:t>
                      </a:r>
                    </a:p>
                  </a:txBody>
                  <a:tcPr anchor="ctr" marT="19050" marB="19050" marL="50800" marR="50800">
                    <a:solidFill>
                      <a:srgbClr val="FDEDEC"/>
                    </a:solidFill>
                  </a:tcPr>
                </a:tc>
                <a:tc>
                  <a:txBody>
                    <a:bodyPr wrap="square"/>
                    <a:lstStyle/>
                    <a:p>
                      <a:pPr algn="l"/>
                      <a:r>
                        <a:rPr sz="890" i="0" b="1">
                          <a:solidFill>
                            <a:srgbClr val="0E2841"/>
                          </a:solidFill>
                          <a:latin typeface="Arial"/>
                        </a:rPr>
                        <a:t>DVP-L0-10</a:t>
                      </a:r>
                      <a:r>
                        <a:rPr sz="890" i="0" b="1">
                          <a:solidFill>
                            <a:srgbClr val="1B1B1B"/>
                          </a:solidFill>
                          <a:latin typeface="Arial"/>
                        </a:rPr>
                        <a:t>
(A, S)</a:t>
                      </a:r>
                    </a:p>
                  </a:txBody>
                  <a:tcPr anchor="ctr" marT="19050" marB="19050" marL="50800" marR="50800">
                    <a:solidFill>
                      <a:srgbClr val="FDEDEC"/>
                    </a:solidFill>
                  </a:tcPr>
                </a:tc>
              </a:tr>
              <a:tr h="430943">
                <a:tc>
                  <a:txBody>
                    <a:bodyPr wrap="square"/>
                    <a:lstStyle/>
                    <a:p>
                      <a:pPr algn="ctr"/>
                      <a:r>
                        <a:rPr sz="890" i="0" b="1">
                          <a:solidFill>
                            <a:srgbClr val="0E2841"/>
                          </a:solidFill>
                          <a:latin typeface="Arial"/>
                        </a:rPr>
                        <a:t>SRS-PERM-04</a:t>
                      </a:r>
                    </a:p>
                  </a:txBody>
                  <a:tcPr anchor="ctr" marT="19050" marB="19050" marL="50800" marR="50800">
                    <a:solidFill>
                      <a:srgbClr val="FEF9E7"/>
                    </a:solidFill>
                  </a:tcPr>
                </a:tc>
                <a:tc>
                  <a:txBody>
                    <a:bodyPr wrap="square"/>
                    <a:lstStyle/>
                    <a:p>
                      <a:pPr algn="l"/>
                      <a:r>
                        <a:rPr sz="890" i="0" b="1">
                          <a:solidFill>
                            <a:srgbClr val="1B1B1B"/>
                          </a:solidFill>
                          <a:latin typeface="Arial"/>
                        </a:rPr>
                        <a:t>Định cỡ </a:t>
                      </a:r>
                      <a:r>
                        <a:rPr sz="890" i="0" b="1">
                          <a:solidFill>
                            <a:srgbClr val="0E2841"/>
                          </a:solidFill>
                          <a:latin typeface="Arial"/>
                        </a:rPr>
                        <a:t>Công suất nhiệt S3-40%</a:t>
                      </a:r>
                      <a:r>
                        <a:rPr sz="890" i="0" b="1">
                          <a:solidFill>
                            <a:srgbClr val="1B1B1B"/>
                          </a:solidFill>
                          <a:latin typeface="Arial"/>
                        </a:rPr>
                        <a:t> ở </a:t>
                      </a:r>
                      <a:r>
                        <a:rPr sz="890" i="0" b="1">
                          <a:solidFill>
                            <a:srgbClr val="0E2841"/>
                          </a:solidFill>
                          <a:latin typeface="Arial"/>
                        </a:rPr>
                        <a:t>40°C</a:t>
                      </a:r>
                    </a:p>
                  </a:txBody>
                  <a:tcPr anchor="ctr" marT="19050" marB="19050" marL="50800" marR="50800">
                    <a:solidFill>
                      <a:srgbClr val="FEF9E7"/>
                    </a:solidFill>
                  </a:tcPr>
                </a:tc>
                <a:tc>
                  <a:txBody>
                    <a:bodyPr wrap="square"/>
                    <a:lstStyle/>
                    <a:p>
                      <a:pPr algn="l"/>
                      <a:r>
                        <a:rPr sz="890" i="0" b="1">
                          <a:solidFill>
                            <a:srgbClr val="1B1B1B"/>
                          </a:solidFill>
                          <a:latin typeface="Arial"/>
                        </a:rPr>
                        <a:t>Công suất định mức động cơ ở </a:t>
                      </a:r>
                      <a:r>
                        <a:rPr sz="890" i="0" b="1">
                          <a:solidFill>
                            <a:srgbClr val="0E2841"/>
                          </a:solidFill>
                          <a:latin typeface="Arial"/>
                        </a:rPr>
                        <a:t>S3-40% (T_amb = 40°C)</a:t>
                      </a:r>
                      <a:r>
                        <a:rPr sz="890" i="0" b="1">
                          <a:solidFill>
                            <a:srgbClr val="1B1B1B"/>
                          </a:solidFill>
                          <a:latin typeface="Arial"/>
                        </a:rPr>
                        <a:t> phải thỏa mãn hệ số dự trữ nhiệt </a:t>
                      </a:r>
                      <a:r>
                        <a:rPr sz="890" i="0" b="1">
                          <a:solidFill>
                            <a:srgbClr val="0E2841"/>
                          </a:solidFill>
                          <a:latin typeface="Arial"/>
                        </a:rPr>
                        <a:t>k_dt = P_đm / P_eq,S340% ∈ [1.20; 1.50]</a:t>
                      </a:r>
                      <a:r>
                        <a:rPr sz="890" i="0" b="1">
                          <a:solidFill>
                            <a:srgbClr val="1B1B1B"/>
                          </a:solidFill>
                          <a:latin typeface="Arial"/>
                        </a:rPr>
                        <a:t> (đủ tải, không Over-sizing).</a:t>
                      </a:r>
                    </a:p>
                  </a:txBody>
                  <a:tcPr anchor="ctr" marT="19050" marB="19050" marL="50800" marR="50800">
                    <a:solidFill>
                      <a:srgbClr val="FEF9E7"/>
                    </a:solidFill>
                  </a:tcPr>
                </a:tc>
                <a:tc>
                  <a:txBody>
                    <a:bodyPr wrap="square"/>
                    <a:lstStyle/>
                    <a:p>
                      <a:pPr algn="l"/>
                      <a:r>
                        <a:rPr sz="890" i="0" b="1">
                          <a:solidFill>
                            <a:srgbClr val="1B1B1B"/>
                          </a:solidFill>
                          <a:latin typeface="Arial"/>
                        </a:rPr>
                        <a:t>PRD-07, MOP-04
EC-08, </a:t>
                      </a:r>
                      <a:r>
                        <a:rPr sz="890" i="0" b="1">
                          <a:solidFill>
                            <a:srgbClr val="0E2841"/>
                          </a:solidFill>
                          <a:latin typeface="Arial"/>
                        </a:rPr>
                        <a:t>CTQ-08</a:t>
                      </a:r>
                    </a:p>
                  </a:txBody>
                  <a:tcPr anchor="ctr" marT="19050" marB="19050" marL="50800" marR="50800">
                    <a:solidFill>
                      <a:srgbClr val="FEF9E7"/>
                    </a:solidFill>
                  </a:tcPr>
                </a:tc>
                <a:tc>
                  <a:txBody>
                    <a:bodyPr wrap="square"/>
                    <a:lstStyle/>
                    <a:p>
                      <a:pPr algn="l"/>
                      <a:r>
                        <a:rPr sz="890" i="0" b="1">
                          <a:solidFill>
                            <a:srgbClr val="0E2841"/>
                          </a:solidFill>
                          <a:latin typeface="Arial"/>
                        </a:rPr>
                        <a:t>DVP-L0-11</a:t>
                      </a:r>
                      <a:r>
                        <a:rPr sz="890" i="0" b="1">
                          <a:solidFill>
                            <a:srgbClr val="1B1B1B"/>
                          </a:solidFill>
                          <a:latin typeface="Arial"/>
                        </a:rPr>
                        <a:t>
(A, S)</a:t>
                      </a:r>
                    </a:p>
                  </a:txBody>
                  <a:tcPr anchor="ctr" marT="19050" marB="19050" marL="50800" marR="50800">
                    <a:solidFill>
                      <a:srgbClr val="FEF9E7"/>
                    </a:solidFill>
                  </a:tcPr>
                </a:tc>
              </a:tr>
              <a:tr h="430943">
                <a:tc>
                  <a:txBody>
                    <a:bodyPr wrap="square"/>
                    <a:lstStyle/>
                    <a:p>
                      <a:pPr algn="ctr"/>
                      <a:r>
                        <a:rPr sz="890" i="0" b="1">
                          <a:solidFill>
                            <a:srgbClr val="0E2841"/>
                          </a:solidFill>
                          <a:latin typeface="Arial"/>
                        </a:rPr>
                        <a:t>SRS-PERM-05</a:t>
                      </a:r>
                    </a:p>
                  </a:txBody>
                  <a:tcPr anchor="ctr" marT="19050" marB="19050" marL="50800" marR="50800">
                    <a:solidFill>
                      <a:srgbClr val="FEF9E7"/>
                    </a:solidFill>
                  </a:tcPr>
                </a:tc>
                <a:tc>
                  <a:txBody>
                    <a:bodyPr wrap="square"/>
                    <a:lstStyle/>
                    <a:p>
                      <a:pPr algn="l"/>
                      <a:r>
                        <a:rPr sz="890" i="0" b="1">
                          <a:solidFill>
                            <a:srgbClr val="1B1B1B"/>
                          </a:solidFill>
                          <a:latin typeface="Arial"/>
                        </a:rPr>
                        <a:t>Khả năng </a:t>
                      </a:r>
                      <a:r>
                        <a:rPr sz="890" i="0" b="1">
                          <a:solidFill>
                            <a:srgbClr val="0E2841"/>
                          </a:solidFill>
                          <a:latin typeface="Arial"/>
                        </a:rPr>
                        <a:t>Quá tải mô-men đỉnh (λ_max)</a:t>
                      </a:r>
                    </a:p>
                  </a:txBody>
                  <a:tcPr anchor="ctr" marT="19050" marB="19050" marL="50800" marR="50800">
                    <a:solidFill>
                      <a:srgbClr val="FEF9E7"/>
                    </a:solidFill>
                  </a:tcPr>
                </a:tc>
                <a:tc>
                  <a:txBody>
                    <a:bodyPr wrap="square"/>
                    <a:lstStyle/>
                    <a:p>
                      <a:pPr algn="l"/>
                      <a:r>
                        <a:rPr sz="890" i="0" b="1">
                          <a:solidFill>
                            <a:srgbClr val="1B1B1B"/>
                          </a:solidFill>
                          <a:latin typeface="Arial"/>
                        </a:rPr>
                        <a:t>Tổ hợp Động cơ + Biến tần phải có khả năng quá tải mô-men ngắn hạn </a:t>
                      </a:r>
                      <a:r>
                        <a:rPr sz="890" i="0" b="1">
                          <a:solidFill>
                            <a:srgbClr val="0E2841"/>
                          </a:solidFill>
                          <a:latin typeface="Arial"/>
                        </a:rPr>
                        <a:t>λ_max = M_max / M_đm ≥ 2.0</a:t>
                      </a:r>
                      <a:r>
                        <a:rPr sz="890" i="0" b="1">
                          <a:solidFill>
                            <a:srgbClr val="1B1B1B"/>
                          </a:solidFill>
                          <a:latin typeface="Arial"/>
                        </a:rPr>
                        <a:t>, lớn hơn mô-men mở máy cực đại khi đầy tải </a:t>
                      </a:r>
                      <a:r>
                        <a:rPr sz="890" i="0" b="1">
                          <a:solidFill>
                            <a:srgbClr val="0E2841"/>
                          </a:solidFill>
                          <a:latin typeface="Arial"/>
                        </a:rPr>
                        <a:t>14,244 kg</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1B1B1B"/>
                          </a:solidFill>
                          <a:latin typeface="Arial"/>
                        </a:rPr>
                        <a:t>PRD-06, EC-08
GAP-06, </a:t>
                      </a:r>
                      <a:r>
                        <a:rPr sz="890" i="0" b="1">
                          <a:solidFill>
                            <a:srgbClr val="0E2841"/>
                          </a:solidFill>
                          <a:latin typeface="Arial"/>
                        </a:rPr>
                        <a:t>CTQ-08</a:t>
                      </a:r>
                    </a:p>
                  </a:txBody>
                  <a:tcPr anchor="ctr" marT="19050" marB="19050" marL="50800" marR="50800">
                    <a:solidFill>
                      <a:srgbClr val="FEF9E7"/>
                    </a:solidFill>
                  </a:tcPr>
                </a:tc>
                <a:tc>
                  <a:txBody>
                    <a:bodyPr wrap="square"/>
                    <a:lstStyle/>
                    <a:p>
                      <a:pPr algn="l"/>
                      <a:r>
                        <a:rPr sz="890" i="0" b="1">
                          <a:solidFill>
                            <a:srgbClr val="0E2841"/>
                          </a:solidFill>
                          <a:latin typeface="Arial"/>
                        </a:rPr>
                        <a:t>DVP-L0-12</a:t>
                      </a:r>
                      <a:r>
                        <a:rPr sz="890" i="0" b="1">
                          <a:solidFill>
                            <a:srgbClr val="1B1B1B"/>
                          </a:solidFill>
                          <a:latin typeface="Arial"/>
                        </a:rPr>
                        <a:t>
(A, S)</a:t>
                      </a:r>
                    </a:p>
                  </a:txBody>
                  <a:tcPr anchor="ctr" marT="19050" marB="19050" marL="50800" marR="50800">
                    <a:solidFill>
                      <a:srgbClr val="FEF9E7"/>
                    </a:solidFill>
                  </a:tcPr>
                </a:tc>
              </a:tr>
              <a:tr h="430943">
                <a:tc>
                  <a:txBody>
                    <a:bodyPr wrap="square"/>
                    <a:lstStyle/>
                    <a:p>
                      <a:pPr algn="ctr"/>
                      <a:r>
                        <a:rPr sz="890" i="0" b="1">
                          <a:solidFill>
                            <a:srgbClr val="0E2841"/>
                          </a:solidFill>
                          <a:latin typeface="Arial"/>
                        </a:rPr>
                        <a:t>SRS-PERM-06</a:t>
                      </a:r>
                    </a:p>
                  </a:txBody>
                  <a:tcPr anchor="ctr" marT="19050" marB="19050" marL="50800" marR="50800">
                    <a:solidFill>
                      <a:srgbClr val="F8F9FA"/>
                    </a:solidFill>
                  </a:tcPr>
                </a:tc>
                <a:tc>
                  <a:txBody>
                    <a:bodyPr wrap="square"/>
                    <a:lstStyle/>
                    <a:p>
                      <a:pPr algn="l"/>
                      <a:r>
                        <a:rPr sz="890" i="0" b="0">
                          <a:solidFill>
                            <a:srgbClr val="1B1B1B"/>
                          </a:solidFill>
                          <a:latin typeface="Arial"/>
                        </a:rPr>
                        <a:t>Bền vững khi </a:t>
                      </a:r>
                      <a:r>
                        <a:rPr sz="890" i="0" b="1">
                          <a:solidFill>
                            <a:srgbClr val="0E2841"/>
                          </a:solidFill>
                          <a:latin typeface="Arial"/>
                        </a:rPr>
                        <a:t>Dao động áp lưới 380V ± 10%</a:t>
                      </a:r>
                    </a:p>
                  </a:txBody>
                  <a:tcPr anchor="ctr" marT="19050" marB="19050" marL="50800" marR="50800">
                    <a:solidFill>
                      <a:srgbClr val="F8F9FA"/>
                    </a:solidFill>
                  </a:tcPr>
                </a:tc>
                <a:tc>
                  <a:txBody>
                    <a:bodyPr wrap="square"/>
                    <a:lstStyle/>
                    <a:p>
                      <a:pPr algn="l"/>
                      <a:r>
                        <a:rPr sz="890" i="0" b="0">
                          <a:solidFill>
                            <a:srgbClr val="1B1B1B"/>
                          </a:solidFill>
                          <a:latin typeface="Arial"/>
                        </a:rPr>
                        <a:t>Vận hành liên tục trong dải áp lưới </a:t>
                      </a:r>
                      <a:r>
                        <a:rPr sz="890" i="0" b="1">
                          <a:solidFill>
                            <a:srgbClr val="0E2841"/>
                          </a:solidFill>
                          <a:latin typeface="Arial"/>
                        </a:rPr>
                        <a:t>342 V ÷ 418 V AC, 50 Hz ± 2%</a:t>
                      </a:r>
                      <a:r>
                        <a:rPr sz="890" i="0" b="0">
                          <a:solidFill>
                            <a:srgbClr val="1B1B1B"/>
                          </a:solidFill>
                          <a:latin typeface="Arial"/>
                        </a:rPr>
                        <a:t> mà không báo lỗi </a:t>
                      </a:r>
                      <a:r>
                        <a:rPr sz="890" i="0" b="1">
                          <a:solidFill>
                            <a:srgbClr val="0E2841"/>
                          </a:solidFill>
                          <a:latin typeface="Arial"/>
                        </a:rPr>
                        <a:t>UV/OV Fault</a:t>
                      </a:r>
                      <a:r>
                        <a:rPr sz="890" i="0" b="0">
                          <a:solidFill>
                            <a:srgbClr val="1B1B1B"/>
                          </a:solidFill>
                          <a:latin typeface="Arial"/>
                        </a:rPr>
                        <a:t>; tại mức sụt áp </a:t>
                      </a:r>
                      <a:r>
                        <a:rPr sz="890" i="0" b="1">
                          <a:solidFill>
                            <a:srgbClr val="0E2841"/>
                          </a:solidFill>
                          <a:latin typeface="Arial"/>
                        </a:rPr>
                        <a:t>342 V AC (-10%)</a:t>
                      </a:r>
                      <a:r>
                        <a:rPr sz="890" i="0" b="0">
                          <a:solidFill>
                            <a:srgbClr val="1B1B1B"/>
                          </a:solidFill>
                          <a:latin typeface="Arial"/>
                        </a:rPr>
                        <a:t> vẫn giữ </a:t>
                      </a:r>
                      <a:r>
                        <a:rPr sz="890" i="0" b="1">
                          <a:solidFill>
                            <a:srgbClr val="0E2841"/>
                          </a:solidFill>
                          <a:latin typeface="Arial"/>
                        </a:rPr>
                        <a:t>e_xl ≤ 5.0%</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0">
                          <a:solidFill>
                            <a:srgbClr val="1B1B1B"/>
                          </a:solidFill>
                          <a:latin typeface="Arial"/>
                        </a:rPr>
                        <a:t>PRD-08, ASM-02
Noise N2</a:t>
                      </a:r>
                    </a:p>
                  </a:txBody>
                  <a:tcPr anchor="ctr" marT="19050" marB="19050" marL="50800" marR="50800">
                    <a:solidFill>
                      <a:srgbClr val="F8F9FA"/>
                    </a:solidFill>
                  </a:tcPr>
                </a:tc>
                <a:tc>
                  <a:txBody>
                    <a:bodyPr wrap="square"/>
                    <a:lstStyle/>
                    <a:p>
                      <a:pPr algn="l"/>
                      <a:r>
                        <a:rPr sz="890" i="0" b="1">
                          <a:solidFill>
                            <a:srgbClr val="0E2841"/>
                          </a:solidFill>
                          <a:latin typeface="Arial"/>
                        </a:rPr>
                        <a:t>DVP-L0-13</a:t>
                      </a:r>
                      <a:r>
                        <a:rPr sz="890" i="0" b="0">
                          <a:solidFill>
                            <a:srgbClr val="1B1B1B"/>
                          </a:solidFill>
                          <a:latin typeface="Arial"/>
                        </a:rPr>
                        <a:t>
(A, S)</a:t>
                      </a:r>
                    </a:p>
                  </a:txBody>
                  <a:tcPr anchor="ctr" marT="19050" marB="19050" marL="50800" marR="50800">
                    <a:solidFill>
                      <a:srgbClr val="F8F9FA"/>
                    </a:solidFill>
                  </a:tcPr>
                </a:tc>
              </a:tr>
              <a:tr h="430943">
                <a:tc>
                  <a:txBody>
                    <a:bodyPr wrap="square"/>
                    <a:lstStyle/>
                    <a:p>
                      <a:pPr algn="ctr"/>
                      <a:r>
                        <a:rPr sz="890" i="0" b="1">
                          <a:solidFill>
                            <a:srgbClr val="0E2841"/>
                          </a:solidFill>
                          <a:latin typeface="Arial"/>
                        </a:rPr>
                        <a:t>SRS-PERM-07</a:t>
                      </a:r>
                    </a:p>
                  </a:txBody>
                  <a:tcPr anchor="ctr" marT="19050" marB="19050" marL="50800" marR="50800">
                    <a:solidFill>
                      <a:srgbClr val="FFFFFF"/>
                    </a:solidFill>
                  </a:tcPr>
                </a:tc>
                <a:tc>
                  <a:txBody>
                    <a:bodyPr wrap="square"/>
                    <a:lstStyle/>
                    <a:p>
                      <a:pPr algn="l"/>
                      <a:r>
                        <a:rPr sz="890" i="0" b="0">
                          <a:solidFill>
                            <a:srgbClr val="1B1B1B"/>
                          </a:solidFill>
                          <a:latin typeface="Arial"/>
                        </a:rPr>
                        <a:t>Tương thích </a:t>
                      </a:r>
                      <a:r>
                        <a:rPr sz="890" i="0" b="1">
                          <a:solidFill>
                            <a:srgbClr val="0E2841"/>
                          </a:solidFill>
                          <a:latin typeface="Arial"/>
                        </a:rPr>
                        <a:t>Cơ học Chấp hành (d, η, M_Σ)</a:t>
                      </a:r>
                    </a:p>
                  </a:txBody>
                  <a:tcPr anchor="ctr" marT="19050" marB="19050" marL="50800" marR="50800">
                    <a:solidFill>
                      <a:srgbClr val="FFFFFF"/>
                    </a:solidFill>
                  </a:tcPr>
                </a:tc>
                <a:tc>
                  <a:txBody>
                    <a:bodyPr wrap="square"/>
                    <a:lstStyle/>
                    <a:p>
                      <a:pPr algn="l"/>
                      <a:r>
                        <a:rPr sz="890" i="0" b="0">
                          <a:solidFill>
                            <a:srgbClr val="1B1B1B"/>
                          </a:solidFill>
                          <a:latin typeface="Arial"/>
                        </a:rPr>
                        <a:t>Đáp ứng đúng bánh xe </a:t>
                      </a:r>
                      <a:r>
                        <a:rPr sz="890" i="0" b="1">
                          <a:solidFill>
                            <a:srgbClr val="0E2841"/>
                          </a:solidFill>
                          <a:latin typeface="Arial"/>
                        </a:rPr>
                        <a:t>d = 0.25 m</a:t>
                      </a:r>
                      <a:r>
                        <a:rPr sz="890" i="0" b="0">
                          <a:solidFill>
                            <a:srgbClr val="1B1B1B"/>
                          </a:solidFill>
                          <a:latin typeface="Arial"/>
                        </a:rPr>
                        <a:t> (</a:t>
                      </a:r>
                      <a:r>
                        <a:rPr sz="890" i="0" b="1">
                          <a:solidFill>
                            <a:srgbClr val="0E2841"/>
                          </a:solidFill>
                          <a:latin typeface="Arial"/>
                        </a:rPr>
                        <a:t>ω_bx = 0.96 rad/s ≈ 9.17 rpm</a:t>
                      </a:r>
                      <a:r>
                        <a:rPr sz="890" i="0" b="0">
                          <a:solidFill>
                            <a:srgbClr val="1B1B1B"/>
                          </a:solidFill>
                          <a:latin typeface="Arial"/>
                        </a:rPr>
                        <a:t> tại </a:t>
                      </a:r>
                      <a:r>
                        <a:rPr sz="890" i="0" b="1">
                          <a:solidFill>
                            <a:srgbClr val="0E2841"/>
                          </a:solidFill>
                          <a:latin typeface="Arial"/>
                        </a:rPr>
                        <a:t>0.12 m/s</a:t>
                      </a:r>
                      <a:r>
                        <a:rPr sz="890" i="0" b="0">
                          <a:solidFill>
                            <a:srgbClr val="1B1B1B"/>
                          </a:solidFill>
                          <a:latin typeface="Arial"/>
                        </a:rPr>
                        <a:t>), hiệu suất </a:t>
                      </a:r>
                      <a:r>
                        <a:rPr sz="890" i="0" b="1">
                          <a:solidFill>
                            <a:srgbClr val="0E2841"/>
                          </a:solidFill>
                          <a:latin typeface="Arial"/>
                        </a:rPr>
                        <a:t>η = 0.96</a:t>
                      </a:r>
                      <a:r>
                        <a:rPr sz="890" i="0" b="0">
                          <a:solidFill>
                            <a:srgbClr val="1B1B1B"/>
                          </a:solidFill>
                          <a:latin typeface="Arial"/>
                        </a:rPr>
                        <a:t>, thắng lực cản quy đổi của tổng khối lượng </a:t>
                      </a:r>
                      <a:r>
                        <a:rPr sz="890" i="0" b="1">
                          <a:solidFill>
                            <a:srgbClr val="0E2841"/>
                          </a:solidFill>
                          <a:latin typeface="Arial"/>
                        </a:rPr>
                        <a:t>2,022 ÷ 14,244 kg</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0">
                          <a:solidFill>
                            <a:srgbClr val="1B1B1B"/>
                          </a:solidFill>
                          <a:latin typeface="Arial"/>
                        </a:rPr>
                        <a:t>PRD-01, INP-01..04
ASM-01,03</a:t>
                      </a:r>
                    </a:p>
                  </a:txBody>
                  <a:tcPr anchor="ctr" marT="19050" marB="19050" marL="50800" marR="50800">
                    <a:solidFill>
                      <a:srgbClr val="FFFFFF"/>
                    </a:solidFill>
                  </a:tcPr>
                </a:tc>
                <a:tc>
                  <a:txBody>
                    <a:bodyPr wrap="square"/>
                    <a:lstStyle/>
                    <a:p>
                      <a:pPr algn="l"/>
                      <a:r>
                        <a:rPr sz="890" i="0" b="1">
                          <a:solidFill>
                            <a:srgbClr val="0E2841"/>
                          </a:solidFill>
                          <a:latin typeface="Arial"/>
                        </a:rPr>
                        <a:t>DVP-L0-14</a:t>
                      </a:r>
                      <a:r>
                        <a:rPr sz="890" i="0" b="0">
                          <a:solidFill>
                            <a:srgbClr val="1B1B1B"/>
                          </a:solidFill>
                          <a:latin typeface="Arial"/>
                        </a:rPr>
                        <a:t>
(A, I)</a:t>
                      </a:r>
                    </a:p>
                  </a:txBody>
                  <a:tcPr anchor="ctr" marT="19050" marB="19050" marL="50800" marR="50800">
                    <a:solidFill>
                      <a:srgbClr val="FFFFFF"/>
                    </a:solidFill>
                  </a:tcPr>
                </a:tc>
              </a:tr>
            </a:tbl>
          </a:graphicData>
        </a:graphic>
      </p:graphicFrame>
      <p:sp>
        <p:nvSpPr>
          <p:cNvPr id="6" name="Rounded Rectangle 5"/>
          <p:cNvSpPr/>
          <p:nvPr/>
        </p:nvSpPr>
        <p:spPr>
          <a:xfrm>
            <a:off x="310896" y="4828032"/>
            <a:ext cx="3749039" cy="1371600"/>
          </a:xfrm>
          <a:prstGeom prst="roundRect">
            <a:avLst>
              <a:gd name="adj" fmla="val 3000"/>
            </a:avLst>
          </a:prstGeom>
          <a:solidFill>
            <a:srgbClr val="F4F6F9"/>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50" b="1">
                <a:solidFill>
                  <a:srgbClr val="0E2841"/>
                </a:solidFill>
                <a:latin typeface="Arial"/>
              </a:rPr>
              <a:t>1. CƠ SỞ ĐỘNG LỰC HỌC &amp; BÁM RAY (PERM-03, 07)</a:t>
            </a:r>
          </a:p>
          <a:p>
            <a:pPr>
              <a:spcAft>
                <a:spcPts val="150"/>
              </a:spcAft>
            </a:pPr>
            <a:r>
              <a:rPr sz="980" i="0" b="0">
                <a:solidFill>
                  <a:srgbClr val="1B1B1B"/>
                </a:solidFill>
                <a:latin typeface="Arial"/>
              </a:rPr>
              <a:t>• Đầy tải: </a:t>
            </a:r>
            <a:r>
              <a:rPr sz="980" i="0" b="1">
                <a:solidFill>
                  <a:srgbClr val="0E2841"/>
                </a:solidFill>
                <a:latin typeface="Arial"/>
              </a:rPr>
              <a:t>M_Σ = 14,244 kg</a:t>
            </a:r>
            <a:r>
              <a:rPr sz="980" i="0" b="0">
                <a:solidFill>
                  <a:srgbClr val="1B1B1B"/>
                </a:solidFill>
                <a:latin typeface="Arial"/>
              </a:rPr>
              <a:t> → </a:t>
            </a:r>
            <a:r>
              <a:rPr sz="980" i="0" b="1">
                <a:solidFill>
                  <a:srgbClr val="0E2841"/>
                </a:solidFill>
                <a:latin typeface="Arial"/>
              </a:rPr>
              <a:t>F_c,đầy ≈ 27,947 N</a:t>
            </a:r>
            <a:r>
              <a:rPr sz="980" i="0" b="0">
                <a:solidFill>
                  <a:srgbClr val="1B1B1B"/>
                </a:solidFill>
                <a:latin typeface="Arial"/>
              </a:rPr>
              <a:t>.</a:t>
            </a:r>
          </a:p>
          <a:p>
            <a:pPr>
              <a:spcAft>
                <a:spcPts val="150"/>
              </a:spcAft>
            </a:pPr>
            <a:r>
              <a:rPr sz="980" i="0" b="0">
                <a:solidFill>
                  <a:srgbClr val="1B1B1B"/>
                </a:solidFill>
                <a:latin typeface="Arial"/>
              </a:rPr>
              <a:t>• Không tải: </a:t>
            </a:r>
            <a:r>
              <a:rPr sz="980" i="0" b="1">
                <a:solidFill>
                  <a:srgbClr val="0E2841"/>
                </a:solidFill>
                <a:latin typeface="Arial"/>
              </a:rPr>
              <a:t>m_tĩnh = 2,022 kg</a:t>
            </a:r>
            <a:r>
              <a:rPr sz="980" i="0" b="0">
                <a:solidFill>
                  <a:srgbClr val="1B1B1B"/>
                </a:solidFill>
                <a:latin typeface="Arial"/>
              </a:rPr>
              <a:t> → </a:t>
            </a:r>
            <a:r>
              <a:rPr sz="980" i="0" b="1">
                <a:solidFill>
                  <a:srgbClr val="0E2841"/>
                </a:solidFill>
                <a:latin typeface="Arial"/>
              </a:rPr>
              <a:t>F_c,không ≈ 3,967 N</a:t>
            </a:r>
            <a:r>
              <a:rPr sz="980" i="0" b="0">
                <a:solidFill>
                  <a:srgbClr val="1B1B1B"/>
                </a:solidFill>
                <a:latin typeface="Arial"/>
              </a:rPr>
              <a:t> (</a:t>
            </a:r>
            <a:r>
              <a:rPr sz="980" i="0" b="1">
                <a:solidFill>
                  <a:srgbClr val="0E2841"/>
                </a:solidFill>
                <a:latin typeface="Arial"/>
              </a:rPr>
              <a:t>7.04×</a:t>
            </a:r>
            <a:r>
              <a:rPr sz="980" i="0" b="0">
                <a:solidFill>
                  <a:srgbClr val="1B1B1B"/>
                </a:solidFill>
                <a:latin typeface="Arial"/>
              </a:rPr>
              <a:t>).</a:t>
            </a:r>
          </a:p>
          <a:p>
            <a:pPr>
              <a:spcAft>
                <a:spcPts val="150"/>
              </a:spcAft>
            </a:pPr>
            <a:r>
              <a:rPr sz="980" i="0" b="0">
                <a:solidFill>
                  <a:srgbClr val="1B1B1B"/>
                </a:solidFill>
                <a:latin typeface="Arial"/>
              </a:rPr>
              <a:t>• Hệ số bám: </a:t>
            </a:r>
            <a:r>
              <a:rPr sz="980" i="0" b="1">
                <a:solidFill>
                  <a:srgbClr val="0E2841"/>
                </a:solidFill>
                <a:latin typeface="Arial"/>
              </a:rPr>
              <a:t>k_bám = μg / a_max = 1.962 / 0.50 = 3.92 &gt;&gt; 1</a:t>
            </a:r>
            <a:r>
              <a:rPr sz="980" i="0" b="0">
                <a:solidFill>
                  <a:srgbClr val="1B1B1B"/>
                </a:solidFill>
                <a:latin typeface="Arial"/>
              </a:rPr>
              <a:t>.</a:t>
            </a:r>
          </a:p>
        </p:txBody>
      </p:sp>
      <p:sp>
        <p:nvSpPr>
          <p:cNvPr id="7" name="Rounded Rectangle 6"/>
          <p:cNvSpPr/>
          <p:nvPr/>
        </p:nvSpPr>
        <p:spPr>
          <a:xfrm>
            <a:off x="4215384" y="4828032"/>
            <a:ext cx="3749039" cy="1371600"/>
          </a:xfrm>
          <a:prstGeom prst="roundRect">
            <a:avLst>
              <a:gd name="adj" fmla="val 3000"/>
            </a:avLst>
          </a:prstGeom>
          <a:solidFill>
            <a:srgbClr val="FEF9E7"/>
          </a:solidFill>
          <a:ln w="158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50" b="1">
                <a:solidFill>
                  <a:srgbClr val="C00000"/>
                </a:solidFill>
                <a:latin typeface="Arial"/>
              </a:rPr>
              <a:t>2. QUỸ ĐẠO S-CURVE &amp; LẮC CÁP h = 12 m (PERM-03)</a:t>
            </a:r>
          </a:p>
          <a:p>
            <a:pPr>
              <a:spcAft>
                <a:spcPts val="150"/>
              </a:spcAft>
            </a:pPr>
            <a:r>
              <a:rPr sz="980" i="0" b="0">
                <a:solidFill>
                  <a:srgbClr val="1B1B1B"/>
                </a:solidFill>
                <a:latin typeface="Arial"/>
              </a:rPr>
              <a:t>• Vát góc gia tốc: </a:t>
            </a:r>
            <a:r>
              <a:rPr sz="980" i="0" b="1">
                <a:solidFill>
                  <a:srgbClr val="0E2841"/>
                </a:solidFill>
                <a:latin typeface="Arial"/>
              </a:rPr>
              <a:t>t_j = a_max / ρ_max = 0.50 / 2.00 = 0.25 s</a:t>
            </a:r>
            <a:r>
              <a:rPr sz="980" i="0" b="0">
                <a:solidFill>
                  <a:srgbClr val="1B1B1B"/>
                </a:solidFill>
                <a:latin typeface="Arial"/>
              </a:rPr>
              <a:t>.</a:t>
            </a:r>
          </a:p>
          <a:p>
            <a:pPr>
              <a:spcAft>
                <a:spcPts val="150"/>
              </a:spcAft>
            </a:pPr>
            <a:r>
              <a:rPr sz="980" i="0" b="0">
                <a:solidFill>
                  <a:srgbClr val="1B1B1B"/>
                </a:solidFill>
                <a:latin typeface="Arial"/>
              </a:rPr>
              <a:t>• Tần số con lắc cáp: </a:t>
            </a:r>
            <a:r>
              <a:rPr sz="980" i="0" b="1">
                <a:solidFill>
                  <a:srgbClr val="0E2841"/>
                </a:solidFill>
                <a:latin typeface="Arial"/>
              </a:rPr>
              <a:t>ω_p = √(g/h) = 0.904 rad/s</a:t>
            </a:r>
            <a:r>
              <a:rPr sz="980" i="0" b="0">
                <a:solidFill>
                  <a:srgbClr val="1B1B1B"/>
                </a:solidFill>
                <a:latin typeface="Arial"/>
              </a:rPr>
              <a:t> (</a:t>
            </a:r>
            <a:r>
              <a:rPr sz="980" i="0" b="1">
                <a:solidFill>
                  <a:srgbClr val="0E2841"/>
                </a:solidFill>
                <a:latin typeface="Arial"/>
              </a:rPr>
              <a:t>T_p = 6.95 s</a:t>
            </a:r>
            <a:r>
              <a:rPr sz="980" i="0" b="0">
                <a:solidFill>
                  <a:srgbClr val="1B1B1B"/>
                </a:solidFill>
                <a:latin typeface="Arial"/>
              </a:rPr>
              <a:t>).</a:t>
            </a:r>
          </a:p>
          <a:p>
            <a:pPr>
              <a:spcAft>
                <a:spcPts val="150"/>
              </a:spcAft>
            </a:pPr>
            <a:r>
              <a:rPr sz="980" i="0" b="0">
                <a:solidFill>
                  <a:srgbClr val="1B1B1B"/>
                </a:solidFill>
                <a:latin typeface="Arial"/>
              </a:rPr>
              <a:t>• Góc lệch cáp tĩnh: </a:t>
            </a:r>
            <a:r>
              <a:rPr sz="980" i="0" b="1">
                <a:solidFill>
                  <a:srgbClr val="0E2841"/>
                </a:solidFill>
                <a:latin typeface="Arial"/>
              </a:rPr>
              <a:t>θ_0 = arctan(0.50/9.81) ≈ 2.92°</a:t>
            </a:r>
            <a:r>
              <a:rPr sz="980" i="0" b="0">
                <a:solidFill>
                  <a:srgbClr val="1B1B1B"/>
                </a:solidFill>
                <a:latin typeface="Arial"/>
              </a:rPr>
              <a:t>.</a:t>
            </a:r>
          </a:p>
        </p:txBody>
      </p:sp>
      <p:sp>
        <p:nvSpPr>
          <p:cNvPr id="8" name="Rounded Rectangle 7"/>
          <p:cNvSpPr/>
          <p:nvPr/>
        </p:nvSpPr>
        <p:spPr>
          <a:xfrm>
            <a:off x="8119872" y="4828032"/>
            <a:ext cx="3758184" cy="1371600"/>
          </a:xfrm>
          <a:prstGeom prst="roundRect">
            <a:avLst>
              <a:gd name="adj" fmla="val 3000"/>
            </a:avLst>
          </a:prstGeom>
          <a:solidFill>
            <a:srgbClr val="E8F8F5"/>
          </a:solidFill>
          <a:ln w="15875">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50" b="1">
                <a:solidFill>
                  <a:srgbClr val="0F766E"/>
                </a:solidFill>
                <a:latin typeface="Arial"/>
              </a:rPr>
              <a:t>3. ĐỊNH CỠ NHIỆT S3-40% &amp; QUÁ TẢI (PERM-04, 05)</a:t>
            </a:r>
          </a:p>
          <a:p>
            <a:pPr>
              <a:spcAft>
                <a:spcPts val="150"/>
              </a:spcAft>
            </a:pPr>
            <a:r>
              <a:rPr sz="980" i="0" b="0">
                <a:solidFill>
                  <a:srgbClr val="1B1B1B"/>
                </a:solidFill>
                <a:latin typeface="Arial"/>
              </a:rPr>
              <a:t>• Bánh xe </a:t>
            </a:r>
            <a:r>
              <a:rPr sz="980" i="0" b="1">
                <a:solidFill>
                  <a:srgbClr val="0E2841"/>
                </a:solidFill>
                <a:latin typeface="Arial"/>
              </a:rPr>
              <a:t>d = 0.25 m</a:t>
            </a:r>
            <a:r>
              <a:rPr sz="980" i="0" b="0">
                <a:solidFill>
                  <a:srgbClr val="1B1B1B"/>
                </a:solidFill>
                <a:latin typeface="Arial"/>
              </a:rPr>
              <a:t> → </a:t>
            </a:r>
            <a:r>
              <a:rPr sz="980" i="0" b="1">
                <a:solidFill>
                  <a:srgbClr val="0E2841"/>
                </a:solidFill>
                <a:latin typeface="Arial"/>
              </a:rPr>
              <a:t>ω_bx = 2v/d = 0.96 rad/s (9.17 rpm)</a:t>
            </a:r>
            <a:r>
              <a:rPr sz="980" i="0" b="0">
                <a:solidFill>
                  <a:srgbClr val="1B1B1B"/>
                </a:solidFill>
                <a:latin typeface="Arial"/>
              </a:rPr>
              <a:t>.</a:t>
            </a:r>
          </a:p>
          <a:p>
            <a:pPr>
              <a:spcAft>
                <a:spcPts val="150"/>
              </a:spcAft>
            </a:pPr>
            <a:r>
              <a:rPr sz="980" i="0" b="0">
                <a:solidFill>
                  <a:srgbClr val="1B1B1B"/>
                </a:solidFill>
                <a:latin typeface="Arial"/>
              </a:rPr>
              <a:t>• Dự trữ nhiệt </a:t>
            </a:r>
            <a:r>
              <a:rPr sz="980" i="0" b="1">
                <a:solidFill>
                  <a:srgbClr val="0E2841"/>
                </a:solidFill>
                <a:latin typeface="Arial"/>
              </a:rPr>
              <a:t>S3-40% (40°C)</a:t>
            </a:r>
            <a:r>
              <a:rPr sz="980" i="0" b="0">
                <a:solidFill>
                  <a:srgbClr val="1B1B1B"/>
                </a:solidFill>
                <a:latin typeface="Arial"/>
              </a:rPr>
              <a:t>: </a:t>
            </a:r>
            <a:r>
              <a:rPr sz="980" i="0" b="1">
                <a:solidFill>
                  <a:srgbClr val="0E2841"/>
                </a:solidFill>
                <a:latin typeface="Arial"/>
              </a:rPr>
              <a:t>k_dt = P_đm / P_eq ∈ [1.20; 1.50]</a:t>
            </a:r>
            <a:r>
              <a:rPr sz="980" i="0" b="0">
                <a:solidFill>
                  <a:srgbClr val="1B1B1B"/>
                </a:solidFill>
                <a:latin typeface="Arial"/>
              </a:rPr>
              <a:t>.</a:t>
            </a:r>
          </a:p>
          <a:p>
            <a:pPr>
              <a:spcAft>
                <a:spcPts val="150"/>
              </a:spcAft>
            </a:pPr>
            <a:r>
              <a:rPr sz="980" i="0" b="0">
                <a:solidFill>
                  <a:srgbClr val="1B1B1B"/>
                </a:solidFill>
                <a:latin typeface="Arial"/>
              </a:rPr>
              <a:t>• Bội số mô-men cực đại: </a:t>
            </a:r>
            <a:r>
              <a:rPr sz="980" i="0" b="1">
                <a:solidFill>
                  <a:srgbClr val="0E2841"/>
                </a:solidFill>
                <a:latin typeface="Arial"/>
              </a:rPr>
              <a:t>λ_max = M_max / M_đm ≥ 2.0</a:t>
            </a:r>
            <a:r>
              <a:rPr sz="980" i="0" b="0">
                <a:solidFill>
                  <a:srgbClr val="1B1B1B"/>
                </a:solidFill>
                <a:latin typeface="Arial"/>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9. MA TRẬN TRUY VẾT 2 CHIỀU (RTM) — PHẦN 1: TRUY VẾT XUÔI (FORWARD)</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Độ phủ </a:t>
            </a:r>
            <a:r>
              <a:rPr sz="1350" i="0" b="1">
                <a:solidFill>
                  <a:srgbClr val="0E2841"/>
                </a:solidFill>
                <a:latin typeface="Arial"/>
              </a:rPr>
              <a:t>100% từ 8 PRD + 8 HoQ EC → 14 SRS → 8 CTQ / 5 CTS → 14 DVP-L0</a:t>
            </a:r>
            <a:r>
              <a:rPr sz="1350" i="0" b="1">
                <a:solidFill>
                  <a:srgbClr val="C00000"/>
                </a:solidFill>
                <a:latin typeface="Arial"/>
              </a:rPr>
              <a:t> (</a:t>
            </a:r>
            <a:r>
              <a:rPr sz="1350" i="0" b="1">
                <a:solidFill>
                  <a:srgbClr val="0E2841"/>
                </a:solidFill>
                <a:latin typeface="Arial"/>
              </a:rPr>
              <a:t>0 Orphan</a:t>
            </a:r>
            <a:r>
              <a:rPr sz="1350" i="0" b="1">
                <a:solidFill>
                  <a:srgbClr val="C00000"/>
                </a:solidFill>
                <a:latin typeface="Arial"/>
              </a:rPr>
              <a:t>, </a:t>
            </a:r>
            <a:r>
              <a:rPr sz="1350" i="0" b="1">
                <a:solidFill>
                  <a:srgbClr val="0E2841"/>
                </a:solidFill>
                <a:latin typeface="Arial"/>
              </a:rPr>
              <a:t>0 Gold-Plating</a:t>
            </a:r>
            <a:r>
              <a:rPr sz="1350" i="0" b="1">
                <a:solidFill>
                  <a:srgbClr val="C00000"/>
                </a:solidFill>
                <a:latin typeface="Arial"/>
              </a:rPr>
              <a:t>)</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SOW-1.3 — Bidirectional RTM Part 1: Forward Traceability | Slide 10 / 16</a:t>
            </a:r>
          </a:p>
        </p:txBody>
      </p:sp>
      <p:sp>
        <p:nvSpPr>
          <p:cNvPr id="5" name="Rounded Rectangle 4"/>
          <p:cNvSpPr/>
          <p:nvPr/>
        </p:nvSpPr>
        <p:spPr>
          <a:xfrm>
            <a:off x="310896" y="1234440"/>
            <a:ext cx="3246120" cy="4965192"/>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rawio_09_rtm_funnel_vertical.png"/>
          <p:cNvPicPr>
            <a:picLocks noChangeAspect="1"/>
          </p:cNvPicPr>
          <p:nvPr/>
        </p:nvPicPr>
        <p:blipFill>
          <a:blip r:embed="rId3"/>
          <a:stretch>
            <a:fillRect/>
          </a:stretch>
        </p:blipFill>
        <p:spPr>
          <a:xfrm>
            <a:off x="419804" y="1280160"/>
            <a:ext cx="3028303" cy="4585716"/>
          </a:xfrm>
          <a:prstGeom prst="rect">
            <a:avLst/>
          </a:prstGeom>
        </p:spPr>
      </p:pic>
      <p:sp>
        <p:nvSpPr>
          <p:cNvPr id="7" name="TextBox 6"/>
          <p:cNvSpPr txBox="1"/>
          <p:nvPr/>
        </p:nvSpPr>
        <p:spPr>
          <a:xfrm>
            <a:off x="347472" y="5888736"/>
            <a:ext cx="3172968" cy="292608"/>
          </a:xfrm>
          <a:prstGeom prst="rect">
            <a:avLst/>
          </a:prstGeom>
          <a:noFill/>
        </p:spPr>
        <p:txBody>
          <a:bodyPr wrap="square" anchor="ctr" lIns="12700" tIns="12700" rIns="12700" bIns="12700">
            <a:spAutoFit/>
          </a:bodyPr>
          <a:lstStyle/>
          <a:p>
            <a:pPr algn="ctr"/>
            <a:r>
              <a:rPr sz="880" b="1" i="1">
                <a:solidFill>
                  <a:srgbClr val="0E2841"/>
                </a:solidFill>
                <a:latin typeface="Arial"/>
              </a:rPr>
              <a:t>Phễu Truy vết 4 Tầng (Draw.io 09 — 300 DPI: 100% Coverage)</a:t>
            </a:r>
          </a:p>
        </p:txBody>
      </p:sp>
      <p:graphicFrame>
        <p:nvGraphicFramePr>
          <p:cNvPr id="8" name="Table 7"/>
          <p:cNvGraphicFramePr>
            <a:graphicFrameLocks noGrp="1"/>
          </p:cNvGraphicFramePr>
          <p:nvPr/>
        </p:nvGraphicFramePr>
        <p:xfrm>
          <a:off x="3675887" y="1234440"/>
          <a:ext cx="8202168" cy="4667280"/>
        </p:xfrm>
        <a:graphic>
          <a:graphicData uri="http://schemas.openxmlformats.org/drawingml/2006/table">
            <a:tbl>
              <a:tblPr firstRow="1" bandRow="1">
                <a:tableStyleId>{5C22544A-7EE6-4342-B048-85BDC9FD1C3A}</a:tableStyleId>
              </a:tblPr>
              <a:tblGrid>
                <a:gridCol w="1325880"/>
                <a:gridCol w="1691640"/>
                <a:gridCol w="2331720"/>
                <a:gridCol w="1051560"/>
                <a:gridCol w="1801368"/>
              </a:tblGrid>
              <a:tr h="292608">
                <a:tc>
                  <a:txBody>
                    <a:bodyPr wrap="square"/>
                    <a:lstStyle/>
                    <a:p>
                      <a:pPr algn="ctr"/>
                      <a:r>
                        <a:rPr sz="1000" b="1">
                          <a:solidFill>
                            <a:srgbClr val="FFFFFF"/>
                          </a:solidFill>
                          <a:latin typeface="Arial"/>
                        </a:rPr>
                        <a:t>Mã PRD (Khối 0)</a:t>
                      </a:r>
                    </a:p>
                  </a:txBody>
                  <a:tcPr anchor="ctr" marT="19050" marB="19050" marL="50800" marR="50800">
                    <a:solidFill>
                      <a:srgbClr val="0E2841"/>
                    </a:solidFill>
                  </a:tcPr>
                </a:tc>
                <a:tc>
                  <a:txBody>
                    <a:bodyPr wrap="square"/>
                    <a:lstStyle/>
                    <a:p>
                      <a:pPr algn="ctr"/>
                      <a:r>
                        <a:rPr sz="1000" b="1">
                          <a:solidFill>
                            <a:srgbClr val="FFFFFF"/>
                          </a:solidFill>
                          <a:latin typeface="Arial"/>
                        </a:rPr>
                        <a:t>Đặc tính HoQ EC</a:t>
                      </a:r>
                    </a:p>
                  </a:txBody>
                  <a:tcPr anchor="ctr" marT="19050" marB="19050" marL="50800" marR="50800">
                    <a:solidFill>
                      <a:srgbClr val="0E2841"/>
                    </a:solidFill>
                  </a:tcPr>
                </a:tc>
                <a:tc>
                  <a:txBody>
                    <a:bodyPr wrap="square"/>
                    <a:lstStyle/>
                    <a:p>
                      <a:pPr algn="ctr"/>
                      <a:r>
                        <a:rPr sz="1000" b="1">
                          <a:solidFill>
                            <a:srgbClr val="FFFFFF"/>
                          </a:solidFill>
                          <a:latin typeface="Arial"/>
                        </a:rPr>
                        <a:t>Mã Yêu cầu SRS Nguyên tử</a:t>
                      </a:r>
                    </a:p>
                  </a:txBody>
                  <a:tcPr anchor="ctr" marT="19050" marB="19050" marL="50800" marR="50800">
                    <a:solidFill>
                      <a:srgbClr val="0E2841"/>
                    </a:solidFill>
                  </a:tcPr>
                </a:tc>
                <a:tc>
                  <a:txBody>
                    <a:bodyPr wrap="square"/>
                    <a:lstStyle/>
                    <a:p>
                      <a:pPr algn="ctr"/>
                      <a:r>
                        <a:rPr sz="1000" b="1">
                          <a:solidFill>
                            <a:srgbClr val="FFFFFF"/>
                          </a:solidFill>
                          <a:latin typeface="Arial"/>
                        </a:rPr>
                        <a:t>Chỉ tiêu CTQ / CTS</a:t>
                      </a:r>
                    </a:p>
                  </a:txBody>
                  <a:tcPr anchor="ctr" marT="19050" marB="19050" marL="50800" marR="50800">
                    <a:solidFill>
                      <a:srgbClr val="0E2841"/>
                    </a:solidFill>
                  </a:tcPr>
                </a:tc>
                <a:tc>
                  <a:txBody>
                    <a:bodyPr wrap="square"/>
                    <a:lstStyle/>
                    <a:p>
                      <a:pPr algn="ctr"/>
                      <a:r>
                        <a:rPr sz="1000" b="1">
                          <a:solidFill>
                            <a:srgbClr val="FFFFFF"/>
                          </a:solidFill>
                          <a:latin typeface="Arial"/>
                        </a:rPr>
                        <a:t>Mã Bài đo DVP&amp;R L0 &amp; Kịch bản</a:t>
                      </a:r>
                    </a:p>
                  </a:txBody>
                  <a:tcPr anchor="ctr" marT="19050" marB="19050" marL="50800" marR="50800">
                    <a:solidFill>
                      <a:srgbClr val="0E2841"/>
                    </a:solidFill>
                  </a:tcPr>
                </a:tc>
              </a:tr>
              <a:tr h="546834">
                <a:tc>
                  <a:txBody>
                    <a:bodyPr wrap="square"/>
                    <a:lstStyle/>
                    <a:p>
                      <a:pPr algn="ctr"/>
                      <a:r>
                        <a:rPr sz="880" i="0" b="1">
                          <a:solidFill>
                            <a:srgbClr val="0E2841"/>
                          </a:solidFill>
                          <a:latin typeface="Arial"/>
                        </a:rPr>
                        <a:t>PRD-01</a:t>
                      </a:r>
                      <a:r>
                        <a:rPr sz="880" i="0" b="1">
                          <a:solidFill>
                            <a:srgbClr val="0E2841"/>
                          </a:solidFill>
                          <a:latin typeface="Arial"/>
                        </a:rPr>
                        <a:t>
Di chuyển 2 chiều</a:t>
                      </a:r>
                    </a:p>
                  </a:txBody>
                  <a:tcPr anchor="ctr" marT="19050" marB="19050" marL="50800" marR="50800">
                    <a:solidFill>
                      <a:srgbClr val="FFFFFF"/>
                    </a:solidFill>
                  </a:tcPr>
                </a:tc>
                <a:tc>
                  <a:txBody>
                    <a:bodyPr wrap="square"/>
                    <a:lstStyle/>
                    <a:p>
                      <a:pPr algn="l"/>
                      <a:r>
                        <a:rPr sz="880" i="0" b="1">
                          <a:solidFill>
                            <a:srgbClr val="0E2841"/>
                          </a:solidFill>
                          <a:latin typeface="Arial"/>
                        </a:rPr>
                        <a:t>EC-06</a:t>
                      </a:r>
                      <a:r>
                        <a:rPr sz="880" i="0" b="0">
                          <a:solidFill>
                            <a:srgbClr val="1B1B1B"/>
                          </a:solidFill>
                          <a:latin typeface="Arial"/>
                        </a:rPr>
                        <a:t>, INP-01..04
ASM-01, ASM-03</a:t>
                      </a:r>
                    </a:p>
                  </a:txBody>
                  <a:tcPr anchor="ctr" marT="19050" marB="19050" marL="50800" marR="50800">
                    <a:solidFill>
                      <a:srgbClr val="FFFFFF"/>
                    </a:solidFill>
                  </a:tcPr>
                </a:tc>
                <a:tc>
                  <a:txBody>
                    <a:bodyPr wrap="square"/>
                    <a:lstStyle/>
                    <a:p>
                      <a:pPr algn="l"/>
                      <a:r>
                        <a:rPr sz="880" i="0" b="1">
                          <a:solidFill>
                            <a:srgbClr val="0E2841"/>
                          </a:solidFill>
                          <a:latin typeface="Arial"/>
                        </a:rPr>
                        <a:t>SRS-FUNC-01</a:t>
                      </a:r>
                      <a:r>
                        <a:rPr sz="880" i="0" b="0">
                          <a:solidFill>
                            <a:srgbClr val="1B1B1B"/>
                          </a:solidFill>
                          <a:latin typeface="Arial"/>
                        </a:rPr>
                        <a:t> (Khóa liên động </a:t>
                      </a:r>
                      <a:r>
                        <a:rPr sz="880" i="0" b="1">
                          <a:solidFill>
                            <a:srgbClr val="0E2841"/>
                          </a:solidFill>
                          <a:latin typeface="Arial"/>
                        </a:rPr>
                        <a:t>v=0</a:t>
                      </a:r>
                      <a:r>
                        <a:rPr sz="880" i="0" b="0">
                          <a:solidFill>
                            <a:srgbClr val="1B1B1B"/>
                          </a:solidFill>
                          <a:latin typeface="Arial"/>
                        </a:rPr>
                        <a:t>)
</a:t>
                      </a:r>
                      <a:r>
                        <a:rPr sz="880" i="0" b="1">
                          <a:solidFill>
                            <a:srgbClr val="0E2841"/>
                          </a:solidFill>
                          <a:latin typeface="Arial"/>
                        </a:rPr>
                        <a:t>SRS-PERM-07</a:t>
                      </a:r>
                      <a:r>
                        <a:rPr sz="880" i="0" b="0">
                          <a:solidFill>
                            <a:srgbClr val="1B1B1B"/>
                          </a:solidFill>
                          <a:latin typeface="Arial"/>
                        </a:rPr>
                        <a:t> (Cơ khí </a:t>
                      </a:r>
                      <a:r>
                        <a:rPr sz="880" i="0" b="1">
                          <a:solidFill>
                            <a:srgbClr val="0E2841"/>
                          </a:solidFill>
                          <a:latin typeface="Arial"/>
                        </a:rPr>
                        <a:t>d=0.25m, η=0.96</a:t>
                      </a:r>
                      <a:r>
                        <a:rPr sz="880" i="0" b="0">
                          <a:solidFill>
                            <a:srgbClr val="1B1B1B"/>
                          </a:solidFill>
                          <a:latin typeface="Arial"/>
                        </a:rPr>
                        <a:t>)</a:t>
                      </a:r>
                    </a:p>
                  </a:txBody>
                  <a:tcPr anchor="ctr" marT="19050" marB="19050" marL="50800" marR="50800">
                    <a:solidFill>
                      <a:srgbClr val="FFFFFF"/>
                    </a:solidFill>
                  </a:tcPr>
                </a:tc>
                <a:tc>
                  <a:txBody>
                    <a:bodyPr wrap="square"/>
                    <a:lstStyle/>
                    <a:p>
                      <a:pPr algn="l"/>
                      <a:r>
                        <a:rPr sz="880" i="0" b="1">
                          <a:solidFill>
                            <a:srgbClr val="C00000"/>
                          </a:solidFill>
                          <a:latin typeface="Arial"/>
                        </a:rPr>
                        <a:t>CTS-01</a:t>
                      </a:r>
                      <a:r>
                        <a:rPr sz="880" i="0" b="0">
                          <a:solidFill>
                            <a:srgbClr val="1B1B1B"/>
                          </a:solidFill>
                          <a:latin typeface="Arial"/>
                        </a:rPr>
                        <a:t>
</a:t>
                      </a:r>
                      <a:r>
                        <a:rPr sz="880" i="0" b="1">
                          <a:solidFill>
                            <a:srgbClr val="0E2841"/>
                          </a:solidFill>
                          <a:latin typeface="Arial"/>
                        </a:rPr>
                        <a:t>CTQ-08</a:t>
                      </a:r>
                    </a:p>
                  </a:txBody>
                  <a:tcPr anchor="ctr" marT="19050" marB="19050" marL="50800" marR="50800">
                    <a:solidFill>
                      <a:srgbClr val="FFFFFF"/>
                    </a:solidFill>
                  </a:tcPr>
                </a:tc>
                <a:tc>
                  <a:txBody>
                    <a:bodyPr wrap="square"/>
                    <a:lstStyle/>
                    <a:p>
                      <a:pPr algn="l"/>
                      <a:r>
                        <a:rPr sz="880" i="0" b="1">
                          <a:solidFill>
                            <a:srgbClr val="0E2841"/>
                          </a:solidFill>
                          <a:latin typeface="Arial"/>
                        </a:rPr>
                        <a:t>DVP-L0-01</a:t>
                      </a:r>
                      <a:r>
                        <a:rPr sz="880" i="0" b="0">
                          <a:solidFill>
                            <a:srgbClr val="1B1B1B"/>
                          </a:solidFill>
                          <a:latin typeface="Arial"/>
                        </a:rPr>
                        <a:t> (</a:t>
                      </a:r>
                      <a:r>
                        <a:rPr sz="880" i="0" b="1">
                          <a:solidFill>
                            <a:srgbClr val="0E2841"/>
                          </a:solidFill>
                          <a:latin typeface="Arial"/>
                        </a:rPr>
                        <a:t>TS-03</a:t>
                      </a:r>
                      <a:r>
                        <a:rPr sz="880" i="0" b="0">
                          <a:solidFill>
                            <a:srgbClr val="1B1B1B"/>
                          </a:solidFill>
                          <a:latin typeface="Arial"/>
                        </a:rPr>
                        <a:t>)
</a:t>
                      </a:r>
                      <a:r>
                        <a:rPr sz="880" i="0" b="1">
                          <a:solidFill>
                            <a:srgbClr val="0E2841"/>
                          </a:solidFill>
                          <a:latin typeface="Arial"/>
                        </a:rPr>
                        <a:t>DVP-L0-14</a:t>
                      </a:r>
                      <a:r>
                        <a:rPr sz="880" i="0" b="0">
                          <a:solidFill>
                            <a:srgbClr val="1B1B1B"/>
                          </a:solidFill>
                          <a:latin typeface="Arial"/>
                        </a:rPr>
                        <a:t> (</a:t>
                      </a:r>
                      <a:r>
                        <a:rPr sz="880" i="0" b="1">
                          <a:solidFill>
                            <a:srgbClr val="0E2841"/>
                          </a:solidFill>
                          <a:latin typeface="Arial"/>
                        </a:rPr>
                        <a:t>TS-01, TS-04</a:t>
                      </a:r>
                      <a:r>
                        <a:rPr sz="880" i="0" b="0">
                          <a:solidFill>
                            <a:srgbClr val="1B1B1B"/>
                          </a:solidFill>
                          <a:latin typeface="Arial"/>
                        </a:rPr>
                        <a:t>)</a:t>
                      </a:r>
                    </a:p>
                  </a:txBody>
                  <a:tcPr anchor="ctr" marT="19050" marB="19050" marL="50800" marR="50800">
                    <a:solidFill>
                      <a:srgbClr val="FFFFFF"/>
                    </a:solidFill>
                  </a:tcPr>
                </a:tc>
              </a:tr>
              <a:tr h="546834">
                <a:tc>
                  <a:txBody>
                    <a:bodyPr wrap="square"/>
                    <a:lstStyle/>
                    <a:p>
                      <a:pPr algn="ctr"/>
                      <a:r>
                        <a:rPr sz="880" i="0" b="1">
                          <a:solidFill>
                            <a:srgbClr val="0E2841"/>
                          </a:solidFill>
                          <a:latin typeface="Arial"/>
                        </a:rPr>
                        <a:t>PRD-02</a:t>
                      </a:r>
                      <a:r>
                        <a:rPr sz="880" i="0" b="1">
                          <a:solidFill>
                            <a:srgbClr val="C00000"/>
                          </a:solidFill>
                          <a:latin typeface="Arial"/>
                        </a:rPr>
                        <a:t>
Chạy chính &amp; Creep</a:t>
                      </a:r>
                    </a:p>
                  </a:txBody>
                  <a:tcPr anchor="ctr" marT="19050" marB="19050" marL="50800" marR="50800">
                    <a:solidFill>
                      <a:srgbClr val="FEF9E7"/>
                    </a:solidFill>
                  </a:tcPr>
                </a:tc>
                <a:tc>
                  <a:txBody>
                    <a:bodyPr wrap="square"/>
                    <a:lstStyle/>
                    <a:p>
                      <a:pPr algn="l"/>
                      <a:r>
                        <a:rPr sz="880" i="0" b="1">
                          <a:solidFill>
                            <a:srgbClr val="0E2841"/>
                          </a:solidFill>
                          <a:latin typeface="Arial"/>
                        </a:rPr>
                        <a:t>EC-02</a:t>
                      </a:r>
                      <a:r>
                        <a:rPr sz="880" i="0" b="1">
                          <a:solidFill>
                            <a:srgbClr val="1B1B1B"/>
                          </a:solidFill>
                          <a:latin typeface="Arial"/>
                        </a:rPr>
                        <a:t> (</a:t>
                      </a:r>
                      <a:r>
                        <a:rPr sz="880" i="0" b="1">
                          <a:solidFill>
                            <a:srgbClr val="0E2841"/>
                          </a:solidFill>
                          <a:latin typeface="Arial"/>
                        </a:rPr>
                        <a:t>25÷30% v_max</a:t>
                      </a:r>
                      <a:r>
                        <a:rPr sz="880" i="0" b="1">
                          <a:solidFill>
                            <a:srgbClr val="1B1B1B"/>
                          </a:solidFill>
                          <a:latin typeface="Arial"/>
                        </a:rPr>
                        <a:t>)
PA C (</a:t>
                      </a:r>
                      <a:r>
                        <a:rPr sz="880" i="0" b="1">
                          <a:solidFill>
                            <a:srgbClr val="0E2841"/>
                          </a:solidFill>
                          <a:latin typeface="Arial"/>
                        </a:rPr>
                        <a:t>FOC + Encoder</a:t>
                      </a:r>
                      <a:r>
                        <a:rPr sz="880" i="0" b="1">
                          <a:solidFill>
                            <a:srgbClr val="1B1B1B"/>
                          </a:solidFill>
                          <a:latin typeface="Arial"/>
                        </a:rPr>
                        <a:t>)</a:t>
                      </a:r>
                    </a:p>
                  </a:txBody>
                  <a:tcPr anchor="ctr" marT="19050" marB="19050" marL="50800" marR="50800">
                    <a:solidFill>
                      <a:srgbClr val="FEF9E7"/>
                    </a:solidFill>
                  </a:tcPr>
                </a:tc>
                <a:tc>
                  <a:txBody>
                    <a:bodyPr wrap="square"/>
                    <a:lstStyle/>
                    <a:p>
                      <a:pPr algn="l"/>
                      <a:r>
                        <a:rPr sz="880" i="0" b="1">
                          <a:solidFill>
                            <a:srgbClr val="0E2841"/>
                          </a:solidFill>
                          <a:latin typeface="Arial"/>
                        </a:rPr>
                        <a:t>SRS-FUNC-02</a:t>
                      </a:r>
                      <a:r>
                        <a:rPr sz="880" i="0" b="1">
                          <a:solidFill>
                            <a:srgbClr val="1B1B1B"/>
                          </a:solidFill>
                          <a:latin typeface="Arial"/>
                        </a:rPr>
                        <a:t> (Nội suy đa cấp)
</a:t>
                      </a:r>
                      <a:r>
                        <a:rPr sz="880" i="0" b="1">
                          <a:solidFill>
                            <a:srgbClr val="0E2841"/>
                          </a:solidFill>
                          <a:latin typeface="Arial"/>
                        </a:rPr>
                        <a:t>SRS-FUNC-05</a:t>
                      </a:r>
                      <a:r>
                        <a:rPr sz="880" i="0" b="1">
                          <a:solidFill>
                            <a:srgbClr val="1B1B1B"/>
                          </a:solidFill>
                          <a:latin typeface="Arial"/>
                        </a:rPr>
                        <a:t> (Vòng kín </a:t>
                      </a:r>
                      <a:r>
                        <a:rPr sz="880" i="0" b="1">
                          <a:solidFill>
                            <a:srgbClr val="0E2841"/>
                          </a:solidFill>
                          <a:latin typeface="Arial"/>
                        </a:rPr>
                        <a:t>RFOC</a:t>
                      </a:r>
                      <a:r>
                        <a:rPr sz="880" i="0" b="1">
                          <a:solidFill>
                            <a:srgbClr val="1B1B1B"/>
                          </a:solidFill>
                          <a:latin typeface="Arial"/>
                        </a:rPr>
                        <a:t>)
</a:t>
                      </a:r>
                      <a:r>
                        <a:rPr sz="880" i="0" b="1">
                          <a:solidFill>
                            <a:srgbClr val="0E2841"/>
                          </a:solidFill>
                          <a:latin typeface="Arial"/>
                        </a:rPr>
                        <a:t>SRS-PERM-02</a:t>
                      </a:r>
                      <a:r>
                        <a:rPr sz="880" i="0" b="1">
                          <a:solidFill>
                            <a:srgbClr val="1B1B1B"/>
                          </a:solidFill>
                          <a:latin typeface="Arial"/>
                        </a:rPr>
                        <a:t> (</a:t>
                      </a:r>
                      <a:r>
                        <a:rPr sz="880" i="0" b="1">
                          <a:solidFill>
                            <a:srgbClr val="0E2841"/>
                          </a:solidFill>
                          <a:latin typeface="Arial"/>
                        </a:rPr>
                        <a:t>v_creep, D ≥ 10:1</a:t>
                      </a:r>
                      <a:r>
                        <a:rPr sz="880" i="0" b="1">
                          <a:solidFill>
                            <a:srgbClr val="1B1B1B"/>
                          </a:solidFill>
                          <a:latin typeface="Arial"/>
                        </a:rPr>
                        <a:t>)</a:t>
                      </a:r>
                    </a:p>
                  </a:txBody>
                  <a:tcPr anchor="ctr" marT="19050" marB="19050" marL="50800" marR="50800">
                    <a:solidFill>
                      <a:srgbClr val="FEF9E7"/>
                    </a:solidFill>
                  </a:tcPr>
                </a:tc>
                <a:tc>
                  <a:txBody>
                    <a:bodyPr wrap="square"/>
                    <a:lstStyle/>
                    <a:p>
                      <a:pPr algn="l"/>
                      <a:r>
                        <a:rPr sz="880" i="0" b="1">
                          <a:solidFill>
                            <a:srgbClr val="0E2841"/>
                          </a:solidFill>
                          <a:latin typeface="Arial"/>
                        </a:rPr>
                        <a:t>CTQ-03</a:t>
                      </a:r>
                      <a:r>
                        <a:rPr sz="880" i="0" b="1">
                          <a:solidFill>
                            <a:srgbClr val="1B1B1B"/>
                          </a:solidFill>
                          <a:latin typeface="Arial"/>
                        </a:rPr>
                        <a:t>
</a:t>
                      </a:r>
                      <a:r>
                        <a:rPr sz="880" i="0" b="1">
                          <a:solidFill>
                            <a:srgbClr val="0E2841"/>
                          </a:solidFill>
                          <a:latin typeface="Arial"/>
                        </a:rPr>
                        <a:t>CTQ-04</a:t>
                      </a:r>
                    </a:p>
                  </a:txBody>
                  <a:tcPr anchor="ctr" marT="19050" marB="19050" marL="50800" marR="50800">
                    <a:solidFill>
                      <a:srgbClr val="FEF9E7"/>
                    </a:solidFill>
                  </a:tcPr>
                </a:tc>
                <a:tc>
                  <a:txBody>
                    <a:bodyPr wrap="square"/>
                    <a:lstStyle/>
                    <a:p>
                      <a:pPr algn="l"/>
                      <a:r>
                        <a:rPr sz="880" i="0" b="1">
                          <a:solidFill>
                            <a:srgbClr val="0E2841"/>
                          </a:solidFill>
                          <a:latin typeface="Arial"/>
                        </a:rPr>
                        <a:t>DVP-L0-02</a:t>
                      </a:r>
                      <a:r>
                        <a:rPr sz="880" i="0" b="1">
                          <a:solidFill>
                            <a:srgbClr val="1B1B1B"/>
                          </a:solidFill>
                          <a:latin typeface="Arial"/>
                        </a:rPr>
                        <a:t> (</a:t>
                      </a:r>
                      <a:r>
                        <a:rPr sz="880" i="0" b="1">
                          <a:solidFill>
                            <a:srgbClr val="0E2841"/>
                          </a:solidFill>
                          <a:latin typeface="Arial"/>
                        </a:rPr>
                        <a:t>TS-01</a:t>
                      </a:r>
                      <a:r>
                        <a:rPr sz="880" i="0" b="1">
                          <a:solidFill>
                            <a:srgbClr val="1B1B1B"/>
                          </a:solidFill>
                          <a:latin typeface="Arial"/>
                        </a:rPr>
                        <a:t>)
</a:t>
                      </a:r>
                      <a:r>
                        <a:rPr sz="880" i="0" b="1">
                          <a:solidFill>
                            <a:srgbClr val="0E2841"/>
                          </a:solidFill>
                          <a:latin typeface="Arial"/>
                        </a:rPr>
                        <a:t>DVP-L0-05</a:t>
                      </a:r>
                      <a:r>
                        <a:rPr sz="880" i="0" b="1">
                          <a:solidFill>
                            <a:srgbClr val="1B1B1B"/>
                          </a:solidFill>
                          <a:latin typeface="Arial"/>
                        </a:rPr>
                        <a:t> (</a:t>
                      </a:r>
                      <a:r>
                        <a:rPr sz="880" i="0" b="1">
                          <a:solidFill>
                            <a:srgbClr val="0E2841"/>
                          </a:solidFill>
                          <a:latin typeface="Arial"/>
                        </a:rPr>
                        <a:t>TS-01, TS-02</a:t>
                      </a:r>
                      <a:r>
                        <a:rPr sz="880" i="0" b="1">
                          <a:solidFill>
                            <a:srgbClr val="1B1B1B"/>
                          </a:solidFill>
                          <a:latin typeface="Arial"/>
                        </a:rPr>
                        <a:t>)
</a:t>
                      </a:r>
                      <a:r>
                        <a:rPr sz="880" i="0" b="1">
                          <a:solidFill>
                            <a:srgbClr val="0E2841"/>
                          </a:solidFill>
                          <a:latin typeface="Arial"/>
                        </a:rPr>
                        <a:t>DVP-L0-09</a:t>
                      </a:r>
                      <a:r>
                        <a:rPr sz="880" i="0" b="1">
                          <a:solidFill>
                            <a:srgbClr val="1B1B1B"/>
                          </a:solidFill>
                          <a:latin typeface="Arial"/>
                        </a:rPr>
                        <a:t> (</a:t>
                      </a:r>
                      <a:r>
                        <a:rPr sz="880" i="0" b="1">
                          <a:solidFill>
                            <a:srgbClr val="0E2841"/>
                          </a:solidFill>
                          <a:latin typeface="Arial"/>
                        </a:rPr>
                        <a:t>TS-01</a:t>
                      </a:r>
                      <a:r>
                        <a:rPr sz="880" i="0" b="1">
                          <a:solidFill>
                            <a:srgbClr val="1B1B1B"/>
                          </a:solidFill>
                          <a:latin typeface="Arial"/>
                        </a:rPr>
                        <a:t>)</a:t>
                      </a:r>
                    </a:p>
                  </a:txBody>
                  <a:tcPr anchor="ctr" marT="19050" marB="19050" marL="50800" marR="50800">
                    <a:solidFill>
                      <a:srgbClr val="FEF9E7"/>
                    </a:solidFill>
                  </a:tcPr>
                </a:tc>
              </a:tr>
              <a:tr h="546834">
                <a:tc>
                  <a:txBody>
                    <a:bodyPr wrap="square"/>
                    <a:lstStyle/>
                    <a:p>
                      <a:pPr algn="ctr"/>
                      <a:r>
                        <a:rPr sz="880" i="0" b="1">
                          <a:solidFill>
                            <a:srgbClr val="0E2841"/>
                          </a:solidFill>
                          <a:latin typeface="Arial"/>
                        </a:rPr>
                        <a:t>PRD-03</a:t>
                      </a:r>
                      <a:r>
                        <a:rPr sz="880" i="0" b="1">
                          <a:solidFill>
                            <a:srgbClr val="0E2841"/>
                          </a:solidFill>
                          <a:latin typeface="Arial"/>
                        </a:rPr>
                        <a:t>
Ổn định tốc độ</a:t>
                      </a:r>
                    </a:p>
                  </a:txBody>
                  <a:tcPr anchor="ctr" marT="19050" marB="19050" marL="50800" marR="50800">
                    <a:solidFill>
                      <a:srgbClr val="FFFFFF"/>
                    </a:solidFill>
                  </a:tcPr>
                </a:tc>
                <a:tc>
                  <a:txBody>
                    <a:bodyPr wrap="square"/>
                    <a:lstStyle/>
                    <a:p>
                      <a:pPr algn="l"/>
                      <a:r>
                        <a:rPr sz="880" i="0" b="1">
                          <a:solidFill>
                            <a:srgbClr val="0E2841"/>
                          </a:solidFill>
                          <a:latin typeface="Arial"/>
                        </a:rPr>
                        <a:t>EC-01</a:t>
                      </a:r>
                      <a:r>
                        <a:rPr sz="880" i="0" b="0">
                          <a:solidFill>
                            <a:srgbClr val="1B1B1B"/>
                          </a:solidFill>
                          <a:latin typeface="Arial"/>
                        </a:rPr>
                        <a:t> (</a:t>
                      </a:r>
                      <a:r>
                        <a:rPr sz="880" i="0" b="1">
                          <a:solidFill>
                            <a:srgbClr val="0E2841"/>
                          </a:solidFill>
                          <a:latin typeface="Arial"/>
                        </a:rPr>
                        <a:t>e_xl ≤ 5%</a:t>
                      </a:r>
                      <a:r>
                        <a:rPr sz="880" i="0" b="0">
                          <a:solidFill>
                            <a:srgbClr val="1B1B1B"/>
                          </a:solidFill>
                          <a:latin typeface="Arial"/>
                        </a:rPr>
                        <a:t>)
</a:t>
                      </a:r>
                      <a:r>
                        <a:rPr sz="880" i="0" b="1">
                          <a:solidFill>
                            <a:srgbClr val="0E2841"/>
                          </a:solidFill>
                          <a:latin typeface="Arial"/>
                        </a:rPr>
                        <a:t>EC-03</a:t>
                      </a:r>
                      <a:r>
                        <a:rPr sz="880" i="0" b="0">
                          <a:solidFill>
                            <a:srgbClr val="1B1B1B"/>
                          </a:solidFill>
                          <a:latin typeface="Arial"/>
                        </a:rPr>
                        <a:t> (</a:t>
                      </a:r>
                      <a:r>
                        <a:rPr sz="880" i="0" b="1">
                          <a:solidFill>
                            <a:srgbClr val="0E2841"/>
                          </a:solidFill>
                          <a:latin typeface="Arial"/>
                        </a:rPr>
                        <a:t>M_p ≤ 10%</a:t>
                      </a:r>
                      <a:r>
                        <a:rPr sz="880" i="0" b="0">
                          <a:solidFill>
                            <a:srgbClr val="1B1B1B"/>
                          </a:solidFill>
                          <a:latin typeface="Arial"/>
                        </a:rPr>
                        <a:t>)</a:t>
                      </a:r>
                    </a:p>
                  </a:txBody>
                  <a:tcPr anchor="ctr" marT="19050" marB="19050" marL="50800" marR="50800">
                    <a:solidFill>
                      <a:srgbClr val="FFFFFF"/>
                    </a:solidFill>
                  </a:tcPr>
                </a:tc>
                <a:tc>
                  <a:txBody>
                    <a:bodyPr wrap="square"/>
                    <a:lstStyle/>
                    <a:p>
                      <a:pPr algn="l"/>
                      <a:r>
                        <a:rPr sz="880" i="0" b="1">
                          <a:solidFill>
                            <a:srgbClr val="0E2841"/>
                          </a:solidFill>
                          <a:latin typeface="Arial"/>
                        </a:rPr>
                        <a:t>SRS-PERM-01</a:t>
                      </a:r>
                      <a:r>
                        <a:rPr sz="880" i="0" b="0">
                          <a:solidFill>
                            <a:srgbClr val="1B1B1B"/>
                          </a:solidFill>
                          <a:latin typeface="Arial"/>
                        </a:rPr>
                        <a:t> (</a:t>
                      </a:r>
                      <a:r>
                        <a:rPr sz="880" i="0" b="1">
                          <a:solidFill>
                            <a:srgbClr val="0E2841"/>
                          </a:solidFill>
                          <a:latin typeface="Arial"/>
                        </a:rPr>
                        <a:t>e_xl ≤ 5.0%</a:t>
                      </a:r>
                      <a:r>
                        <a:rPr sz="880" i="0" b="0">
                          <a:solidFill>
                            <a:srgbClr val="1B1B1B"/>
                          </a:solidFill>
                          <a:latin typeface="Arial"/>
                        </a:rPr>
                        <a:t>, </a:t>
                      </a:r>
                      <a:r>
                        <a:rPr sz="880" i="0" b="1">
                          <a:solidFill>
                            <a:srgbClr val="0E2841"/>
                          </a:solidFill>
                          <a:latin typeface="Arial"/>
                        </a:rPr>
                        <a:t>M_p ≤ 10.0%</a:t>
                      </a:r>
                      <a:r>
                        <a:rPr sz="880" i="0" b="0">
                          <a:solidFill>
                            <a:srgbClr val="1B1B1B"/>
                          </a:solidFill>
                          <a:latin typeface="Arial"/>
                        </a:rPr>
                        <a:t> trên toàn dải tải </a:t>
                      </a:r>
                      <a:r>
                        <a:rPr sz="880" i="0" b="1">
                          <a:solidFill>
                            <a:srgbClr val="0E2841"/>
                          </a:solidFill>
                          <a:latin typeface="Arial"/>
                        </a:rPr>
                        <a:t>7.04×</a:t>
                      </a:r>
                      <a:r>
                        <a:rPr sz="880" i="0" b="0">
                          <a:solidFill>
                            <a:srgbClr val="1B1B1B"/>
                          </a:solidFill>
                          <a:latin typeface="Arial"/>
                        </a:rPr>
                        <a:t>)</a:t>
                      </a:r>
                    </a:p>
                  </a:txBody>
                  <a:tcPr anchor="ctr" marT="19050" marB="19050" marL="50800" marR="50800">
                    <a:solidFill>
                      <a:srgbClr val="FFFFFF"/>
                    </a:solidFill>
                  </a:tcPr>
                </a:tc>
                <a:tc>
                  <a:txBody>
                    <a:bodyPr wrap="square"/>
                    <a:lstStyle/>
                    <a:p>
                      <a:pPr algn="l"/>
                      <a:r>
                        <a:rPr sz="880" i="0" b="1">
                          <a:solidFill>
                            <a:srgbClr val="0E2841"/>
                          </a:solidFill>
                          <a:latin typeface="Arial"/>
                        </a:rPr>
                        <a:t>CTQ-01</a:t>
                      </a:r>
                      <a:r>
                        <a:rPr sz="880" i="0" b="0">
                          <a:solidFill>
                            <a:srgbClr val="1B1B1B"/>
                          </a:solidFill>
                          <a:latin typeface="Arial"/>
                        </a:rPr>
                        <a:t>
</a:t>
                      </a:r>
                      <a:r>
                        <a:rPr sz="880" i="0" b="1">
                          <a:solidFill>
                            <a:srgbClr val="0E2841"/>
                          </a:solidFill>
                          <a:latin typeface="Arial"/>
                        </a:rPr>
                        <a:t>CTQ-02</a:t>
                      </a:r>
                    </a:p>
                  </a:txBody>
                  <a:tcPr anchor="ctr" marT="19050" marB="19050" marL="50800" marR="50800">
                    <a:solidFill>
                      <a:srgbClr val="FFFFFF"/>
                    </a:solidFill>
                  </a:tcPr>
                </a:tc>
                <a:tc>
                  <a:txBody>
                    <a:bodyPr wrap="square"/>
                    <a:lstStyle/>
                    <a:p>
                      <a:pPr algn="l"/>
                      <a:r>
                        <a:rPr sz="880" i="0" b="1">
                          <a:solidFill>
                            <a:srgbClr val="0E2841"/>
                          </a:solidFill>
                          <a:latin typeface="Arial"/>
                        </a:rPr>
                        <a:t>DVP-L0-08</a:t>
                      </a:r>
                      <a:r>
                        <a:rPr sz="880" i="0" b="0">
                          <a:solidFill>
                            <a:srgbClr val="1B1B1B"/>
                          </a:solidFill>
                          <a:latin typeface="Arial"/>
                        </a:rPr>
                        <a:t> (</a:t>
                      </a:r>
                      <a:r>
                        <a:rPr sz="880" i="0" b="1">
                          <a:solidFill>
                            <a:srgbClr val="0E2841"/>
                          </a:solidFill>
                          <a:latin typeface="Arial"/>
                        </a:rPr>
                        <a:t>TS-01, TS-02</a:t>
                      </a:r>
                      <a:r>
                        <a:rPr sz="880" i="0" b="0">
                          <a:solidFill>
                            <a:srgbClr val="1B1B1B"/>
                          </a:solidFill>
                          <a:latin typeface="Arial"/>
                        </a:rPr>
                        <a:t>)</a:t>
                      </a:r>
                    </a:p>
                  </a:txBody>
                  <a:tcPr anchor="ctr" marT="19050" marB="19050" marL="50800" marR="50800">
                    <a:solidFill>
                      <a:srgbClr val="FFFFFF"/>
                    </a:solidFill>
                  </a:tcPr>
                </a:tc>
              </a:tr>
              <a:tr h="546834">
                <a:tc>
                  <a:txBody>
                    <a:bodyPr wrap="square"/>
                    <a:lstStyle/>
                    <a:p>
                      <a:pPr algn="ctr"/>
                      <a:r>
                        <a:rPr sz="880" i="0" b="1">
                          <a:solidFill>
                            <a:srgbClr val="0E2841"/>
                          </a:solidFill>
                          <a:latin typeface="Arial"/>
                        </a:rPr>
                        <a:t>PRD-04</a:t>
                      </a:r>
                      <a:r>
                        <a:rPr sz="880" i="0" b="1">
                          <a:solidFill>
                            <a:srgbClr val="C00000"/>
                          </a:solidFill>
                          <a:latin typeface="Arial"/>
                        </a:rPr>
                        <a:t>
Giữ tải 0 rpm</a:t>
                      </a:r>
                    </a:p>
                  </a:txBody>
                  <a:tcPr anchor="ctr" marT="19050" marB="19050" marL="50800" marR="50800">
                    <a:solidFill>
                      <a:srgbClr val="FDEDEC"/>
                    </a:solidFill>
                  </a:tcPr>
                </a:tc>
                <a:tc>
                  <a:txBody>
                    <a:bodyPr wrap="square"/>
                    <a:lstStyle/>
                    <a:p>
                      <a:pPr algn="l"/>
                      <a:r>
                        <a:rPr sz="880" i="0" b="1">
                          <a:solidFill>
                            <a:srgbClr val="0E2841"/>
                          </a:solidFill>
                          <a:latin typeface="Arial"/>
                        </a:rPr>
                        <a:t>EC-06</a:t>
                      </a:r>
                      <a:r>
                        <a:rPr sz="880" i="0" b="1">
                          <a:solidFill>
                            <a:srgbClr val="1B1B1B"/>
                          </a:solidFill>
                          <a:latin typeface="Arial"/>
                        </a:rPr>
                        <a:t> (</a:t>
                      </a:r>
                      <a:r>
                        <a:rPr sz="880" i="0" b="1">
                          <a:solidFill>
                            <a:srgbClr val="0E2841"/>
                          </a:solidFill>
                          <a:latin typeface="Arial"/>
                        </a:rPr>
                        <a:t>100÷150% M_đm</a:t>
                      </a:r>
                      <a:r>
                        <a:rPr sz="880" i="0" b="1">
                          <a:solidFill>
                            <a:srgbClr val="1B1B1B"/>
                          </a:solidFill>
                          <a:latin typeface="Arial"/>
                        </a:rPr>
                        <a:t>)
GAP-03, RRM-03</a:t>
                      </a:r>
                    </a:p>
                  </a:txBody>
                  <a:tcPr anchor="ctr" marT="19050" marB="19050" marL="50800" marR="50800">
                    <a:solidFill>
                      <a:srgbClr val="FDEDEC"/>
                    </a:solidFill>
                  </a:tcPr>
                </a:tc>
                <a:tc>
                  <a:txBody>
                    <a:bodyPr wrap="square"/>
                    <a:lstStyle/>
                    <a:p>
                      <a:pPr algn="l"/>
                      <a:r>
                        <a:rPr sz="880" i="0" b="1">
                          <a:solidFill>
                            <a:srgbClr val="0E2841"/>
                          </a:solidFill>
                          <a:latin typeface="Arial"/>
                        </a:rPr>
                        <a:t>SRS-FUNC-04</a:t>
                      </a:r>
                      <a:r>
                        <a:rPr sz="880" i="0" b="1">
                          <a:solidFill>
                            <a:srgbClr val="1B1B1B"/>
                          </a:solidFill>
                          <a:latin typeface="Arial"/>
                        </a:rPr>
                        <a:t> (Giữ tải </a:t>
                      </a:r>
                      <a:r>
                        <a:rPr sz="880" i="0" b="1">
                          <a:solidFill>
                            <a:srgbClr val="0E2841"/>
                          </a:solidFill>
                          <a:latin typeface="Arial"/>
                        </a:rPr>
                        <a:t>0 rpm</a:t>
                      </a:r>
                      <a:r>
                        <a:rPr sz="880" i="0" b="1">
                          <a:solidFill>
                            <a:srgbClr val="1B1B1B"/>
                          </a:solidFill>
                          <a:latin typeface="Arial"/>
                        </a:rPr>
                        <a:t> đồng bộ phanh cơ, </a:t>
                      </a:r>
                      <a:r>
                        <a:rPr sz="880" i="0" b="1">
                          <a:solidFill>
                            <a:srgbClr val="0E2841"/>
                          </a:solidFill>
                          <a:latin typeface="Arial"/>
                        </a:rPr>
                        <a:t>Δx_trôi = 0 mm</a:t>
                      </a:r>
                      <a:r>
                        <a:rPr sz="880" i="0" b="1">
                          <a:solidFill>
                            <a:srgbClr val="1B1B1B"/>
                          </a:solidFill>
                          <a:latin typeface="Arial"/>
                        </a:rPr>
                        <a:t>)</a:t>
                      </a:r>
                    </a:p>
                  </a:txBody>
                  <a:tcPr anchor="ctr" marT="19050" marB="19050" marL="50800" marR="50800">
                    <a:solidFill>
                      <a:srgbClr val="FDEDEC"/>
                    </a:solidFill>
                  </a:tcPr>
                </a:tc>
                <a:tc>
                  <a:txBody>
                    <a:bodyPr wrap="square"/>
                    <a:lstStyle/>
                    <a:p>
                      <a:pPr algn="l"/>
                      <a:r>
                        <a:rPr sz="880" i="0" b="1">
                          <a:solidFill>
                            <a:srgbClr val="0E2841"/>
                          </a:solidFill>
                          <a:latin typeface="Arial"/>
                        </a:rPr>
                        <a:t>CTQ-06</a:t>
                      </a:r>
                      <a:r>
                        <a:rPr sz="880" i="0" b="1">
                          <a:solidFill>
                            <a:srgbClr val="1B1B1B"/>
                          </a:solidFill>
                          <a:latin typeface="Arial"/>
                        </a:rPr>
                        <a:t>
</a:t>
                      </a:r>
                      <a:r>
                        <a:rPr sz="880" i="0" b="1">
                          <a:solidFill>
                            <a:srgbClr val="C00000"/>
                          </a:solidFill>
                          <a:latin typeface="Arial"/>
                        </a:rPr>
                        <a:t>CTS-03</a:t>
                      </a:r>
                    </a:p>
                  </a:txBody>
                  <a:tcPr anchor="ctr" marT="19050" marB="19050" marL="50800" marR="50800">
                    <a:solidFill>
                      <a:srgbClr val="FDEDEC"/>
                    </a:solidFill>
                  </a:tcPr>
                </a:tc>
                <a:tc>
                  <a:txBody>
                    <a:bodyPr wrap="square"/>
                    <a:lstStyle/>
                    <a:p>
                      <a:pPr algn="l"/>
                      <a:r>
                        <a:rPr sz="880" i="0" b="1">
                          <a:solidFill>
                            <a:srgbClr val="0E2841"/>
                          </a:solidFill>
                          <a:latin typeface="Arial"/>
                        </a:rPr>
                        <a:t>DVP-L0-04</a:t>
                      </a:r>
                      <a:r>
                        <a:rPr sz="880" i="0" b="1">
                          <a:solidFill>
                            <a:srgbClr val="1B1B1B"/>
                          </a:solidFill>
                          <a:latin typeface="Arial"/>
                        </a:rPr>
                        <a:t> (</a:t>
                      </a:r>
                      <a:r>
                        <a:rPr sz="880" i="0" b="1">
                          <a:solidFill>
                            <a:srgbClr val="0E2841"/>
                          </a:solidFill>
                          <a:latin typeface="Arial"/>
                        </a:rPr>
                        <a:t>TS-01, TS-02</a:t>
                      </a:r>
                      <a:r>
                        <a:rPr sz="880" i="0" b="1">
                          <a:solidFill>
                            <a:srgbClr val="1B1B1B"/>
                          </a:solidFill>
                          <a:latin typeface="Arial"/>
                        </a:rPr>
                        <a:t>)</a:t>
                      </a:r>
                    </a:p>
                  </a:txBody>
                  <a:tcPr anchor="ctr" marT="19050" marB="19050" marL="50800" marR="50800">
                    <a:solidFill>
                      <a:srgbClr val="FDEDEC"/>
                    </a:solidFill>
                  </a:tcPr>
                </a:tc>
              </a:tr>
              <a:tr h="546834">
                <a:tc>
                  <a:txBody>
                    <a:bodyPr wrap="square"/>
                    <a:lstStyle/>
                    <a:p>
                      <a:pPr algn="ctr"/>
                      <a:r>
                        <a:rPr sz="880" i="0" b="1">
                          <a:solidFill>
                            <a:srgbClr val="0E2841"/>
                          </a:solidFill>
                          <a:latin typeface="Arial"/>
                        </a:rPr>
                        <a:t>PRD-05</a:t>
                      </a:r>
                      <a:r>
                        <a:rPr sz="880" i="0" b="1">
                          <a:solidFill>
                            <a:srgbClr val="C00000"/>
                          </a:solidFill>
                          <a:latin typeface="Arial"/>
                        </a:rPr>
                        <a:t>
Hãm tái sinh 4Q</a:t>
                      </a:r>
                    </a:p>
                  </a:txBody>
                  <a:tcPr anchor="ctr" marT="19050" marB="19050" marL="50800" marR="50800">
                    <a:solidFill>
                      <a:srgbClr val="FDEDEC"/>
                    </a:solidFill>
                  </a:tcPr>
                </a:tc>
                <a:tc>
                  <a:txBody>
                    <a:bodyPr wrap="square"/>
                    <a:lstStyle/>
                    <a:p>
                      <a:pPr algn="l"/>
                      <a:r>
                        <a:rPr sz="880" i="0" b="1">
                          <a:solidFill>
                            <a:srgbClr val="0E2841"/>
                          </a:solidFill>
                          <a:latin typeface="Arial"/>
                        </a:rPr>
                        <a:t>EC-07</a:t>
                      </a:r>
                      <a:r>
                        <a:rPr sz="880" i="0" b="1">
                          <a:solidFill>
                            <a:srgbClr val="1B1B1B"/>
                          </a:solidFill>
                          <a:latin typeface="Arial"/>
                        </a:rPr>
                        <a:t> (</a:t>
                      </a:r>
                      <a:r>
                        <a:rPr sz="880" i="0" b="1">
                          <a:solidFill>
                            <a:srgbClr val="0E2841"/>
                          </a:solidFill>
                          <a:latin typeface="Arial"/>
                        </a:rPr>
                        <a:t>4Q + Chopper</a:t>
                      </a:r>
                      <a:r>
                        <a:rPr sz="880" i="0" b="1">
                          <a:solidFill>
                            <a:srgbClr val="1B1B1B"/>
                          </a:solidFill>
                          <a:latin typeface="Arial"/>
                        </a:rPr>
                        <a:t>)
GAP-04, RRM-04</a:t>
                      </a:r>
                    </a:p>
                  </a:txBody>
                  <a:tcPr anchor="ctr" marT="19050" marB="19050" marL="50800" marR="50800">
                    <a:solidFill>
                      <a:srgbClr val="FDEDEC"/>
                    </a:solidFill>
                  </a:tcPr>
                </a:tc>
                <a:tc>
                  <a:txBody>
                    <a:bodyPr wrap="square"/>
                    <a:lstStyle/>
                    <a:p>
                      <a:pPr algn="l"/>
                      <a:r>
                        <a:rPr sz="880" i="0" b="1">
                          <a:solidFill>
                            <a:srgbClr val="0E2841"/>
                          </a:solidFill>
                          <a:latin typeface="Arial"/>
                        </a:rPr>
                        <a:t>SRS-FUNC-06</a:t>
                      </a:r>
                      <a:r>
                        <a:rPr sz="880" i="0" b="1">
                          <a:solidFill>
                            <a:srgbClr val="1B1B1B"/>
                          </a:solidFill>
                          <a:latin typeface="Arial"/>
                        </a:rPr>
                        <a:t> (Hãm </a:t>
                      </a:r>
                      <a:r>
                        <a:rPr sz="880" i="0" b="1">
                          <a:solidFill>
                            <a:srgbClr val="0E2841"/>
                          </a:solidFill>
                          <a:latin typeface="Arial"/>
                        </a:rPr>
                        <a:t>Q2/Q4</a:t>
                      </a:r>
                      <a:r>
                        <a:rPr sz="880" i="0" b="1">
                          <a:solidFill>
                            <a:srgbClr val="1B1B1B"/>
                          </a:solidFill>
                          <a:latin typeface="Arial"/>
                        </a:rPr>
                        <a:t>, xả qua </a:t>
                      </a:r>
                      <a:r>
                        <a:rPr sz="880" i="0" b="1">
                          <a:solidFill>
                            <a:srgbClr val="0E2841"/>
                          </a:solidFill>
                          <a:latin typeface="Arial"/>
                        </a:rPr>
                        <a:t>R_h</a:t>
                      </a:r>
                      <a:r>
                        <a:rPr sz="880" i="0" b="1">
                          <a:solidFill>
                            <a:srgbClr val="1B1B1B"/>
                          </a:solidFill>
                          <a:latin typeface="Arial"/>
                        </a:rPr>
                        <a:t>, kẹp áp </a:t>
                      </a:r>
                      <a:r>
                        <a:rPr sz="880" i="0" b="1">
                          <a:solidFill>
                            <a:srgbClr val="0E2841"/>
                          </a:solidFill>
                          <a:latin typeface="Arial"/>
                        </a:rPr>
                        <a:t>U_dc &lt; 780 V DC</a:t>
                      </a:r>
                      <a:r>
                        <a:rPr sz="880" i="0" b="1">
                          <a:solidFill>
                            <a:srgbClr val="1B1B1B"/>
                          </a:solidFill>
                          <a:latin typeface="Arial"/>
                        </a:rPr>
                        <a:t>)</a:t>
                      </a:r>
                    </a:p>
                  </a:txBody>
                  <a:tcPr anchor="ctr" marT="19050" marB="19050" marL="50800" marR="50800">
                    <a:solidFill>
                      <a:srgbClr val="FDEDEC"/>
                    </a:solidFill>
                  </a:tcPr>
                </a:tc>
                <a:tc>
                  <a:txBody>
                    <a:bodyPr wrap="square"/>
                    <a:lstStyle/>
                    <a:p>
                      <a:pPr algn="l"/>
                      <a:r>
                        <a:rPr sz="880" i="0" b="1">
                          <a:solidFill>
                            <a:srgbClr val="0E2841"/>
                          </a:solidFill>
                          <a:latin typeface="Arial"/>
                        </a:rPr>
                        <a:t>CTQ-07</a:t>
                      </a:r>
                      <a:r>
                        <a:rPr sz="880" i="0" b="1">
                          <a:solidFill>
                            <a:srgbClr val="1B1B1B"/>
                          </a:solidFill>
                          <a:latin typeface="Arial"/>
                        </a:rPr>
                        <a:t>
</a:t>
                      </a:r>
                      <a:r>
                        <a:rPr sz="880" i="0" b="1">
                          <a:solidFill>
                            <a:srgbClr val="C00000"/>
                          </a:solidFill>
                          <a:latin typeface="Arial"/>
                        </a:rPr>
                        <a:t>CTS-04</a:t>
                      </a:r>
                    </a:p>
                  </a:txBody>
                  <a:tcPr anchor="ctr" marT="19050" marB="19050" marL="50800" marR="50800">
                    <a:solidFill>
                      <a:srgbClr val="FDEDEC"/>
                    </a:solidFill>
                  </a:tcPr>
                </a:tc>
                <a:tc>
                  <a:txBody>
                    <a:bodyPr wrap="square"/>
                    <a:lstStyle/>
                    <a:p>
                      <a:pPr algn="l"/>
                      <a:r>
                        <a:rPr sz="880" i="0" b="1">
                          <a:solidFill>
                            <a:srgbClr val="0E2841"/>
                          </a:solidFill>
                          <a:latin typeface="Arial"/>
                        </a:rPr>
                        <a:t>DVP-L0-06</a:t>
                      </a:r>
                      <a:r>
                        <a:rPr sz="880" i="0" b="1">
                          <a:solidFill>
                            <a:srgbClr val="1B1B1B"/>
                          </a:solidFill>
                          <a:latin typeface="Arial"/>
                        </a:rPr>
                        <a:t> (</a:t>
                      </a:r>
                      <a:r>
                        <a:rPr sz="880" i="0" b="1">
                          <a:solidFill>
                            <a:srgbClr val="0E2841"/>
                          </a:solidFill>
                          <a:latin typeface="Arial"/>
                        </a:rPr>
                        <a:t>TS-02, TS-03</a:t>
                      </a:r>
                      <a:r>
                        <a:rPr sz="880" i="0" b="1">
                          <a:solidFill>
                            <a:srgbClr val="1B1B1B"/>
                          </a:solidFill>
                          <a:latin typeface="Arial"/>
                        </a:rPr>
                        <a:t>)</a:t>
                      </a:r>
                    </a:p>
                  </a:txBody>
                  <a:tcPr anchor="ctr" marT="19050" marB="19050" marL="50800" marR="50800">
                    <a:solidFill>
                      <a:srgbClr val="FDEDEC"/>
                    </a:solidFill>
                  </a:tcPr>
                </a:tc>
              </a:tr>
              <a:tr h="546834">
                <a:tc>
                  <a:txBody>
                    <a:bodyPr wrap="square"/>
                    <a:lstStyle/>
                    <a:p>
                      <a:pPr algn="ctr"/>
                      <a:r>
                        <a:rPr sz="880" i="0" b="1">
                          <a:solidFill>
                            <a:srgbClr val="0E2841"/>
                          </a:solidFill>
                          <a:latin typeface="Arial"/>
                        </a:rPr>
                        <a:t>PRD-06</a:t>
                      </a:r>
                      <a:r>
                        <a:rPr sz="880" i="0" b="1">
                          <a:solidFill>
                            <a:srgbClr val="C00000"/>
                          </a:solidFill>
                          <a:latin typeface="Arial"/>
                        </a:rPr>
                        <a:t>
Hạn chế lắc tải</a:t>
                      </a:r>
                    </a:p>
                  </a:txBody>
                  <a:tcPr anchor="ctr" marT="19050" marB="19050" marL="50800" marR="50800">
                    <a:solidFill>
                      <a:srgbClr val="FDEDEC"/>
                    </a:solidFill>
                  </a:tcPr>
                </a:tc>
                <a:tc>
                  <a:txBody>
                    <a:bodyPr wrap="square"/>
                    <a:lstStyle/>
                    <a:p>
                      <a:pPr algn="l"/>
                      <a:r>
                        <a:rPr sz="880" i="0" b="1">
                          <a:solidFill>
                            <a:srgbClr val="0E2841"/>
                          </a:solidFill>
                          <a:latin typeface="Arial"/>
                        </a:rPr>
                        <a:t>EC-04</a:t>
                      </a:r>
                      <a:r>
                        <a:rPr sz="880" i="0" b="1">
                          <a:solidFill>
                            <a:srgbClr val="1B1B1B"/>
                          </a:solidFill>
                          <a:latin typeface="Arial"/>
                        </a:rPr>
                        <a:t> (</a:t>
                      </a:r>
                      <a:r>
                        <a:rPr sz="880" i="0" b="1">
                          <a:solidFill>
                            <a:srgbClr val="0E2841"/>
                          </a:solidFill>
                          <a:latin typeface="Arial"/>
                        </a:rPr>
                        <a:t>|a| ≤ 0.50</a:t>
                      </a:r>
                      <a:r>
                        <a:rPr sz="880" i="0" b="1">
                          <a:solidFill>
                            <a:srgbClr val="1B1B1B"/>
                          </a:solidFill>
                          <a:latin typeface="Arial"/>
                        </a:rPr>
                        <a:t>)
</a:t>
                      </a:r>
                      <a:r>
                        <a:rPr sz="880" i="0" b="1">
                          <a:solidFill>
                            <a:srgbClr val="0E2841"/>
                          </a:solidFill>
                          <a:latin typeface="Arial"/>
                        </a:rPr>
                        <a:t>EC-05</a:t>
                      </a:r>
                      <a:r>
                        <a:rPr sz="880" i="0" b="1">
                          <a:solidFill>
                            <a:srgbClr val="1B1B1B"/>
                          </a:solidFill>
                          <a:latin typeface="Arial"/>
                        </a:rPr>
                        <a:t> (</a:t>
                      </a:r>
                      <a:r>
                        <a:rPr sz="880" i="0" b="1">
                          <a:solidFill>
                            <a:srgbClr val="0E2841"/>
                          </a:solidFill>
                          <a:latin typeface="Arial"/>
                        </a:rPr>
                        <a:t>|ρ| ≤ 2.00</a:t>
                      </a:r>
                      <a:r>
                        <a:rPr sz="880" i="0" b="1">
                          <a:solidFill>
                            <a:srgbClr val="1B1B1B"/>
                          </a:solidFill>
                          <a:latin typeface="Arial"/>
                        </a:rPr>
                        <a:t>)</a:t>
                      </a:r>
                    </a:p>
                  </a:txBody>
                  <a:tcPr anchor="ctr" marT="19050" marB="19050" marL="50800" marR="50800">
                    <a:solidFill>
                      <a:srgbClr val="FDEDEC"/>
                    </a:solidFill>
                  </a:tcPr>
                </a:tc>
                <a:tc>
                  <a:txBody>
                    <a:bodyPr wrap="square"/>
                    <a:lstStyle/>
                    <a:p>
                      <a:pPr algn="l"/>
                      <a:r>
                        <a:rPr sz="880" i="0" b="1">
                          <a:solidFill>
                            <a:srgbClr val="0E2841"/>
                          </a:solidFill>
                          <a:latin typeface="Arial"/>
                        </a:rPr>
                        <a:t>SRS-FUNC-03</a:t>
                      </a:r>
                      <a:r>
                        <a:rPr sz="880" i="0" b="1">
                          <a:solidFill>
                            <a:srgbClr val="1B1B1B"/>
                          </a:solidFill>
                          <a:latin typeface="Arial"/>
                        </a:rPr>
                        <a:t> (Dừng </a:t>
                      </a:r>
                      <a:r>
                        <a:rPr sz="880" i="0" b="1">
                          <a:solidFill>
                            <a:srgbClr val="0E2841"/>
                          </a:solidFill>
                          <a:latin typeface="Arial"/>
                        </a:rPr>
                        <a:t>Stop Cat. 1</a:t>
                      </a:r>
                      <a:r>
                        <a:rPr sz="880" i="0" b="1">
                          <a:solidFill>
                            <a:srgbClr val="1B1B1B"/>
                          </a:solidFill>
                          <a:latin typeface="Arial"/>
                        </a:rPr>
                        <a:t>)
</a:t>
                      </a:r>
                      <a:r>
                        <a:rPr sz="880" i="0" b="1">
                          <a:solidFill>
                            <a:srgbClr val="0E2841"/>
                          </a:solidFill>
                          <a:latin typeface="Arial"/>
                        </a:rPr>
                        <a:t>SRS-PERM-03</a:t>
                      </a:r>
                      <a:r>
                        <a:rPr sz="880" i="0" b="1">
                          <a:solidFill>
                            <a:srgbClr val="1B1B1B"/>
                          </a:solidFill>
                          <a:latin typeface="Arial"/>
                        </a:rPr>
                        <a:t> (</a:t>
                      </a:r>
                      <a:r>
                        <a:rPr sz="880" i="0" b="1">
                          <a:solidFill>
                            <a:srgbClr val="0E2841"/>
                          </a:solidFill>
                          <a:latin typeface="Arial"/>
                        </a:rPr>
                        <a:t>|a|≤0.5, |ρ|≤2.0</a:t>
                      </a:r>
                      <a:r>
                        <a:rPr sz="880" i="0" b="1">
                          <a:solidFill>
                            <a:srgbClr val="1B1B1B"/>
                          </a:solidFill>
                          <a:latin typeface="Arial"/>
                        </a:rPr>
                        <a:t>)
</a:t>
                      </a:r>
                      <a:r>
                        <a:rPr sz="880" i="0" b="1">
                          <a:solidFill>
                            <a:srgbClr val="0E2841"/>
                          </a:solidFill>
                          <a:latin typeface="Arial"/>
                        </a:rPr>
                        <a:t>SRS-PERM-05</a:t>
                      </a:r>
                      <a:r>
                        <a:rPr sz="880" i="0" b="1">
                          <a:solidFill>
                            <a:srgbClr val="1B1B1B"/>
                          </a:solidFill>
                          <a:latin typeface="Arial"/>
                        </a:rPr>
                        <a:t> (</a:t>
                      </a:r>
                      <a:r>
                        <a:rPr sz="880" i="0" b="1">
                          <a:solidFill>
                            <a:srgbClr val="0E2841"/>
                          </a:solidFill>
                          <a:latin typeface="Arial"/>
                        </a:rPr>
                        <a:t>λ_max ≥ 2.0</a:t>
                      </a:r>
                      <a:r>
                        <a:rPr sz="880" i="0" b="1">
                          <a:solidFill>
                            <a:srgbClr val="1B1B1B"/>
                          </a:solidFill>
                          <a:latin typeface="Arial"/>
                        </a:rPr>
                        <a:t>)</a:t>
                      </a:r>
                    </a:p>
                  </a:txBody>
                  <a:tcPr anchor="ctr" marT="19050" marB="19050" marL="50800" marR="50800">
                    <a:solidFill>
                      <a:srgbClr val="FDEDEC"/>
                    </a:solidFill>
                  </a:tcPr>
                </a:tc>
                <a:tc>
                  <a:txBody>
                    <a:bodyPr wrap="square"/>
                    <a:lstStyle/>
                    <a:p>
                      <a:pPr algn="l"/>
                      <a:r>
                        <a:rPr sz="880" i="0" b="1">
                          <a:solidFill>
                            <a:srgbClr val="0E2841"/>
                          </a:solidFill>
                          <a:latin typeface="Arial"/>
                        </a:rPr>
                        <a:t>CTQ-04, 05</a:t>
                      </a:r>
                      <a:r>
                        <a:rPr sz="880" i="0" b="1">
                          <a:solidFill>
                            <a:srgbClr val="1B1B1B"/>
                          </a:solidFill>
                          <a:latin typeface="Arial"/>
                        </a:rPr>
                        <a:t>
</a:t>
                      </a:r>
                      <a:r>
                        <a:rPr sz="880" i="0" b="1">
                          <a:solidFill>
                            <a:srgbClr val="C00000"/>
                          </a:solidFill>
                          <a:latin typeface="Arial"/>
                        </a:rPr>
                        <a:t>CTS-02, 05</a:t>
                      </a:r>
                    </a:p>
                  </a:txBody>
                  <a:tcPr anchor="ctr" marT="19050" marB="19050" marL="50800" marR="50800">
                    <a:solidFill>
                      <a:srgbClr val="FDEDEC"/>
                    </a:solidFill>
                  </a:tcPr>
                </a:tc>
                <a:tc>
                  <a:txBody>
                    <a:bodyPr wrap="square"/>
                    <a:lstStyle/>
                    <a:p>
                      <a:pPr algn="l"/>
                      <a:r>
                        <a:rPr sz="880" i="0" b="1">
                          <a:solidFill>
                            <a:srgbClr val="0E2841"/>
                          </a:solidFill>
                          <a:latin typeface="Arial"/>
                        </a:rPr>
                        <a:t>DVP-L0-03</a:t>
                      </a:r>
                      <a:r>
                        <a:rPr sz="880" i="0" b="1">
                          <a:solidFill>
                            <a:srgbClr val="1B1B1B"/>
                          </a:solidFill>
                          <a:latin typeface="Arial"/>
                        </a:rPr>
                        <a:t> (</a:t>
                      </a:r>
                      <a:r>
                        <a:rPr sz="880" i="0" b="1">
                          <a:solidFill>
                            <a:srgbClr val="0E2841"/>
                          </a:solidFill>
                          <a:latin typeface="Arial"/>
                        </a:rPr>
                        <a:t>TS-01, TS-03</a:t>
                      </a:r>
                      <a:r>
                        <a:rPr sz="880" i="0" b="1">
                          <a:solidFill>
                            <a:srgbClr val="1B1B1B"/>
                          </a:solidFill>
                          <a:latin typeface="Arial"/>
                        </a:rPr>
                        <a:t>)
</a:t>
                      </a:r>
                      <a:r>
                        <a:rPr sz="880" i="0" b="1">
                          <a:solidFill>
                            <a:srgbClr val="0E2841"/>
                          </a:solidFill>
                          <a:latin typeface="Arial"/>
                        </a:rPr>
                        <a:t>DVP-L0-10</a:t>
                      </a:r>
                      <a:r>
                        <a:rPr sz="880" i="0" b="1">
                          <a:solidFill>
                            <a:srgbClr val="1B1B1B"/>
                          </a:solidFill>
                          <a:latin typeface="Arial"/>
                        </a:rPr>
                        <a:t> (</a:t>
                      </a:r>
                      <a:r>
                        <a:rPr sz="880" i="0" b="1">
                          <a:solidFill>
                            <a:srgbClr val="0E2841"/>
                          </a:solidFill>
                          <a:latin typeface="Arial"/>
                        </a:rPr>
                        <a:t>TS-01..03</a:t>
                      </a:r>
                      <a:r>
                        <a:rPr sz="880" i="0" b="1">
                          <a:solidFill>
                            <a:srgbClr val="1B1B1B"/>
                          </a:solidFill>
                          <a:latin typeface="Arial"/>
                        </a:rPr>
                        <a:t>)
</a:t>
                      </a:r>
                      <a:r>
                        <a:rPr sz="880" i="0" b="1">
                          <a:solidFill>
                            <a:srgbClr val="0E2841"/>
                          </a:solidFill>
                          <a:latin typeface="Arial"/>
                        </a:rPr>
                        <a:t>DVP-L0-12</a:t>
                      </a:r>
                      <a:r>
                        <a:rPr sz="880" i="0" b="1">
                          <a:solidFill>
                            <a:srgbClr val="1B1B1B"/>
                          </a:solidFill>
                          <a:latin typeface="Arial"/>
                        </a:rPr>
                        <a:t> (</a:t>
                      </a:r>
                      <a:r>
                        <a:rPr sz="880" i="0" b="1">
                          <a:solidFill>
                            <a:srgbClr val="0E2841"/>
                          </a:solidFill>
                          <a:latin typeface="Arial"/>
                        </a:rPr>
                        <a:t>TS-02, TS-04</a:t>
                      </a:r>
                      <a:r>
                        <a:rPr sz="880" i="0" b="1">
                          <a:solidFill>
                            <a:srgbClr val="1B1B1B"/>
                          </a:solidFill>
                          <a:latin typeface="Arial"/>
                        </a:rPr>
                        <a:t>)</a:t>
                      </a:r>
                    </a:p>
                  </a:txBody>
                  <a:tcPr anchor="ctr" marT="19050" marB="19050" marL="50800" marR="50800">
                    <a:solidFill>
                      <a:srgbClr val="FDEDEC"/>
                    </a:solidFill>
                  </a:tcPr>
                </a:tc>
              </a:tr>
              <a:tr h="546834">
                <a:tc>
                  <a:txBody>
                    <a:bodyPr wrap="square"/>
                    <a:lstStyle/>
                    <a:p>
                      <a:pPr algn="ctr"/>
                      <a:r>
                        <a:rPr sz="880" i="0" b="1">
                          <a:solidFill>
                            <a:srgbClr val="0E2841"/>
                          </a:solidFill>
                          <a:latin typeface="Arial"/>
                        </a:rPr>
                        <a:t>PRD-07</a:t>
                      </a:r>
                      <a:r>
                        <a:rPr sz="880" i="0" b="1">
                          <a:solidFill>
                            <a:srgbClr val="0E2841"/>
                          </a:solidFill>
                          <a:latin typeface="Arial"/>
                        </a:rPr>
                        <a:t>
Chế độ S3-40%</a:t>
                      </a:r>
                    </a:p>
                  </a:txBody>
                  <a:tcPr anchor="ctr" marT="19050" marB="19050" marL="50800" marR="50800">
                    <a:solidFill>
                      <a:srgbClr val="FFFFFF"/>
                    </a:solidFill>
                  </a:tcPr>
                </a:tc>
                <a:tc>
                  <a:txBody>
                    <a:bodyPr wrap="square"/>
                    <a:lstStyle/>
                    <a:p>
                      <a:pPr algn="l"/>
                      <a:r>
                        <a:rPr sz="880" i="0" b="1">
                          <a:solidFill>
                            <a:srgbClr val="0E2841"/>
                          </a:solidFill>
                          <a:latin typeface="Arial"/>
                        </a:rPr>
                        <a:t>EC-05</a:t>
                      </a:r>
                      <a:r>
                        <a:rPr sz="880" i="0" b="0">
                          <a:solidFill>
                            <a:srgbClr val="1B1B1B"/>
                          </a:solidFill>
                          <a:latin typeface="Arial"/>
                        </a:rPr>
                        <a:t> (S-Curve)
</a:t>
                      </a:r>
                      <a:r>
                        <a:rPr sz="880" i="0" b="1">
                          <a:solidFill>
                            <a:srgbClr val="0E2841"/>
                          </a:solidFill>
                          <a:latin typeface="Arial"/>
                        </a:rPr>
                        <a:t>EC-08</a:t>
                      </a:r>
                      <a:r>
                        <a:rPr sz="880" i="0" b="0">
                          <a:solidFill>
                            <a:srgbClr val="1B1B1B"/>
                          </a:solidFill>
                          <a:latin typeface="Arial"/>
                        </a:rPr>
                        <a:t> (</a:t>
                      </a:r>
                      <a:r>
                        <a:rPr sz="880" i="0" b="1">
                          <a:solidFill>
                            <a:srgbClr val="0E2841"/>
                          </a:solidFill>
                          <a:latin typeface="Arial"/>
                        </a:rPr>
                        <a:t>k_dt ∈ [1.2;1.5]</a:t>
                      </a:r>
                      <a:r>
                        <a:rPr sz="880" i="0" b="0">
                          <a:solidFill>
                            <a:srgbClr val="1B1B1B"/>
                          </a:solidFill>
                          <a:latin typeface="Arial"/>
                        </a:rPr>
                        <a:t>)</a:t>
                      </a:r>
                    </a:p>
                  </a:txBody>
                  <a:tcPr anchor="ctr" marT="19050" marB="19050" marL="50800" marR="50800">
                    <a:solidFill>
                      <a:srgbClr val="FFFFFF"/>
                    </a:solidFill>
                  </a:tcPr>
                </a:tc>
                <a:tc>
                  <a:txBody>
                    <a:bodyPr wrap="square"/>
                    <a:lstStyle/>
                    <a:p>
                      <a:pPr algn="l"/>
                      <a:r>
                        <a:rPr sz="880" i="0" b="1">
                          <a:solidFill>
                            <a:srgbClr val="0E2841"/>
                          </a:solidFill>
                          <a:latin typeface="Arial"/>
                        </a:rPr>
                        <a:t>SRS-FUNC-07</a:t>
                      </a:r>
                      <a:r>
                        <a:rPr sz="880" i="0" b="0">
                          <a:solidFill>
                            <a:srgbClr val="1B1B1B"/>
                          </a:solidFill>
                          <a:latin typeface="Arial"/>
                        </a:rPr>
                        <a:t> (Bộ tạo </a:t>
                      </a:r>
                      <a:r>
                        <a:rPr sz="880" i="0" b="1">
                          <a:solidFill>
                            <a:srgbClr val="0E2841"/>
                          </a:solidFill>
                          <a:latin typeface="Arial"/>
                        </a:rPr>
                        <a:t>S-Curve 7 pha</a:t>
                      </a:r>
                      <a:r>
                        <a:rPr sz="880" i="0" b="0">
                          <a:solidFill>
                            <a:srgbClr val="1B1B1B"/>
                          </a:solidFill>
                          <a:latin typeface="Arial"/>
                        </a:rPr>
                        <a:t>)
</a:t>
                      </a:r>
                      <a:r>
                        <a:rPr sz="880" i="0" b="1">
                          <a:solidFill>
                            <a:srgbClr val="0E2841"/>
                          </a:solidFill>
                          <a:latin typeface="Arial"/>
                        </a:rPr>
                        <a:t>SRS-PERM-04</a:t>
                      </a:r>
                      <a:r>
                        <a:rPr sz="880" i="0" b="0">
                          <a:solidFill>
                            <a:srgbClr val="1B1B1B"/>
                          </a:solidFill>
                          <a:latin typeface="Arial"/>
                        </a:rPr>
                        <a:t> (Công suất nhiệt </a:t>
                      </a:r>
                      <a:r>
                        <a:rPr sz="880" i="0" b="1">
                          <a:solidFill>
                            <a:srgbClr val="0E2841"/>
                          </a:solidFill>
                          <a:latin typeface="Arial"/>
                        </a:rPr>
                        <a:t>S3-40%</a:t>
                      </a:r>
                      <a:r>
                        <a:rPr sz="880" i="0" b="0">
                          <a:solidFill>
                            <a:srgbClr val="1B1B1B"/>
                          </a:solidFill>
                          <a:latin typeface="Arial"/>
                        </a:rPr>
                        <a:t>)</a:t>
                      </a:r>
                    </a:p>
                  </a:txBody>
                  <a:tcPr anchor="ctr" marT="19050" marB="19050" marL="50800" marR="50800">
                    <a:solidFill>
                      <a:srgbClr val="FFFFFF"/>
                    </a:solidFill>
                  </a:tcPr>
                </a:tc>
                <a:tc>
                  <a:txBody>
                    <a:bodyPr wrap="square"/>
                    <a:lstStyle/>
                    <a:p>
                      <a:pPr algn="l"/>
                      <a:r>
                        <a:rPr sz="880" i="0" b="1">
                          <a:solidFill>
                            <a:srgbClr val="0E2841"/>
                          </a:solidFill>
                          <a:latin typeface="Arial"/>
                        </a:rPr>
                        <a:t>CTQ-05</a:t>
                      </a:r>
                      <a:r>
                        <a:rPr sz="880" i="0" b="0">
                          <a:solidFill>
                            <a:srgbClr val="1B1B1B"/>
                          </a:solidFill>
                          <a:latin typeface="Arial"/>
                        </a:rPr>
                        <a:t>
</a:t>
                      </a:r>
                      <a:r>
                        <a:rPr sz="880" i="0" b="1">
                          <a:solidFill>
                            <a:srgbClr val="0E2841"/>
                          </a:solidFill>
                          <a:latin typeface="Arial"/>
                        </a:rPr>
                        <a:t>CTQ-08</a:t>
                      </a:r>
                    </a:p>
                  </a:txBody>
                  <a:tcPr anchor="ctr" marT="19050" marB="19050" marL="50800" marR="50800">
                    <a:solidFill>
                      <a:srgbClr val="FFFFFF"/>
                    </a:solidFill>
                  </a:tcPr>
                </a:tc>
                <a:tc>
                  <a:txBody>
                    <a:bodyPr wrap="square"/>
                    <a:lstStyle/>
                    <a:p>
                      <a:pPr algn="l"/>
                      <a:r>
                        <a:rPr sz="880" i="0" b="1">
                          <a:solidFill>
                            <a:srgbClr val="0E2841"/>
                          </a:solidFill>
                          <a:latin typeface="Arial"/>
                        </a:rPr>
                        <a:t>DVP-L0-07</a:t>
                      </a:r>
                      <a:r>
                        <a:rPr sz="880" i="0" b="0">
                          <a:solidFill>
                            <a:srgbClr val="1B1B1B"/>
                          </a:solidFill>
                          <a:latin typeface="Arial"/>
                        </a:rPr>
                        <a:t> (</a:t>
                      </a:r>
                      <a:r>
                        <a:rPr sz="880" i="0" b="1">
                          <a:solidFill>
                            <a:srgbClr val="0E2841"/>
                          </a:solidFill>
                          <a:latin typeface="Arial"/>
                        </a:rPr>
                        <a:t>TS-01</a:t>
                      </a:r>
                      <a:r>
                        <a:rPr sz="880" i="0" b="0">
                          <a:solidFill>
                            <a:srgbClr val="1B1B1B"/>
                          </a:solidFill>
                          <a:latin typeface="Arial"/>
                        </a:rPr>
                        <a:t>)
</a:t>
                      </a:r>
                      <a:r>
                        <a:rPr sz="880" i="0" b="1">
                          <a:solidFill>
                            <a:srgbClr val="0E2841"/>
                          </a:solidFill>
                          <a:latin typeface="Arial"/>
                        </a:rPr>
                        <a:t>DVP-L0-11</a:t>
                      </a:r>
                      <a:r>
                        <a:rPr sz="880" i="0" b="0">
                          <a:solidFill>
                            <a:srgbClr val="1B1B1B"/>
                          </a:solidFill>
                          <a:latin typeface="Arial"/>
                        </a:rPr>
                        <a:t> (</a:t>
                      </a:r>
                      <a:r>
                        <a:rPr sz="880" i="0" b="1">
                          <a:solidFill>
                            <a:srgbClr val="0E2841"/>
                          </a:solidFill>
                          <a:latin typeface="Arial"/>
                        </a:rPr>
                        <a:t>TS-04</a:t>
                      </a:r>
                      <a:r>
                        <a:rPr sz="880" i="0" b="0">
                          <a:solidFill>
                            <a:srgbClr val="1B1B1B"/>
                          </a:solidFill>
                          <a:latin typeface="Arial"/>
                        </a:rPr>
                        <a:t>)</a:t>
                      </a:r>
                    </a:p>
                  </a:txBody>
                  <a:tcPr anchor="ctr" marT="19050" marB="19050" marL="50800" marR="50800">
                    <a:solidFill>
                      <a:srgbClr val="FFFFFF"/>
                    </a:solidFill>
                  </a:tcPr>
                </a:tc>
              </a:tr>
              <a:tr h="546834">
                <a:tc>
                  <a:txBody>
                    <a:bodyPr wrap="square"/>
                    <a:lstStyle/>
                    <a:p>
                      <a:pPr algn="ctr"/>
                      <a:r>
                        <a:rPr sz="880" i="0" b="1">
                          <a:solidFill>
                            <a:srgbClr val="0E2841"/>
                          </a:solidFill>
                          <a:latin typeface="Arial"/>
                        </a:rPr>
                        <a:t>PRD-08</a:t>
                      </a:r>
                      <a:r>
                        <a:rPr sz="880" i="0" b="1">
                          <a:solidFill>
                            <a:srgbClr val="0E2841"/>
                          </a:solidFill>
                          <a:latin typeface="Arial"/>
                        </a:rPr>
                        <a:t>
Bền vững áp lưới</a:t>
                      </a:r>
                    </a:p>
                  </a:txBody>
                  <a:tcPr anchor="ctr" marT="19050" marB="19050" marL="50800" marR="50800">
                    <a:solidFill>
                      <a:srgbClr val="F8F9FA"/>
                    </a:solidFill>
                  </a:tcPr>
                </a:tc>
                <a:tc>
                  <a:txBody>
                    <a:bodyPr wrap="square"/>
                    <a:lstStyle/>
                    <a:p>
                      <a:pPr algn="l"/>
                      <a:r>
                        <a:rPr sz="880" i="0" b="0">
                          <a:solidFill>
                            <a:srgbClr val="1B1B1B"/>
                          </a:solidFill>
                          <a:latin typeface="Arial"/>
                        </a:rPr>
                        <a:t>ASM-02 (</a:t>
                      </a:r>
                      <a:r>
                        <a:rPr sz="880" i="0" b="1">
                          <a:solidFill>
                            <a:srgbClr val="0E2841"/>
                          </a:solidFill>
                          <a:latin typeface="Arial"/>
                        </a:rPr>
                        <a:t>380V±10%</a:t>
                      </a:r>
                      <a:r>
                        <a:rPr sz="880" i="0" b="0">
                          <a:solidFill>
                            <a:srgbClr val="1B1B1B"/>
                          </a:solidFill>
                          <a:latin typeface="Arial"/>
                        </a:rPr>
                        <a:t>)
Noise </a:t>
                      </a:r>
                      <a:r>
                        <a:rPr sz="880" i="0" b="1">
                          <a:solidFill>
                            <a:srgbClr val="0E2841"/>
                          </a:solidFill>
                          <a:latin typeface="Arial"/>
                        </a:rPr>
                        <a:t>N2</a:t>
                      </a:r>
                    </a:p>
                  </a:txBody>
                  <a:tcPr anchor="ctr" marT="19050" marB="19050" marL="50800" marR="50800">
                    <a:solidFill>
                      <a:srgbClr val="F8F9FA"/>
                    </a:solidFill>
                  </a:tcPr>
                </a:tc>
                <a:tc>
                  <a:txBody>
                    <a:bodyPr wrap="square"/>
                    <a:lstStyle/>
                    <a:p>
                      <a:pPr algn="l"/>
                      <a:r>
                        <a:rPr sz="880" i="0" b="1">
                          <a:solidFill>
                            <a:srgbClr val="0E2841"/>
                          </a:solidFill>
                          <a:latin typeface="Arial"/>
                        </a:rPr>
                        <a:t>SRS-PERM-06</a:t>
                      </a:r>
                      <a:r>
                        <a:rPr sz="880" i="0" b="0">
                          <a:solidFill>
                            <a:srgbClr val="1B1B1B"/>
                          </a:solidFill>
                          <a:latin typeface="Arial"/>
                        </a:rPr>
                        <a:t> (Hoạt động liên tục ở </a:t>
                      </a:r>
                      <a:r>
                        <a:rPr sz="880" i="0" b="1">
                          <a:solidFill>
                            <a:srgbClr val="0E2841"/>
                          </a:solidFill>
                          <a:latin typeface="Arial"/>
                        </a:rPr>
                        <a:t>342 ÷ 418 V AC, 50 Hz</a:t>
                      </a:r>
                      <a:r>
                        <a:rPr sz="880" i="0" b="0">
                          <a:solidFill>
                            <a:srgbClr val="1B1B1B"/>
                          </a:solidFill>
                          <a:latin typeface="Arial"/>
                        </a:rPr>
                        <a:t>)</a:t>
                      </a:r>
                    </a:p>
                  </a:txBody>
                  <a:tcPr anchor="ctr" marT="19050" marB="19050" marL="50800" marR="50800">
                    <a:solidFill>
                      <a:srgbClr val="F8F9FA"/>
                    </a:solidFill>
                  </a:tcPr>
                </a:tc>
                <a:tc>
                  <a:txBody>
                    <a:bodyPr wrap="square"/>
                    <a:lstStyle/>
                    <a:p>
                      <a:pPr algn="l"/>
                      <a:r>
                        <a:rPr sz="880" i="0" b="1">
                          <a:solidFill>
                            <a:srgbClr val="0E2841"/>
                          </a:solidFill>
                          <a:latin typeface="Arial"/>
                        </a:rPr>
                        <a:t>CTQ-01</a:t>
                      </a:r>
                      <a:r>
                        <a:rPr sz="880" i="0" b="0">
                          <a:solidFill>
                            <a:srgbClr val="1B1B1B"/>
                          </a:solidFill>
                          <a:latin typeface="Arial"/>
                        </a:rPr>
                        <a:t>
(khi sụt áp)</a:t>
                      </a:r>
                    </a:p>
                  </a:txBody>
                  <a:tcPr anchor="ctr" marT="19050" marB="19050" marL="50800" marR="50800">
                    <a:solidFill>
                      <a:srgbClr val="F8F9FA"/>
                    </a:solidFill>
                  </a:tcPr>
                </a:tc>
                <a:tc>
                  <a:txBody>
                    <a:bodyPr wrap="square"/>
                    <a:lstStyle/>
                    <a:p>
                      <a:pPr algn="l"/>
                      <a:r>
                        <a:rPr sz="880" i="0" b="1">
                          <a:solidFill>
                            <a:srgbClr val="0E2841"/>
                          </a:solidFill>
                          <a:latin typeface="Arial"/>
                        </a:rPr>
                        <a:t>DVP-L0-13</a:t>
                      </a:r>
                      <a:r>
                        <a:rPr sz="880" i="0" b="0">
                          <a:solidFill>
                            <a:srgbClr val="1B1B1B"/>
                          </a:solidFill>
                          <a:latin typeface="Arial"/>
                        </a:rPr>
                        <a:t> (</a:t>
                      </a:r>
                      <a:r>
                        <a:rPr sz="880" i="0" b="1">
                          <a:solidFill>
                            <a:srgbClr val="0E2841"/>
                          </a:solidFill>
                          <a:latin typeface="Arial"/>
                        </a:rPr>
                        <a:t>TS-04</a:t>
                      </a:r>
                      <a:r>
                        <a:rPr sz="880" i="0" b="0">
                          <a:solidFill>
                            <a:srgbClr val="1B1B1B"/>
                          </a:solidFill>
                          <a:latin typeface="Arial"/>
                        </a:rPr>
                        <a:t>)</a:t>
                      </a:r>
                    </a:p>
                  </a:txBody>
                  <a:tcPr anchor="ctr" marT="19050" marB="19050" marL="50800" marR="50800">
                    <a:solidFill>
                      <a:srgbClr val="F8F9F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10. MA TRẬN TRUY VẾT 2 CHIỀU (RTM) — PHẦN 2: TRUY VẾT NGƯỢC &amp; VÒNG ĐỜI DMAIC</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Mọi yêu cầu </a:t>
            </a:r>
            <a:r>
              <a:rPr sz="1350" i="0" b="1">
                <a:solidFill>
                  <a:srgbClr val="0E2841"/>
                </a:solidFill>
                <a:latin typeface="Arial"/>
              </a:rPr>
              <a:t>SRS</a:t>
            </a:r>
            <a:r>
              <a:rPr sz="1350" i="0" b="1">
                <a:solidFill>
                  <a:srgbClr val="C00000"/>
                </a:solidFill>
                <a:latin typeface="Arial"/>
              </a:rPr>
              <a:t> đều chứng minh được lý do tồn tại từ </a:t>
            </a:r>
            <a:r>
              <a:rPr sz="1350" i="0" b="1">
                <a:solidFill>
                  <a:srgbClr val="0E2841"/>
                </a:solidFill>
                <a:latin typeface="Arial"/>
              </a:rPr>
              <a:t>GAP / P-Diagram / RRM</a:t>
            </a:r>
            <a:r>
              <a:rPr sz="1350" i="0" b="1">
                <a:solidFill>
                  <a:srgbClr val="C00000"/>
                </a:solidFill>
                <a:latin typeface="Arial"/>
              </a:rPr>
              <a:t> và gắn trách nhiệm tới </a:t>
            </a:r>
            <a:r>
              <a:rPr sz="1350" i="0" b="1">
                <a:solidFill>
                  <a:srgbClr val="0E2841"/>
                </a:solidFill>
                <a:latin typeface="Arial"/>
              </a:rPr>
              <a:t>WBS Khối 2 ÷ 5</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SOW-1.3 — Bidirectional RTM Part 2: Backward &amp; DMAIC Lifecycle | Slide 11 / 16</a:t>
            </a:r>
          </a:p>
        </p:txBody>
      </p:sp>
      <p:graphicFrame>
        <p:nvGraphicFramePr>
          <p:cNvPr id="5" name="Table 4"/>
          <p:cNvGraphicFramePr>
            <a:graphicFrameLocks noGrp="1"/>
          </p:cNvGraphicFramePr>
          <p:nvPr/>
        </p:nvGraphicFramePr>
        <p:xfrm>
          <a:off x="310896" y="1234440"/>
          <a:ext cx="11567160" cy="4667280"/>
        </p:xfrm>
        <a:graphic>
          <a:graphicData uri="http://schemas.openxmlformats.org/drawingml/2006/table">
            <a:tbl>
              <a:tblPr firstRow="1" bandRow="1">
                <a:tableStyleId>{5C22544A-7EE6-4342-B048-85BDC9FD1C3A}</a:tableStyleId>
              </a:tblPr>
              <a:tblGrid>
                <a:gridCol w="1325880"/>
                <a:gridCol w="1600200"/>
                <a:gridCol w="2148840"/>
                <a:gridCol w="2240280"/>
                <a:gridCol w="1783080"/>
                <a:gridCol w="2468880"/>
              </a:tblGrid>
              <a:tr h="292608">
                <a:tc>
                  <a:txBody>
                    <a:bodyPr wrap="square"/>
                    <a:lstStyle/>
                    <a:p>
                      <a:pPr algn="ctr"/>
                      <a:r>
                        <a:rPr sz="969" b="1">
                          <a:solidFill>
                            <a:srgbClr val="FFFFFF"/>
                          </a:solidFill>
                          <a:latin typeface="Arial"/>
                        </a:rPr>
                        <a:t>Mã SRS (Đích)</a:t>
                      </a:r>
                    </a:p>
                  </a:txBody>
                  <a:tcPr anchor="ctr" marT="19050" marB="19050" marL="50800" marR="50800">
                    <a:solidFill>
                      <a:srgbClr val="0E2841"/>
                    </a:solidFill>
                  </a:tcPr>
                </a:tc>
                <a:tc>
                  <a:txBody>
                    <a:bodyPr wrap="square"/>
                    <a:lstStyle/>
                    <a:p>
                      <a:pPr algn="ctr"/>
                      <a:r>
                        <a:rPr sz="969" b="1">
                          <a:solidFill>
                            <a:srgbClr val="FFFFFF"/>
                          </a:solidFill>
                          <a:latin typeface="Arial"/>
                        </a:rPr>
                        <a:t>← Nguồn HoQ EC &amp; PRD</a:t>
                      </a:r>
                    </a:p>
                  </a:txBody>
                  <a:tcPr anchor="ctr" marT="19050" marB="19050" marL="50800" marR="50800">
                    <a:solidFill>
                      <a:srgbClr val="0E2841"/>
                    </a:solidFill>
                  </a:tcPr>
                </a:tc>
                <a:tc>
                  <a:txBody>
                    <a:bodyPr wrap="square"/>
                    <a:lstStyle/>
                    <a:p>
                      <a:pPr algn="ctr"/>
                      <a:r>
                        <a:rPr sz="969" b="1">
                          <a:solidFill>
                            <a:srgbClr val="FFFFFF"/>
                          </a:solidFill>
                          <a:latin typeface="Arial"/>
                        </a:rPr>
                        <a:t>← Khoảng trống Khảo sát (GAP)</a:t>
                      </a:r>
                    </a:p>
                  </a:txBody>
                  <a:tcPr anchor="ctr" marT="19050" marB="19050" marL="50800" marR="50800">
                    <a:solidFill>
                      <a:srgbClr val="0E2841"/>
                    </a:solidFill>
                  </a:tcPr>
                </a:tc>
                <a:tc>
                  <a:txBody>
                    <a:bodyPr wrap="square"/>
                    <a:lstStyle/>
                    <a:p>
                      <a:pPr algn="ctr"/>
                      <a:r>
                        <a:rPr sz="969" b="1">
                          <a:solidFill>
                            <a:srgbClr val="FFFFFF"/>
                          </a:solidFill>
                          <a:latin typeface="Arial"/>
                        </a:rPr>
                        <a:t>← Phần tử P-Diagram (Noise / CF / Error)</a:t>
                      </a:r>
                    </a:p>
                  </a:txBody>
                  <a:tcPr anchor="ctr" marT="19050" marB="19050" marL="50800" marR="50800">
                    <a:solidFill>
                      <a:srgbClr val="0E2841"/>
                    </a:solidFill>
                  </a:tcPr>
                </a:tc>
                <a:tc>
                  <a:txBody>
                    <a:bodyPr wrap="square"/>
                    <a:lstStyle/>
                    <a:p>
                      <a:pPr algn="ctr"/>
                      <a:r>
                        <a:rPr sz="969" b="1">
                          <a:solidFill>
                            <a:srgbClr val="FFFFFF"/>
                          </a:solidFill>
                          <a:latin typeface="Arial"/>
                        </a:rPr>
                        <a:t>← Rủi ro RRM được kiểm soát</a:t>
                      </a:r>
                    </a:p>
                  </a:txBody>
                  <a:tcPr anchor="ctr" marT="19050" marB="19050" marL="50800" marR="50800">
                    <a:solidFill>
                      <a:srgbClr val="0E2841"/>
                    </a:solidFill>
                  </a:tcPr>
                </a:tc>
                <a:tc>
                  <a:txBody>
                    <a:bodyPr wrap="square"/>
                    <a:lstStyle/>
                    <a:p>
                      <a:pPr algn="ctr"/>
                      <a:r>
                        <a:rPr sz="969" b="1">
                          <a:solidFill>
                            <a:srgbClr val="FFFFFF"/>
                          </a:solidFill>
                          <a:latin typeface="Arial"/>
                        </a:rPr>
                        <a:t>→ Phân bổ WBS Hạ nguồn (Khối 2÷5) &amp; Chủ trì</a:t>
                      </a:r>
                    </a:p>
                  </a:txBody>
                  <a:tcPr anchor="ctr" marT="19050" marB="19050" marL="50800" marR="50800">
                    <a:solidFill>
                      <a:srgbClr val="0E2841"/>
                    </a:solidFill>
                  </a:tcPr>
                </a:tc>
              </a:tr>
              <a:tr h="546834">
                <a:tc>
                  <a:txBody>
                    <a:bodyPr wrap="square"/>
                    <a:lstStyle/>
                    <a:p>
                      <a:pPr algn="ctr"/>
                      <a:r>
                        <a:rPr sz="860" i="0" b="1">
                          <a:solidFill>
                            <a:srgbClr val="0E2841"/>
                          </a:solidFill>
                          <a:latin typeface="Arial"/>
                        </a:rPr>
                        <a:t>SRS-FUNC-01</a:t>
                      </a:r>
                      <a:r>
                        <a:rPr sz="860" i="0" b="1">
                          <a:solidFill>
                            <a:srgbClr val="0E2841"/>
                          </a:solidFill>
                          <a:latin typeface="Arial"/>
                        </a:rPr>
                        <a:t>
</a:t>
                      </a:r>
                      <a:r>
                        <a:rPr sz="860" i="0" b="1">
                          <a:solidFill>
                            <a:srgbClr val="0E2841"/>
                          </a:solidFill>
                          <a:latin typeface="Arial"/>
                        </a:rPr>
                        <a:t>SRS-FUNC-03</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EC-06, EC-04</a:t>
                      </a:r>
                      <a:r>
                        <a:rPr sz="860" i="0" b="0">
                          <a:solidFill>
                            <a:srgbClr val="1B1B1B"/>
                          </a:solidFill>
                          <a:latin typeface="Arial"/>
                        </a:rPr>
                        <a:t>
← </a:t>
                      </a:r>
                      <a:r>
                        <a:rPr sz="860" i="0" b="1">
                          <a:solidFill>
                            <a:srgbClr val="0E2841"/>
                          </a:solidFill>
                          <a:latin typeface="Arial"/>
                        </a:rPr>
                        <a:t>PRD-01, PRD-06</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GAP-01:</a:t>
                      </a:r>
                      <a:r>
                        <a:rPr sz="860" i="0" b="0">
                          <a:solidFill>
                            <a:srgbClr val="1B1B1B"/>
                          </a:solidFill>
                          <a:latin typeface="Arial"/>
                        </a:rPr>
                        <a:t> Khởi động trực tiếp / đảo pha gây giật cơ khí &amp; hồ quang.</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CF1, CF3</a:t>
                      </a:r>
                      <a:r>
                        <a:rPr sz="860" i="0" b="0">
                          <a:solidFill>
                            <a:srgbClr val="1B1B1B"/>
                          </a:solidFill>
                          <a:latin typeface="Arial"/>
                        </a:rPr>
                        <a:t> chống lại </a:t>
                      </a:r>
                      <a:r>
                        <a:rPr sz="860" i="0" b="1">
                          <a:solidFill>
                            <a:srgbClr val="0E2841"/>
                          </a:solidFill>
                          <a:latin typeface="Arial"/>
                        </a:rPr>
                        <a:t>N1</a:t>
                      </a:r>
                      <a:r>
                        <a:rPr sz="860" i="0" b="0">
                          <a:solidFill>
                            <a:srgbClr val="1B1B1B"/>
                          </a:solidFill>
                          <a:latin typeface="Arial"/>
                        </a:rPr>
                        <a:t> (quán tính </a:t>
                      </a:r>
                      <a:r>
                        <a:rPr sz="860" i="0" b="1">
                          <a:solidFill>
                            <a:srgbClr val="0E2841"/>
                          </a:solidFill>
                          <a:latin typeface="Arial"/>
                        </a:rPr>
                        <a:t>14,244 kg</a:t>
                      </a:r>
                      <a:r>
                        <a:rPr sz="860" i="0" b="0">
                          <a:solidFill>
                            <a:srgbClr val="1B1B1B"/>
                          </a:solidFill>
                          <a:latin typeface="Arial"/>
                        </a:rPr>
                        <a:t>); chặn lỗi </a:t>
                      </a:r>
                      <a:r>
                        <a:rPr sz="860" i="0" b="1">
                          <a:solidFill>
                            <a:srgbClr val="C00000"/>
                          </a:solidFill>
                          <a:latin typeface="Arial"/>
                        </a:rPr>
                        <a:t>E1, E2</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RRM-02</a:t>
                      </a:r>
                      <a:r>
                        <a:rPr sz="860" i="0" b="0">
                          <a:solidFill>
                            <a:srgbClr val="1B1B1B"/>
                          </a:solidFill>
                          <a:latin typeface="Arial"/>
                        </a:rPr>
                        <a:t> (Lắc tải)
← </a:t>
                      </a:r>
                      <a:r>
                        <a:rPr sz="860" i="0" b="1">
                          <a:solidFill>
                            <a:srgbClr val="C00000"/>
                          </a:solidFill>
                          <a:latin typeface="Arial"/>
                        </a:rPr>
                        <a:t>RRM-03</a:t>
                      </a:r>
                      <a:r>
                        <a:rPr sz="860" i="0" b="0">
                          <a:solidFill>
                            <a:srgbClr val="1B1B1B"/>
                          </a:solidFill>
                          <a:latin typeface="Arial"/>
                        </a:rPr>
                        <a:t> (Giật cơ khí)</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WBS 3.1</a:t>
                      </a:r>
                      <a:r>
                        <a:rPr sz="860" i="0" b="0">
                          <a:solidFill>
                            <a:srgbClr val="1B1B1B"/>
                          </a:solidFill>
                          <a:latin typeface="Arial"/>
                        </a:rPr>
                        <a:t> (Logic trạng thái &amp; Phanh), </a:t>
                      </a:r>
                      <a:r>
                        <a:rPr sz="860" i="0" b="1">
                          <a:solidFill>
                            <a:srgbClr val="0E2841"/>
                          </a:solidFill>
                          <a:latin typeface="Arial"/>
                        </a:rPr>
                        <a:t>WBS 4.1</a:t>
                      </a:r>
                      <a:r>
                        <a:rPr sz="860" i="0" b="0">
                          <a:solidFill>
                            <a:srgbClr val="1B1B1B"/>
                          </a:solidFill>
                          <a:latin typeface="Arial"/>
                        </a:rPr>
                        <a:t> (Simulink), </a:t>
                      </a:r>
                      <a:r>
                        <a:rPr sz="860" i="0" b="1">
                          <a:solidFill>
                            <a:srgbClr val="0E2841"/>
                          </a:solidFill>
                          <a:latin typeface="Arial"/>
                        </a:rPr>
                        <a:t>WBS 5.1</a:t>
                      </a:r>
                      <a:r>
                        <a:rPr sz="860" i="0" b="0">
                          <a:solidFill>
                            <a:srgbClr val="1B1B1B"/>
                          </a:solidFill>
                          <a:latin typeface="Arial"/>
                        </a:rPr>
                        <a:t>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FFFFF"/>
                    </a:solidFill>
                  </a:tcPr>
                </a:tc>
              </a:tr>
              <a:tr h="546834">
                <a:tc>
                  <a:txBody>
                    <a:bodyPr wrap="square"/>
                    <a:lstStyle/>
                    <a:p>
                      <a:pPr algn="ctr"/>
                      <a:r>
                        <a:rPr sz="860" i="0" b="1">
                          <a:solidFill>
                            <a:srgbClr val="0E2841"/>
                          </a:solidFill>
                          <a:latin typeface="Arial"/>
                        </a:rPr>
                        <a:t>SRS-FUNC-02</a:t>
                      </a:r>
                      <a:r>
                        <a:rPr sz="860" i="0" b="1">
                          <a:solidFill>
                            <a:srgbClr val="0E2841"/>
                          </a:solidFill>
                          <a:latin typeface="Arial"/>
                        </a:rPr>
                        <a:t>
</a:t>
                      </a:r>
                      <a:r>
                        <a:rPr sz="860" i="0" b="1">
                          <a:solidFill>
                            <a:srgbClr val="0E2841"/>
                          </a:solidFill>
                          <a:latin typeface="Arial"/>
                        </a:rPr>
                        <a:t>SRS-PERM-02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EC-02</a:t>
                      </a:r>
                      <a:r>
                        <a:rPr sz="860" i="0" b="0">
                          <a:solidFill>
                            <a:srgbClr val="1B1B1B"/>
                          </a:solidFill>
                          <a:latin typeface="Arial"/>
                        </a:rPr>
                        <a:t> (</a:t>
                      </a:r>
                      <a:r>
                        <a:rPr sz="860" i="0" b="1">
                          <a:solidFill>
                            <a:srgbClr val="0E2841"/>
                          </a:solidFill>
                          <a:latin typeface="Arial"/>
                        </a:rPr>
                        <a:t>25÷30% v_max</a:t>
                      </a:r>
                      <a:r>
                        <a:rPr sz="860" i="0" b="0">
                          <a:solidFill>
                            <a:srgbClr val="1B1B1B"/>
                          </a:solidFill>
                          <a:latin typeface="Arial"/>
                        </a:rPr>
                        <a:t>)
← </a:t>
                      </a:r>
                      <a:r>
                        <a:rPr sz="860" i="0" b="1">
                          <a:solidFill>
                            <a:srgbClr val="0E2841"/>
                          </a:solidFill>
                          <a:latin typeface="Arial"/>
                        </a:rPr>
                        <a:t>PRD-02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GAP-02:</a:t>
                      </a:r>
                      <a:r>
                        <a:rPr sz="860" i="0" b="0">
                          <a:solidFill>
                            <a:srgbClr val="1B1B1B"/>
                          </a:solidFill>
                          <a:latin typeface="Arial"/>
                        </a:rPr>
                        <a:t> Biến tần V/f vòng hở sụt mô-men ở tần số thấp (</a:t>
                      </a:r>
                      <a:r>
                        <a:rPr sz="860" i="0" b="1">
                          <a:solidFill>
                            <a:srgbClr val="0E2841"/>
                          </a:solidFill>
                          <a:latin typeface="Arial"/>
                        </a:rPr>
                        <a:t>&lt; 5 Hz</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CF1, CF2</a:t>
                      </a:r>
                      <a:r>
                        <a:rPr sz="860" i="0" b="0">
                          <a:solidFill>
                            <a:srgbClr val="1B1B1B"/>
                          </a:solidFill>
                          <a:latin typeface="Arial"/>
                        </a:rPr>
                        <a:t> kháng nhiễu </a:t>
                      </a:r>
                      <a:r>
                        <a:rPr sz="860" i="0" b="1">
                          <a:solidFill>
                            <a:srgbClr val="0E2841"/>
                          </a:solidFill>
                          <a:latin typeface="Arial"/>
                        </a:rPr>
                        <a:t>N1</a:t>
                      </a:r>
                      <a:r>
                        <a:rPr sz="860" i="0" b="0">
                          <a:solidFill>
                            <a:srgbClr val="1B1B1B"/>
                          </a:solidFill>
                          <a:latin typeface="Arial"/>
                        </a:rPr>
                        <a:t> (</a:t>
                      </a:r>
                      <a:r>
                        <a:rPr sz="860" i="0" b="1">
                          <a:solidFill>
                            <a:srgbClr val="0E2841"/>
                          </a:solidFill>
                          <a:latin typeface="Arial"/>
                        </a:rPr>
                        <a:t>7.04×</a:t>
                      </a:r>
                      <a:r>
                        <a:rPr sz="860" i="0" b="0">
                          <a:solidFill>
                            <a:srgbClr val="1B1B1B"/>
                          </a:solidFill>
                          <a:latin typeface="Arial"/>
                        </a:rPr>
                        <a:t> tải) &amp; </a:t>
                      </a:r>
                      <a:r>
                        <a:rPr sz="860" i="0" b="1">
                          <a:solidFill>
                            <a:srgbClr val="0E2841"/>
                          </a:solidFill>
                          <a:latin typeface="Arial"/>
                        </a:rPr>
                        <a:t>N4</a:t>
                      </a:r>
                      <a:r>
                        <a:rPr sz="860" i="0" b="0">
                          <a:solidFill>
                            <a:srgbClr val="1B1B1B"/>
                          </a:solidFill>
                          <a:latin typeface="Arial"/>
                        </a:rPr>
                        <a:t> (trôi </a:t>
                      </a:r>
                      <a:r>
                        <a:rPr sz="860" i="0" b="1">
                          <a:solidFill>
                            <a:srgbClr val="0E2841"/>
                          </a:solidFill>
                          <a:latin typeface="Arial"/>
                        </a:rPr>
                        <a:t>R_r</a:t>
                      </a:r>
                      <a:r>
                        <a:rPr sz="860" i="0" b="0">
                          <a:solidFill>
                            <a:srgbClr val="1B1B1B"/>
                          </a:solidFill>
                          <a:latin typeface="Arial"/>
                        </a:rPr>
                        <a:t>); đạt </a:t>
                      </a:r>
                      <a:r>
                        <a:rPr sz="860" i="0" b="1">
                          <a:solidFill>
                            <a:srgbClr val="0E2841"/>
                          </a:solidFill>
                          <a:latin typeface="Arial"/>
                        </a:rPr>
                        <a:t>CTQ-03</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RRM-03</a:t>
                      </a:r>
                      <a:r>
                        <a:rPr sz="860" i="0" b="0">
                          <a:solidFill>
                            <a:srgbClr val="1B1B1B"/>
                          </a:solidFill>
                          <a:latin typeface="Arial"/>
                        </a:rPr>
                        <a:t> (Sụt mô-men ở tốc độ thấp)</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WBS 3.1</a:t>
                      </a:r>
                      <a:r>
                        <a:rPr sz="860" i="0" b="0">
                          <a:solidFill>
                            <a:srgbClr val="1B1B1B"/>
                          </a:solidFill>
                          <a:latin typeface="Arial"/>
                        </a:rPr>
                        <a:t> (Bộ phát lệnh &amp; Vòng tốc độ PI), </a:t>
                      </a:r>
                      <a:r>
                        <a:rPr sz="860" i="0" b="1">
                          <a:solidFill>
                            <a:srgbClr val="0E2841"/>
                          </a:solidFill>
                          <a:latin typeface="Arial"/>
                        </a:rPr>
                        <a:t>WBS 4.2</a:t>
                      </a:r>
                      <a:r>
                        <a:rPr sz="860" i="0" b="0">
                          <a:solidFill>
                            <a:srgbClr val="1B1B1B"/>
                          </a:solidFill>
                          <a:latin typeface="Arial"/>
                        </a:rPr>
                        <a:t>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8F9FA"/>
                    </a:solidFill>
                  </a:tcPr>
                </a:tc>
              </a:tr>
              <a:tr h="546834">
                <a:tc>
                  <a:txBody>
                    <a:bodyPr wrap="square"/>
                    <a:lstStyle/>
                    <a:p>
                      <a:pPr algn="ctr"/>
                      <a:r>
                        <a:rPr sz="860" i="0" b="1">
                          <a:solidFill>
                            <a:srgbClr val="0E2841"/>
                          </a:solidFill>
                          <a:latin typeface="Arial"/>
                        </a:rPr>
                        <a:t>SRS-FUNC-04</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EC-06</a:t>
                      </a:r>
                      <a:r>
                        <a:rPr sz="860" i="0" b="1">
                          <a:solidFill>
                            <a:srgbClr val="1B1B1B"/>
                          </a:solidFill>
                          <a:latin typeface="Arial"/>
                        </a:rPr>
                        <a:t> (</a:t>
                      </a:r>
                      <a:r>
                        <a:rPr sz="860" i="0" b="1">
                          <a:solidFill>
                            <a:srgbClr val="0E2841"/>
                          </a:solidFill>
                          <a:latin typeface="Arial"/>
                        </a:rPr>
                        <a:t>100÷150% M_đm</a:t>
                      </a:r>
                      <a:r>
                        <a:rPr sz="860" i="0" b="1">
                          <a:solidFill>
                            <a:srgbClr val="1B1B1B"/>
                          </a:solidFill>
                          <a:latin typeface="Arial"/>
                        </a:rPr>
                        <a:t>)
← </a:t>
                      </a:r>
                      <a:r>
                        <a:rPr sz="860" i="0" b="1">
                          <a:solidFill>
                            <a:srgbClr val="0E2841"/>
                          </a:solidFill>
                          <a:latin typeface="Arial"/>
                        </a:rPr>
                        <a:t>PRD-04</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GAP-03:</a:t>
                      </a:r>
                      <a:r>
                        <a:rPr sz="860" i="0" b="1">
                          <a:solidFill>
                            <a:srgbClr val="1B1B1B"/>
                          </a:solidFill>
                          <a:latin typeface="Arial"/>
                        </a:rPr>
                        <a:t> Trôi/rơi tải ở 0 rpm do độ trễ đóng cắt phanh cơ (50÷150 ms).</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CF3</a:t>
                      </a:r>
                      <a:r>
                        <a:rPr sz="860" i="0" b="1">
                          <a:solidFill>
                            <a:srgbClr val="1B1B1B"/>
                          </a:solidFill>
                          <a:latin typeface="Arial"/>
                        </a:rPr>
                        <a:t> (Bắt tay từ thông - phanh) kháng </a:t>
                      </a:r>
                      <a:r>
                        <a:rPr sz="860" i="0" b="1">
                          <a:solidFill>
                            <a:srgbClr val="0E2841"/>
                          </a:solidFill>
                          <a:latin typeface="Arial"/>
                        </a:rPr>
                        <a:t>N1</a:t>
                      </a:r>
                      <a:r>
                        <a:rPr sz="860" i="0" b="1">
                          <a:solidFill>
                            <a:srgbClr val="1B1B1B"/>
                          </a:solidFill>
                          <a:latin typeface="Arial"/>
                        </a:rPr>
                        <a:t>; triệt tiêu lỗi </a:t>
                      </a:r>
                      <a:r>
                        <a:rPr sz="860" i="0" b="1">
                          <a:solidFill>
                            <a:srgbClr val="C00000"/>
                          </a:solidFill>
                          <a:latin typeface="Arial"/>
                        </a:rPr>
                        <a:t>E1</a:t>
                      </a:r>
                      <a:r>
                        <a:rPr sz="860" i="0" b="1">
                          <a:solidFill>
                            <a:srgbClr val="1B1B1B"/>
                          </a:solidFill>
                          <a:latin typeface="Arial"/>
                        </a:rPr>
                        <a:t> (</a:t>
                      </a:r>
                      <a:r>
                        <a:rPr sz="860" i="0" b="1">
                          <a:solidFill>
                            <a:srgbClr val="C00000"/>
                          </a:solidFill>
                          <a:latin typeface="Arial"/>
                        </a:rPr>
                        <a:t>CTS-03</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RRM-03</a:t>
                      </a:r>
                      <a:r>
                        <a:rPr sz="860" i="0" b="1">
                          <a:solidFill>
                            <a:srgbClr val="1B1B1B"/>
                          </a:solidFill>
                          <a:latin typeface="Arial"/>
                        </a:rPr>
                        <a:t> (Trôi tải khi mở/đóng phanh)</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2.2</a:t>
                      </a:r>
                      <a:r>
                        <a:rPr sz="860" i="0" b="1">
                          <a:solidFill>
                            <a:srgbClr val="1B1B1B"/>
                          </a:solidFill>
                          <a:latin typeface="Arial"/>
                        </a:rPr>
                        <a:t> (Chọn phanh từ), </a:t>
                      </a:r>
                      <a:r>
                        <a:rPr sz="860" i="0" b="1">
                          <a:solidFill>
                            <a:srgbClr val="0E2841"/>
                          </a:solidFill>
                          <a:latin typeface="Arial"/>
                        </a:rPr>
                        <a:t>WBS 3.2</a:t>
                      </a:r>
                      <a:r>
                        <a:rPr sz="860" i="0" b="1">
                          <a:solidFill>
                            <a:srgbClr val="1B1B1B"/>
                          </a:solidFill>
                          <a:latin typeface="Arial"/>
                        </a:rPr>
                        <a:t> (Logic giữ 0 rpm) (</a:t>
                      </a:r>
                      <a:r>
                        <a:rPr sz="860" i="0" b="1">
                          <a:solidFill>
                            <a:srgbClr val="0E2841"/>
                          </a:solidFill>
                          <a:latin typeface="Arial"/>
                        </a:rPr>
                        <a:t>Drive + Control</a:t>
                      </a:r>
                      <a:r>
                        <a:rPr sz="860" i="0" b="1">
                          <a:solidFill>
                            <a:srgbClr val="1B1B1B"/>
                          </a:solidFill>
                          <a:latin typeface="Arial"/>
                        </a:rPr>
                        <a:t>)</a:t>
                      </a:r>
                    </a:p>
                  </a:txBody>
                  <a:tcPr anchor="ctr" marT="19050" marB="19050" marL="50800" marR="50800">
                    <a:solidFill>
                      <a:srgbClr val="FDEDEC"/>
                    </a:solidFill>
                  </a:tcPr>
                </a:tc>
              </a:tr>
              <a:tr h="546834">
                <a:tc>
                  <a:txBody>
                    <a:bodyPr wrap="square"/>
                    <a:lstStyle/>
                    <a:p>
                      <a:pPr algn="ctr"/>
                      <a:r>
                        <a:rPr sz="860" i="0" b="1">
                          <a:solidFill>
                            <a:srgbClr val="0E2841"/>
                          </a:solidFill>
                          <a:latin typeface="Arial"/>
                        </a:rPr>
                        <a:t>SRS-FUNC-05</a:t>
                      </a:r>
                      <a:r>
                        <a:rPr sz="860" i="0" b="1">
                          <a:solidFill>
                            <a:srgbClr val="0E2841"/>
                          </a:solidFill>
                          <a:latin typeface="Arial"/>
                        </a:rPr>
                        <a:t>
</a:t>
                      </a:r>
                      <a:r>
                        <a:rPr sz="860" i="0" b="1">
                          <a:solidFill>
                            <a:srgbClr val="0E2841"/>
                          </a:solidFill>
                          <a:latin typeface="Arial"/>
                        </a:rPr>
                        <a:t>SRS-PERM-01</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EC-01, EC-03</a:t>
                      </a:r>
                      <a:r>
                        <a:rPr sz="860" i="0" b="0">
                          <a:solidFill>
                            <a:srgbClr val="1B1B1B"/>
                          </a:solidFill>
                          <a:latin typeface="Arial"/>
                        </a:rPr>
                        <a:t>
← </a:t>
                      </a:r>
                      <a:r>
                        <a:rPr sz="860" i="0" b="1">
                          <a:solidFill>
                            <a:srgbClr val="0E2841"/>
                          </a:solidFill>
                          <a:latin typeface="Arial"/>
                        </a:rPr>
                        <a:t>PRD-02, PRD-03</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GAP-02:</a:t>
                      </a:r>
                      <a:r>
                        <a:rPr sz="860" i="0" b="0">
                          <a:solidFill>
                            <a:srgbClr val="1B1B1B"/>
                          </a:solidFill>
                          <a:latin typeface="Arial"/>
                        </a:rPr>
                        <a:t> Thiếu phản hồi tốc độ thực để tách kênh từ thông </a:t>
                      </a:r>
                      <a:r>
                        <a:rPr sz="860" i="0" b="1">
                          <a:solidFill>
                            <a:srgbClr val="0E2841"/>
                          </a:solidFill>
                          <a:latin typeface="Arial"/>
                        </a:rPr>
                        <a:t>i_sd</a:t>
                      </a:r>
                      <a:r>
                        <a:rPr sz="860" i="0" b="0">
                          <a:solidFill>
                            <a:srgbClr val="1B1B1B"/>
                          </a:solidFill>
                          <a:latin typeface="Arial"/>
                        </a:rPr>
                        <a:t> và mô-men </a:t>
                      </a:r>
                      <a:r>
                        <a:rPr sz="860" i="0" b="1">
                          <a:solidFill>
                            <a:srgbClr val="0E2841"/>
                          </a:solidFill>
                          <a:latin typeface="Arial"/>
                        </a:rPr>
                        <a:t>i_sq</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CF2</a:t>
                      </a:r>
                      <a:r>
                        <a:rPr sz="860" i="0" b="0">
                          <a:solidFill>
                            <a:srgbClr val="1B1B1B"/>
                          </a:solidFill>
                          <a:latin typeface="Arial"/>
                        </a:rPr>
                        <a:t> (RFOC + Encoder) kháng </a:t>
                      </a:r>
                      <a:r>
                        <a:rPr sz="860" i="0" b="1">
                          <a:solidFill>
                            <a:srgbClr val="0E2841"/>
                          </a:solidFill>
                          <a:latin typeface="Arial"/>
                        </a:rPr>
                        <a:t>N1, N2, N4</a:t>
                      </a:r>
                      <a:r>
                        <a:rPr sz="860" i="0" b="0">
                          <a:solidFill>
                            <a:srgbClr val="1B1B1B"/>
                          </a:solidFill>
                          <a:latin typeface="Arial"/>
                        </a:rPr>
                        <a:t>; đạt </a:t>
                      </a:r>
                      <a:r>
                        <a:rPr sz="860" i="0" b="1">
                          <a:solidFill>
                            <a:srgbClr val="0E2841"/>
                          </a:solidFill>
                          <a:latin typeface="Arial"/>
                        </a:rPr>
                        <a:t>CTQ-01, CTQ-02</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RRM-02, RRM-03</a:t>
                      </a:r>
                      <a:r>
                        <a:rPr sz="860" i="0" b="0">
                          <a:solidFill>
                            <a:srgbClr val="1B1B1B"/>
                          </a:solidFill>
                          <a:latin typeface="Arial"/>
                        </a:rPr>
                        <a:t>
(Sai lệch tốc độ &amp; vọt lố)</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WBS 2.2</a:t>
                      </a:r>
                      <a:r>
                        <a:rPr sz="860" i="0" b="0">
                          <a:solidFill>
                            <a:srgbClr val="1B1B1B"/>
                          </a:solidFill>
                          <a:latin typeface="Arial"/>
                        </a:rPr>
                        <a:t> (Chọn Encoder &amp; Biến tần), </a:t>
                      </a:r>
                      <a:r>
                        <a:rPr sz="860" i="0" b="1">
                          <a:solidFill>
                            <a:srgbClr val="0E2841"/>
                          </a:solidFill>
                          <a:latin typeface="Arial"/>
                        </a:rPr>
                        <a:t>WBS 3.1, 3.2</a:t>
                      </a:r>
                      <a:r>
                        <a:rPr sz="860" i="0" b="0">
                          <a:solidFill>
                            <a:srgbClr val="1B1B1B"/>
                          </a:solidFill>
                          <a:latin typeface="Arial"/>
                        </a:rPr>
                        <a:t> (Thiết kế PI FOC)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8F9FA"/>
                    </a:solidFill>
                  </a:tcPr>
                </a:tc>
              </a:tr>
              <a:tr h="546834">
                <a:tc>
                  <a:txBody>
                    <a:bodyPr wrap="square"/>
                    <a:lstStyle/>
                    <a:p>
                      <a:pPr algn="ctr"/>
                      <a:r>
                        <a:rPr sz="860" i="0" b="1">
                          <a:solidFill>
                            <a:srgbClr val="0E2841"/>
                          </a:solidFill>
                          <a:latin typeface="Arial"/>
                        </a:rPr>
                        <a:t>SRS-FUNC-06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EC-07</a:t>
                      </a:r>
                      <a:r>
                        <a:rPr sz="860" i="0" b="1">
                          <a:solidFill>
                            <a:srgbClr val="1B1B1B"/>
                          </a:solidFill>
                          <a:latin typeface="Arial"/>
                        </a:rPr>
                        <a:t> (</a:t>
                      </a:r>
                      <a:r>
                        <a:rPr sz="860" i="0" b="1">
                          <a:solidFill>
                            <a:srgbClr val="0E2841"/>
                          </a:solidFill>
                          <a:latin typeface="Arial"/>
                        </a:rPr>
                        <a:t>4Q + Chopper</a:t>
                      </a:r>
                      <a:r>
                        <a:rPr sz="860" i="0" b="1">
                          <a:solidFill>
                            <a:srgbClr val="1B1B1B"/>
                          </a:solidFill>
                          <a:latin typeface="Arial"/>
                        </a:rPr>
                        <a:t>)
← </a:t>
                      </a:r>
                      <a:r>
                        <a:rPr sz="860" i="0" b="1">
                          <a:solidFill>
                            <a:srgbClr val="0E2841"/>
                          </a:solidFill>
                          <a:latin typeface="Arial"/>
                        </a:rPr>
                        <a:t>PRD-05</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GAP-04:</a:t>
                      </a:r>
                      <a:r>
                        <a:rPr sz="860" i="0" b="1">
                          <a:solidFill>
                            <a:srgbClr val="1B1B1B"/>
                          </a:solidFill>
                          <a:latin typeface="Arial"/>
                        </a:rPr>
                        <a:t> Động năng hãm </a:t>
                      </a:r>
                      <a:r>
                        <a:rPr sz="860" i="0" b="1">
                          <a:solidFill>
                            <a:srgbClr val="0E2841"/>
                          </a:solidFill>
                          <a:latin typeface="Arial"/>
                        </a:rPr>
                        <a:t>14,244 kg</a:t>
                      </a:r>
                      <a:r>
                        <a:rPr sz="860" i="0" b="1">
                          <a:solidFill>
                            <a:srgbClr val="1B1B1B"/>
                          </a:solidFill>
                          <a:latin typeface="Arial"/>
                        </a:rPr>
                        <a:t> đẩy ngược về DC-link gây nổ tụ (</a:t>
                      </a:r>
                      <a:r>
                        <a:rPr sz="860" i="0" b="1">
                          <a:solidFill>
                            <a:srgbClr val="0E2841"/>
                          </a:solidFill>
                          <a:latin typeface="Arial"/>
                        </a:rPr>
                        <a:t>&gt; 800V</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CF4</a:t>
                      </a:r>
                      <a:r>
                        <a:rPr sz="860" i="0" b="1">
                          <a:solidFill>
                            <a:srgbClr val="1B1B1B"/>
                          </a:solidFill>
                          <a:latin typeface="Arial"/>
                        </a:rPr>
                        <a:t> (Chopper + </a:t>
                      </a:r>
                      <a:r>
                        <a:rPr sz="860" i="0" b="1">
                          <a:solidFill>
                            <a:srgbClr val="0E2841"/>
                          </a:solidFill>
                          <a:latin typeface="Arial"/>
                        </a:rPr>
                        <a:t>R_h</a:t>
                      </a:r>
                      <a:r>
                        <a:rPr sz="860" i="0" b="1">
                          <a:solidFill>
                            <a:srgbClr val="1B1B1B"/>
                          </a:solidFill>
                          <a:latin typeface="Arial"/>
                        </a:rPr>
                        <a:t>) kháng </a:t>
                      </a:r>
                      <a:r>
                        <a:rPr sz="860" i="0" b="1">
                          <a:solidFill>
                            <a:srgbClr val="0E2841"/>
                          </a:solidFill>
                          <a:latin typeface="Arial"/>
                        </a:rPr>
                        <a:t>N1, N2 (+10% áp)</a:t>
                      </a:r>
                      <a:r>
                        <a:rPr sz="860" i="0" b="1">
                          <a:solidFill>
                            <a:srgbClr val="1B1B1B"/>
                          </a:solidFill>
                          <a:latin typeface="Arial"/>
                        </a:rPr>
                        <a:t>; chặn lỗi </a:t>
                      </a:r>
                      <a:r>
                        <a:rPr sz="860" i="0" b="1">
                          <a:solidFill>
                            <a:srgbClr val="C00000"/>
                          </a:solidFill>
                          <a:latin typeface="Arial"/>
                        </a:rPr>
                        <a:t>E3</a:t>
                      </a:r>
                      <a:r>
                        <a:rPr sz="860" i="0" b="1">
                          <a:solidFill>
                            <a:srgbClr val="1B1B1B"/>
                          </a:solidFill>
                          <a:latin typeface="Arial"/>
                        </a:rPr>
                        <a:t> (</a:t>
                      </a:r>
                      <a:r>
                        <a:rPr sz="860" i="0" b="1">
                          <a:solidFill>
                            <a:srgbClr val="C00000"/>
                          </a:solidFill>
                          <a:latin typeface="Arial"/>
                        </a:rPr>
                        <a:t>CTS-04</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RRM-04</a:t>
                      </a:r>
                      <a:r>
                        <a:rPr sz="860" i="0" b="1">
                          <a:solidFill>
                            <a:srgbClr val="1B1B1B"/>
                          </a:solidFill>
                          <a:latin typeface="Arial"/>
                        </a:rPr>
                        <a:t> (Quá áp DC-link khi hãm tái sinh)</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2.3</a:t>
                      </a:r>
                      <a:r>
                        <a:rPr sz="860" i="0" b="1">
                          <a:solidFill>
                            <a:srgbClr val="1B1B1B"/>
                          </a:solidFill>
                          <a:latin typeface="Arial"/>
                        </a:rPr>
                        <a:t> (Tính chọn </a:t>
                      </a:r>
                      <a:r>
                        <a:rPr sz="860" i="0" b="1">
                          <a:solidFill>
                            <a:srgbClr val="0E2841"/>
                          </a:solidFill>
                          <a:latin typeface="Arial"/>
                        </a:rPr>
                        <a:t>R_h</a:t>
                      </a:r>
                      <a:r>
                        <a:rPr sz="860" i="0" b="1">
                          <a:solidFill>
                            <a:srgbClr val="1B1B1B"/>
                          </a:solidFill>
                          <a:latin typeface="Arial"/>
                        </a:rPr>
                        <a:t> &amp; công suất đỉnh hãm), </a:t>
                      </a:r>
                      <a:r>
                        <a:rPr sz="860" i="0" b="1">
                          <a:solidFill>
                            <a:srgbClr val="0E2841"/>
                          </a:solidFill>
                          <a:latin typeface="Arial"/>
                        </a:rPr>
                        <a:t>WBS 4.2</a:t>
                      </a:r>
                      <a:r>
                        <a:rPr sz="860" i="0" b="1">
                          <a:solidFill>
                            <a:srgbClr val="1B1B1B"/>
                          </a:solidFill>
                          <a:latin typeface="Arial"/>
                        </a:rPr>
                        <a:t> (</a:t>
                      </a:r>
                      <a:r>
                        <a:rPr sz="860" i="0" b="1">
                          <a:solidFill>
                            <a:srgbClr val="0E2841"/>
                          </a:solidFill>
                          <a:latin typeface="Arial"/>
                        </a:rPr>
                        <a:t>Drive Lead</a:t>
                      </a:r>
                      <a:r>
                        <a:rPr sz="860" i="0" b="1">
                          <a:solidFill>
                            <a:srgbClr val="1B1B1B"/>
                          </a:solidFill>
                          <a:latin typeface="Arial"/>
                        </a:rPr>
                        <a:t>)</a:t>
                      </a:r>
                    </a:p>
                  </a:txBody>
                  <a:tcPr anchor="ctr" marT="19050" marB="19050" marL="50800" marR="50800">
                    <a:solidFill>
                      <a:srgbClr val="FDEDEC"/>
                    </a:solidFill>
                  </a:tcPr>
                </a:tc>
              </a:tr>
              <a:tr h="546834">
                <a:tc>
                  <a:txBody>
                    <a:bodyPr wrap="square"/>
                    <a:lstStyle/>
                    <a:p>
                      <a:pPr algn="ctr"/>
                      <a:r>
                        <a:rPr sz="860" i="0" b="1">
                          <a:solidFill>
                            <a:srgbClr val="0E2841"/>
                          </a:solidFill>
                          <a:latin typeface="Arial"/>
                        </a:rPr>
                        <a:t>SRS-FUNC-07</a:t>
                      </a:r>
                      <a:r>
                        <a:rPr sz="860" i="0" b="1">
                          <a:solidFill>
                            <a:srgbClr val="C00000"/>
                          </a:solidFill>
                          <a:latin typeface="Arial"/>
                        </a:rPr>
                        <a:t>
</a:t>
                      </a:r>
                      <a:r>
                        <a:rPr sz="860" i="0" b="1">
                          <a:solidFill>
                            <a:srgbClr val="0E2841"/>
                          </a:solidFill>
                          <a:latin typeface="Arial"/>
                        </a:rPr>
                        <a:t>SRS-PERM-03</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EC-04, EC-05</a:t>
                      </a:r>
                      <a:r>
                        <a:rPr sz="860" i="0" b="1">
                          <a:solidFill>
                            <a:srgbClr val="1B1B1B"/>
                          </a:solidFill>
                          <a:latin typeface="Arial"/>
                        </a:rPr>
                        <a:t>
← </a:t>
                      </a:r>
                      <a:r>
                        <a:rPr sz="860" i="0" b="1">
                          <a:solidFill>
                            <a:srgbClr val="0E2841"/>
                          </a:solidFill>
                          <a:latin typeface="Arial"/>
                        </a:rPr>
                        <a:t>PRD-06, PRD-07</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GAP-05:</a:t>
                      </a:r>
                      <a:r>
                        <a:rPr sz="860" i="0" b="1">
                          <a:solidFill>
                            <a:srgbClr val="1B1B1B"/>
                          </a:solidFill>
                          <a:latin typeface="Arial"/>
                        </a:rPr>
                        <a:t> Quỹ đạo hình thang (bậc thang gia tốc) có </a:t>
                      </a:r>
                      <a:r>
                        <a:rPr sz="860" i="0" b="1">
                          <a:solidFill>
                            <a:srgbClr val="0E2841"/>
                          </a:solidFill>
                          <a:latin typeface="Arial"/>
                        </a:rPr>
                        <a:t>ρ → ∞</a:t>
                      </a:r>
                      <a:r>
                        <a:rPr sz="860" i="0" b="1">
                          <a:solidFill>
                            <a:srgbClr val="1B1B1B"/>
                          </a:solidFill>
                          <a:latin typeface="Arial"/>
                        </a:rPr>
                        <a:t> kích thích lắc cáp.</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CF1</a:t>
                      </a:r>
                      <a:r>
                        <a:rPr sz="860" i="0" b="1">
                          <a:solidFill>
                            <a:srgbClr val="1B1B1B"/>
                          </a:solidFill>
                          <a:latin typeface="Arial"/>
                        </a:rPr>
                        <a:t> (S-Curve </a:t>
                      </a:r>
                      <a:r>
                        <a:rPr sz="860" i="0" b="1">
                          <a:solidFill>
                            <a:srgbClr val="0E2841"/>
                          </a:solidFill>
                          <a:latin typeface="Arial"/>
                        </a:rPr>
                        <a:t>t_j ≥ 0.25s</a:t>
                      </a:r>
                      <a:r>
                        <a:rPr sz="860" i="0" b="1">
                          <a:solidFill>
                            <a:srgbClr val="1B1B1B"/>
                          </a:solidFill>
                          <a:latin typeface="Arial"/>
                        </a:rPr>
                        <a:t>) kháng </a:t>
                      </a:r>
                      <a:r>
                        <a:rPr sz="860" i="0" b="1">
                          <a:solidFill>
                            <a:srgbClr val="0E2841"/>
                          </a:solidFill>
                          <a:latin typeface="Arial"/>
                        </a:rPr>
                        <a:t>N1 (h=12m)</a:t>
                      </a:r>
                      <a:r>
                        <a:rPr sz="860" i="0" b="1">
                          <a:solidFill>
                            <a:srgbClr val="1B1B1B"/>
                          </a:solidFill>
                          <a:latin typeface="Arial"/>
                        </a:rPr>
                        <a:t> &amp; </a:t>
                      </a:r>
                      <a:r>
                        <a:rPr sz="860" i="0" b="1">
                          <a:solidFill>
                            <a:srgbClr val="0E2841"/>
                          </a:solidFill>
                          <a:latin typeface="Arial"/>
                        </a:rPr>
                        <a:t>N3 (μ=0.2)</a:t>
                      </a:r>
                      <a:r>
                        <a:rPr sz="860" i="0" b="1">
                          <a:solidFill>
                            <a:srgbClr val="1B1B1B"/>
                          </a:solidFill>
                          <a:latin typeface="Arial"/>
                        </a:rPr>
                        <a:t>; chặn </a:t>
                      </a:r>
                      <a:r>
                        <a:rPr sz="860" i="0" b="1">
                          <a:solidFill>
                            <a:srgbClr val="C00000"/>
                          </a:solidFill>
                          <a:latin typeface="Arial"/>
                        </a:rPr>
                        <a:t>E2</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RRM-01</a:t>
                      </a:r>
                      <a:r>
                        <a:rPr sz="860" i="0" b="1">
                          <a:solidFill>
                            <a:srgbClr val="1B1B1B"/>
                          </a:solidFill>
                          <a:latin typeface="Arial"/>
                        </a:rPr>
                        <a:t> (Trượt bánh)
← </a:t>
                      </a:r>
                      <a:r>
                        <a:rPr sz="860" i="0" b="1">
                          <a:solidFill>
                            <a:srgbClr val="C00000"/>
                          </a:solidFill>
                          <a:latin typeface="Arial"/>
                        </a:rPr>
                        <a:t>RRM-02</a:t>
                      </a:r>
                      <a:r>
                        <a:rPr sz="860" i="0" b="1">
                          <a:solidFill>
                            <a:srgbClr val="1B1B1B"/>
                          </a:solidFill>
                          <a:latin typeface="Arial"/>
                        </a:rPr>
                        <a:t> (Lắc cáp)
← </a:t>
                      </a:r>
                      <a:r>
                        <a:rPr sz="860" i="0" b="1">
                          <a:solidFill>
                            <a:srgbClr val="C00000"/>
                          </a:solidFill>
                          <a:latin typeface="Arial"/>
                        </a:rPr>
                        <a:t>RRM-05</a:t>
                      </a:r>
                      <a:r>
                        <a:rPr sz="860" i="0" b="1">
                          <a:solidFill>
                            <a:srgbClr val="1B1B1B"/>
                          </a:solidFill>
                          <a:latin typeface="Arial"/>
                        </a:rPr>
                        <a:t> (Nhiễu đạo hàm)</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WBS 3.1</a:t>
                      </a:r>
                      <a:r>
                        <a:rPr sz="860" i="0" b="1">
                          <a:solidFill>
                            <a:srgbClr val="1B1B1B"/>
                          </a:solidFill>
                          <a:latin typeface="Arial"/>
                        </a:rPr>
                        <a:t> (Khối S-Curve 7 pha), </a:t>
                      </a:r>
                      <a:r>
                        <a:rPr sz="860" i="0" b="1">
                          <a:solidFill>
                            <a:srgbClr val="0E2841"/>
                          </a:solidFill>
                          <a:latin typeface="Arial"/>
                        </a:rPr>
                        <a:t>WBS 4.1</a:t>
                      </a:r>
                      <a:r>
                        <a:rPr sz="860" i="0" b="1">
                          <a:solidFill>
                            <a:srgbClr val="1B1B1B"/>
                          </a:solidFill>
                          <a:latin typeface="Arial"/>
                        </a:rPr>
                        <a:t> (Trích xuất </a:t>
                      </a:r>
                      <a:r>
                        <a:rPr sz="860" i="0" b="1">
                          <a:solidFill>
                            <a:srgbClr val="0E2841"/>
                          </a:solidFill>
                          <a:latin typeface="Arial"/>
                        </a:rPr>
                        <a:t>a, ρ</a:t>
                      </a:r>
                      <a:r>
                        <a:rPr sz="860" i="0" b="1">
                          <a:solidFill>
                            <a:srgbClr val="1B1B1B"/>
                          </a:solidFill>
                          <a:latin typeface="Arial"/>
                        </a:rPr>
                        <a:t>) (</a:t>
                      </a:r>
                      <a:r>
                        <a:rPr sz="860" i="0" b="1">
                          <a:solidFill>
                            <a:srgbClr val="0E2841"/>
                          </a:solidFill>
                          <a:latin typeface="Arial"/>
                        </a:rPr>
                        <a:t>Control + V&amp;V Lead</a:t>
                      </a:r>
                      <a:r>
                        <a:rPr sz="860" i="0" b="1">
                          <a:solidFill>
                            <a:srgbClr val="1B1B1B"/>
                          </a:solidFill>
                          <a:latin typeface="Arial"/>
                        </a:rPr>
                        <a:t>)</a:t>
                      </a:r>
                    </a:p>
                  </a:txBody>
                  <a:tcPr anchor="ctr" marT="19050" marB="19050" marL="50800" marR="50800">
                    <a:solidFill>
                      <a:srgbClr val="FEF9E7"/>
                    </a:solidFill>
                  </a:tcPr>
                </a:tc>
              </a:tr>
              <a:tr h="546834">
                <a:tc>
                  <a:txBody>
                    <a:bodyPr wrap="square"/>
                    <a:lstStyle/>
                    <a:p>
                      <a:pPr algn="ctr"/>
                      <a:r>
                        <a:rPr sz="860" i="0" b="1">
                          <a:solidFill>
                            <a:srgbClr val="0E2841"/>
                          </a:solidFill>
                          <a:latin typeface="Arial"/>
                        </a:rPr>
                        <a:t>SRS-PERM-04</a:t>
                      </a:r>
                      <a:r>
                        <a:rPr sz="860" i="0" b="1">
                          <a:solidFill>
                            <a:srgbClr val="C00000"/>
                          </a:solidFill>
                          <a:latin typeface="Arial"/>
                        </a:rPr>
                        <a:t>
</a:t>
                      </a:r>
                      <a:r>
                        <a:rPr sz="860" i="0" b="1">
                          <a:solidFill>
                            <a:srgbClr val="0E2841"/>
                          </a:solidFill>
                          <a:latin typeface="Arial"/>
                        </a:rPr>
                        <a:t>SRS-PERM-05</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EC-08</a:t>
                      </a:r>
                      <a:r>
                        <a:rPr sz="860" i="0" b="1">
                          <a:solidFill>
                            <a:srgbClr val="1B1B1B"/>
                          </a:solidFill>
                          <a:latin typeface="Arial"/>
                        </a:rPr>
                        <a:t> (</a:t>
                      </a:r>
                      <a:r>
                        <a:rPr sz="860" i="0" b="1">
                          <a:solidFill>
                            <a:srgbClr val="0E2841"/>
                          </a:solidFill>
                          <a:latin typeface="Arial"/>
                        </a:rPr>
                        <a:t>k_dt, λ_max</a:t>
                      </a:r>
                      <a:r>
                        <a:rPr sz="860" i="0" b="1">
                          <a:solidFill>
                            <a:srgbClr val="1B1B1B"/>
                          </a:solidFill>
                          <a:latin typeface="Arial"/>
                        </a:rPr>
                        <a:t>)
← </a:t>
                      </a:r>
                      <a:r>
                        <a:rPr sz="860" i="0" b="1">
                          <a:solidFill>
                            <a:srgbClr val="0E2841"/>
                          </a:solidFill>
                          <a:latin typeface="Arial"/>
                        </a:rPr>
                        <a:t>PRD-06, PRD-07</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GAP-06:</a:t>
                      </a:r>
                      <a:r>
                        <a:rPr sz="860" i="0" b="1">
                          <a:solidFill>
                            <a:srgbClr val="1B1B1B"/>
                          </a:solidFill>
                          <a:latin typeface="Arial"/>
                        </a:rPr>
                        <a:t> Chọn động cơ theo S1 gây dư công suất hoặc thiếu kiểm nghiệm quá tải.</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CF5</a:t>
                      </a:r>
                      <a:r>
                        <a:rPr sz="860" i="0" b="1">
                          <a:solidFill>
                            <a:srgbClr val="1B1B1B"/>
                          </a:solidFill>
                          <a:latin typeface="Arial"/>
                        </a:rPr>
                        <a:t> (</a:t>
                      </a:r>
                      <a:r>
                        <a:rPr sz="860" i="0" b="1">
                          <a:solidFill>
                            <a:srgbClr val="0E2841"/>
                          </a:solidFill>
                          <a:latin typeface="Arial"/>
                        </a:rPr>
                        <a:t>k_dt ∈ [1.2;1.5]</a:t>
                      </a:r>
                      <a:r>
                        <a:rPr sz="860" i="0" b="1">
                          <a:solidFill>
                            <a:srgbClr val="1B1B1B"/>
                          </a:solidFill>
                          <a:latin typeface="Arial"/>
                        </a:rPr>
                        <a:t>, </a:t>
                      </a:r>
                      <a:r>
                        <a:rPr sz="860" i="0" b="1">
                          <a:solidFill>
                            <a:srgbClr val="0E2841"/>
                          </a:solidFill>
                          <a:latin typeface="Arial"/>
                        </a:rPr>
                        <a:t>λ ≥ 2.0</a:t>
                      </a:r>
                      <a:r>
                        <a:rPr sz="860" i="0" b="1">
                          <a:solidFill>
                            <a:srgbClr val="1B1B1B"/>
                          </a:solidFill>
                          <a:latin typeface="Arial"/>
                        </a:rPr>
                        <a:t>) kháng </a:t>
                      </a:r>
                      <a:r>
                        <a:rPr sz="860" i="0" b="1">
                          <a:solidFill>
                            <a:srgbClr val="0E2841"/>
                          </a:solidFill>
                          <a:latin typeface="Arial"/>
                        </a:rPr>
                        <a:t>N1, N4 (40°C)</a:t>
                      </a:r>
                      <a:r>
                        <a:rPr sz="860" i="0" b="1">
                          <a:solidFill>
                            <a:srgbClr val="1B1B1B"/>
                          </a:solidFill>
                          <a:latin typeface="Arial"/>
                        </a:rPr>
                        <a:t>; chặn lỗi </a:t>
                      </a:r>
                      <a:r>
                        <a:rPr sz="860" i="0" b="1">
                          <a:solidFill>
                            <a:srgbClr val="C00000"/>
                          </a:solidFill>
                          <a:latin typeface="Arial"/>
                        </a:rPr>
                        <a:t>E4</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RRM-01, RRM-04</a:t>
                      </a:r>
                      <a:r>
                        <a:rPr sz="860" i="0" b="1">
                          <a:solidFill>
                            <a:srgbClr val="1B1B1B"/>
                          </a:solidFill>
                          <a:latin typeface="Arial"/>
                        </a:rPr>
                        <a:t>
(Quá nhiệt &amp; sụt mô-men)</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WBS 2.1, 2.2</a:t>
                      </a:r>
                      <a:r>
                        <a:rPr sz="860" i="0" b="1">
                          <a:solidFill>
                            <a:srgbClr val="1B1B1B"/>
                          </a:solidFill>
                          <a:latin typeface="Arial"/>
                        </a:rPr>
                        <a:t> (Tính chọn Động cơ S3-40% &amp; kiểm nghiệm nhiệt) (</a:t>
                      </a:r>
                      <a:r>
                        <a:rPr sz="860" i="0" b="1">
                          <a:solidFill>
                            <a:srgbClr val="0E2841"/>
                          </a:solidFill>
                          <a:latin typeface="Arial"/>
                        </a:rPr>
                        <a:t>Drive + Mech Lead</a:t>
                      </a:r>
                      <a:r>
                        <a:rPr sz="860" i="0" b="1">
                          <a:solidFill>
                            <a:srgbClr val="1B1B1B"/>
                          </a:solidFill>
                          <a:latin typeface="Arial"/>
                        </a:rPr>
                        <a:t>)</a:t>
                      </a:r>
                    </a:p>
                  </a:txBody>
                  <a:tcPr anchor="ctr" marT="19050" marB="19050" marL="50800" marR="50800">
                    <a:solidFill>
                      <a:srgbClr val="FEF9E7"/>
                    </a:solidFill>
                  </a:tcPr>
                </a:tc>
              </a:tr>
              <a:tr h="546834">
                <a:tc>
                  <a:txBody>
                    <a:bodyPr wrap="square"/>
                    <a:lstStyle/>
                    <a:p>
                      <a:pPr algn="ctr"/>
                      <a:r>
                        <a:rPr sz="860" i="0" b="1">
                          <a:solidFill>
                            <a:srgbClr val="0E2841"/>
                          </a:solidFill>
                          <a:latin typeface="Arial"/>
                        </a:rPr>
                        <a:t>SRS-PERM-06</a:t>
                      </a:r>
                      <a:r>
                        <a:rPr sz="860" i="0" b="1">
                          <a:solidFill>
                            <a:srgbClr val="0E2841"/>
                          </a:solidFill>
                          <a:latin typeface="Arial"/>
                        </a:rPr>
                        <a:t>
</a:t>
                      </a:r>
                      <a:r>
                        <a:rPr sz="860" i="0" b="1">
                          <a:solidFill>
                            <a:srgbClr val="0E2841"/>
                          </a:solidFill>
                          <a:latin typeface="Arial"/>
                        </a:rPr>
                        <a:t>SRS-PERM-07</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INP-01..04, ASM-01..03</a:t>
                      </a:r>
                      <a:r>
                        <a:rPr sz="860" i="0" b="0">
                          <a:solidFill>
                            <a:srgbClr val="1B1B1B"/>
                          </a:solidFill>
                          <a:latin typeface="Arial"/>
                        </a:rPr>
                        <a:t>
← </a:t>
                      </a:r>
                      <a:r>
                        <a:rPr sz="860" i="0" b="1">
                          <a:solidFill>
                            <a:srgbClr val="0E2841"/>
                          </a:solidFill>
                          <a:latin typeface="Arial"/>
                        </a:rPr>
                        <a:t>PRD-01, PRD-08</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GAP-07:</a:t>
                      </a:r>
                      <a:r>
                        <a:rPr sz="860" i="0" b="0">
                          <a:solidFill>
                            <a:srgbClr val="1B1B1B"/>
                          </a:solidFill>
                          <a:latin typeface="Arial"/>
                        </a:rPr>
                        <a:t> Chưa xét sụt áp lưới </a:t>
                      </a:r>
                      <a:r>
                        <a:rPr sz="860" i="0" b="1">
                          <a:solidFill>
                            <a:srgbClr val="0E2841"/>
                          </a:solidFill>
                          <a:latin typeface="Arial"/>
                        </a:rPr>
                        <a:t>-10% (342V)</a:t>
                      </a:r>
                      <a:r>
                        <a:rPr sz="860" i="0" b="0">
                          <a:solidFill>
                            <a:srgbClr val="1B1B1B"/>
                          </a:solidFill>
                          <a:latin typeface="Arial"/>
                        </a:rPr>
                        <a:t> và biến thiên tải cơ học </a:t>
                      </a:r>
                      <a:r>
                        <a:rPr sz="860" i="0" b="1">
                          <a:solidFill>
                            <a:srgbClr val="0E2841"/>
                          </a:solidFill>
                          <a:latin typeface="Arial"/>
                        </a:rPr>
                        <a:t>7.04 lần</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CF2, CF6</a:t>
                      </a:r>
                      <a:r>
                        <a:rPr sz="860" i="0" b="0">
                          <a:solidFill>
                            <a:srgbClr val="1B1B1B"/>
                          </a:solidFill>
                          <a:latin typeface="Arial"/>
                        </a:rPr>
                        <a:t> (</a:t>
                      </a:r>
                      <a:r>
                        <a:rPr sz="860" i="0" b="1">
                          <a:solidFill>
                            <a:srgbClr val="0E2841"/>
                          </a:solidFill>
                          <a:latin typeface="Arial"/>
                        </a:rPr>
                        <a:t>η=0.96, d=0.25m</a:t>
                      </a:r>
                      <a:r>
                        <a:rPr sz="860" i="0" b="0">
                          <a:solidFill>
                            <a:srgbClr val="1B1B1B"/>
                          </a:solidFill>
                          <a:latin typeface="Arial"/>
                        </a:rPr>
                        <a:t>) kháng </a:t>
                      </a:r>
                      <a:r>
                        <a:rPr sz="860" i="0" b="1">
                          <a:solidFill>
                            <a:srgbClr val="0E2841"/>
                          </a:solidFill>
                          <a:latin typeface="Arial"/>
                        </a:rPr>
                        <a:t>N1, N2 (342÷418V)</a:t>
                      </a:r>
                      <a:r>
                        <a:rPr sz="860" i="0" b="0">
                          <a:solidFill>
                            <a:srgbClr val="1B1B1B"/>
                          </a:solidFill>
                          <a:latin typeface="Arial"/>
                        </a:rPr>
                        <a:t>; chặn lỗi </a:t>
                      </a:r>
                      <a:r>
                        <a:rPr sz="860" i="0" b="1">
                          <a:solidFill>
                            <a:srgbClr val="C00000"/>
                          </a:solidFill>
                          <a:latin typeface="Arial"/>
                        </a:rPr>
                        <a:t>E4</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RRM-04</a:t>
                      </a:r>
                      <a:r>
                        <a:rPr sz="860" i="0" b="0">
                          <a:solidFill>
                            <a:srgbClr val="1B1B1B"/>
                          </a:solidFill>
                          <a:latin typeface="Arial"/>
                        </a:rPr>
                        <a:t> (Bão hòa áp khi sụt lưới -10%)</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WBS 2.1</a:t>
                      </a:r>
                      <a:r>
                        <a:rPr sz="860" i="0" b="0">
                          <a:solidFill>
                            <a:srgbClr val="1B1B1B"/>
                          </a:solidFill>
                          <a:latin typeface="Arial"/>
                        </a:rPr>
                        <a:t> (Tính cơ khí &amp; hộp số), </a:t>
                      </a:r>
                      <a:r>
                        <a:rPr sz="860" i="0" b="1">
                          <a:solidFill>
                            <a:srgbClr val="0E2841"/>
                          </a:solidFill>
                          <a:latin typeface="Arial"/>
                        </a:rPr>
                        <a:t>WBS 2.2</a:t>
                      </a:r>
                      <a:r>
                        <a:rPr sz="860" i="0" b="0">
                          <a:solidFill>
                            <a:srgbClr val="1B1B1B"/>
                          </a:solidFill>
                          <a:latin typeface="Arial"/>
                        </a:rPr>
                        <a:t> (Dự trữ áp biến tần) (</a:t>
                      </a:r>
                      <a:r>
                        <a:rPr sz="860" i="0" b="1">
                          <a:solidFill>
                            <a:srgbClr val="0E2841"/>
                          </a:solidFill>
                          <a:latin typeface="Arial"/>
                        </a:rPr>
                        <a:t>Mech + Drive Lead</a:t>
                      </a:r>
                      <a:r>
                        <a:rPr sz="860" i="0" b="0">
                          <a:solidFill>
                            <a:srgbClr val="1B1B1B"/>
                          </a:solidFill>
                          <a:latin typeface="Arial"/>
                        </a:rPr>
                        <a:t>)</a:t>
                      </a:r>
                    </a:p>
                  </a:txBody>
                  <a:tcPr anchor="ctr" marT="19050" marB="19050" marL="50800" marR="50800">
                    <a:solidFill>
                      <a:srgbClr val="F8F9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11. KẾ HOẠCH KIỂM CHỨNG DVP&amp;R LEVEL 0 &amp; 4 KỊCH BẢN MÔ PHỎNG (TS-01 ÷ 04)</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Tổ hợp </a:t>
            </a:r>
            <a:r>
              <a:rPr sz="1350" i="0" b="1">
                <a:solidFill>
                  <a:srgbClr val="0E2841"/>
                </a:solidFill>
                <a:latin typeface="Arial"/>
              </a:rPr>
              <a:t>3 phương pháp kiểm chứng (A, S, I)</a:t>
            </a:r>
            <a:r>
              <a:rPr sz="1350" i="0" b="1">
                <a:solidFill>
                  <a:srgbClr val="C00000"/>
                </a:solidFill>
                <a:latin typeface="Arial"/>
              </a:rPr>
              <a:t> và </a:t>
            </a:r>
            <a:r>
              <a:rPr sz="1350" i="0" b="1">
                <a:solidFill>
                  <a:srgbClr val="0E2841"/>
                </a:solidFill>
                <a:latin typeface="Arial"/>
              </a:rPr>
              <a:t>4 kịch bản mô phỏng Master</a:t>
            </a:r>
            <a:r>
              <a:rPr sz="1350" i="0" b="1">
                <a:solidFill>
                  <a:srgbClr val="C00000"/>
                </a:solidFill>
                <a:latin typeface="Arial"/>
              </a:rPr>
              <a:t> bao phủ toàn bộ 14 yêu cầu SRS</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SOW-1.3 — DVP&amp;R Level 0 &amp; 4 Master Simulation Scenarios | Slide 12 / 16</a:t>
            </a:r>
          </a:p>
        </p:txBody>
      </p:sp>
      <p:graphicFrame>
        <p:nvGraphicFramePr>
          <p:cNvPr id="5" name="Table 4"/>
          <p:cNvGraphicFramePr>
            <a:graphicFrameLocks noGrp="1"/>
          </p:cNvGraphicFramePr>
          <p:nvPr/>
        </p:nvGraphicFramePr>
        <p:xfrm>
          <a:off x="310896" y="1234440"/>
          <a:ext cx="6903720" cy="3627240"/>
        </p:xfrm>
        <a:graphic>
          <a:graphicData uri="http://schemas.openxmlformats.org/drawingml/2006/table">
            <a:tbl>
              <a:tblPr firstRow="1" bandRow="1">
                <a:tableStyleId>{5C22544A-7EE6-4342-B048-85BDC9FD1C3A}</a:tableStyleId>
              </a:tblPr>
              <a:tblGrid>
                <a:gridCol w="1051560"/>
                <a:gridCol w="2240280"/>
                <a:gridCol w="2148840"/>
                <a:gridCol w="1463040"/>
              </a:tblGrid>
              <a:tr h="292608">
                <a:tc>
                  <a:txBody>
                    <a:bodyPr wrap="square"/>
                    <a:lstStyle/>
                    <a:p>
                      <a:pPr algn="ctr"/>
                      <a:r>
                        <a:rPr sz="1000" b="1">
                          <a:solidFill>
                            <a:srgbClr val="FFFFFF"/>
                          </a:solidFill>
                          <a:latin typeface="Arial"/>
                        </a:rPr>
                        <a:t>Mã Kịch bản</a:t>
                      </a:r>
                    </a:p>
                  </a:txBody>
                  <a:tcPr anchor="ctr" marT="19050" marB="19050" marL="50800" marR="50800">
                    <a:solidFill>
                      <a:srgbClr val="0E2841"/>
                    </a:solidFill>
                  </a:tcPr>
                </a:tc>
                <a:tc>
                  <a:txBody>
                    <a:bodyPr wrap="square"/>
                    <a:lstStyle/>
                    <a:p>
                      <a:pPr algn="ctr"/>
                      <a:r>
                        <a:rPr sz="1000" b="1">
                          <a:solidFill>
                            <a:srgbClr val="FFFFFF"/>
                          </a:solidFill>
                          <a:latin typeface="Arial"/>
                        </a:rPr>
                        <a:t>Tên Kịch bản Mô phỏng Master (Simulink)</a:t>
                      </a:r>
                    </a:p>
                  </a:txBody>
                  <a:tcPr anchor="ctr" marT="19050" marB="19050" marL="50800" marR="50800">
                    <a:solidFill>
                      <a:srgbClr val="0E2841"/>
                    </a:solidFill>
                  </a:tcPr>
                </a:tc>
                <a:tc>
                  <a:txBody>
                    <a:bodyPr wrap="square"/>
                    <a:lstStyle/>
                    <a:p>
                      <a:pPr algn="ctr"/>
                      <a:r>
                        <a:rPr sz="1000" b="1">
                          <a:solidFill>
                            <a:srgbClr val="FFFFFF"/>
                          </a:solidFill>
                          <a:latin typeface="Arial"/>
                        </a:rPr>
                        <a:t>Điều kiện Tải &amp; Nhiễu P-Diagram tiêm vào</a:t>
                      </a:r>
                    </a:p>
                  </a:txBody>
                  <a:tcPr anchor="ctr" marT="19050" marB="19050" marL="50800" marR="50800">
                    <a:solidFill>
                      <a:srgbClr val="0E2841"/>
                    </a:solidFill>
                  </a:tcPr>
                </a:tc>
                <a:tc>
                  <a:txBody>
                    <a:bodyPr wrap="square"/>
                    <a:lstStyle/>
                    <a:p>
                      <a:pPr algn="ctr"/>
                      <a:r>
                        <a:rPr sz="1000" b="1">
                          <a:solidFill>
                            <a:srgbClr val="FFFFFF"/>
                          </a:solidFill>
                          <a:latin typeface="Arial"/>
                        </a:rPr>
                        <a:t>Các bài đo DVP-L0 được thực thi</a:t>
                      </a:r>
                    </a:p>
                  </a:txBody>
                  <a:tcPr anchor="ctr" marT="19050" marB="19050" marL="50800" marR="50800">
                    <a:solidFill>
                      <a:srgbClr val="0E2841"/>
                    </a:solidFill>
                  </a:tcPr>
                </a:tc>
              </a:tr>
              <a:tr h="833658">
                <a:tc>
                  <a:txBody>
                    <a:bodyPr wrap="square"/>
                    <a:lstStyle/>
                    <a:p>
                      <a:pPr algn="ctr"/>
                      <a:r>
                        <a:rPr sz="890" i="0" b="1">
                          <a:solidFill>
                            <a:srgbClr val="0E2841"/>
                          </a:solidFill>
                          <a:latin typeface="Arial"/>
                        </a:rPr>
                        <a:t>TS-01</a:t>
                      </a:r>
                      <a:r>
                        <a:rPr sz="890" i="0" b="1">
                          <a:solidFill>
                            <a:srgbClr val="C00000"/>
                          </a:solidFill>
                          <a:latin typeface="Arial"/>
                        </a:rPr>
                        <a:t>
(Nominal &amp;
Multi-speed)</a:t>
                      </a:r>
                    </a:p>
                  </a:txBody>
                  <a:tcPr anchor="ctr" marT="19050" marB="19050" marL="50800" marR="50800">
                    <a:solidFill>
                      <a:srgbClr val="FEF9E7"/>
                    </a:solidFill>
                  </a:tcPr>
                </a:tc>
                <a:tc>
                  <a:txBody>
                    <a:bodyPr wrap="square"/>
                    <a:lstStyle/>
                    <a:p>
                      <a:pPr algn="l"/>
                      <a:r>
                        <a:rPr sz="890" i="0" b="1">
                          <a:solidFill>
                            <a:srgbClr val="0E2841"/>
                          </a:solidFill>
                          <a:latin typeface="Arial"/>
                        </a:rPr>
                        <a:t>Chu trình chuẩn S-Curve đa cấp tốc độ</a:t>
                      </a:r>
                      <a:r>
                        <a:rPr sz="890" i="0" b="1">
                          <a:solidFill>
                            <a:srgbClr val="1B1B1B"/>
                          </a:solidFill>
                          <a:latin typeface="Arial"/>
                        </a:rPr>
                        <a:t>
(Đứng yên → Giữ 0 rpm → Tăng tốc </a:t>
                      </a:r>
                      <a:r>
                        <a:rPr sz="890" i="0" b="1">
                          <a:solidFill>
                            <a:srgbClr val="0E2841"/>
                          </a:solidFill>
                          <a:latin typeface="Arial"/>
                        </a:rPr>
                        <a:t>0.12 m/s</a:t>
                      </a:r>
                      <a:r>
                        <a:rPr sz="890" i="0" b="1">
                          <a:solidFill>
                            <a:srgbClr val="1B1B1B"/>
                          </a:solidFill>
                          <a:latin typeface="Arial"/>
                        </a:rPr>
                        <a:t> → Hạ xuống </a:t>
                      </a:r>
                      <a:r>
                        <a:rPr sz="890" i="0" b="1">
                          <a:solidFill>
                            <a:srgbClr val="0E2841"/>
                          </a:solidFill>
                          <a:latin typeface="Arial"/>
                        </a:rPr>
                        <a:t>Creep 0.030 m/s</a:t>
                      </a:r>
                      <a:r>
                        <a:rPr sz="890" i="0" b="1">
                          <a:solidFill>
                            <a:srgbClr val="1B1B1B"/>
                          </a:solidFill>
                          <a:latin typeface="Arial"/>
                        </a:rPr>
                        <a:t> → Dừng Cat. 1)</a:t>
                      </a:r>
                    </a:p>
                  </a:txBody>
                  <a:tcPr anchor="ctr" marT="19050" marB="19050" marL="50800" marR="50800">
                    <a:solidFill>
                      <a:srgbClr val="FEF9E7"/>
                    </a:solidFill>
                  </a:tcPr>
                </a:tc>
                <a:tc>
                  <a:txBody>
                    <a:bodyPr wrap="square"/>
                    <a:lstStyle/>
                    <a:p>
                      <a:pPr algn="l"/>
                      <a:r>
                        <a:rPr sz="890" i="0" b="1">
                          <a:solidFill>
                            <a:srgbClr val="1B1B1B"/>
                          </a:solidFill>
                          <a:latin typeface="Arial"/>
                        </a:rPr>
                        <a:t>• Đầy tải </a:t>
                      </a:r>
                      <a:r>
                        <a:rPr sz="890" i="0" b="1">
                          <a:solidFill>
                            <a:srgbClr val="0E2841"/>
                          </a:solidFill>
                          <a:latin typeface="Arial"/>
                        </a:rPr>
                        <a:t>M_Σ = 14,244 kg</a:t>
                      </a:r>
                      <a:r>
                        <a:rPr sz="890" i="0" b="1">
                          <a:solidFill>
                            <a:srgbClr val="1B1B1B"/>
                          </a:solidFill>
                          <a:latin typeface="Arial"/>
                        </a:rPr>
                        <a:t> (</a:t>
                      </a:r>
                      <a:r>
                        <a:rPr sz="890" i="0" b="1">
                          <a:solidFill>
                            <a:srgbClr val="0E2841"/>
                          </a:solidFill>
                          <a:latin typeface="Arial"/>
                        </a:rPr>
                        <a:t>Q = 12,222 kg</a:t>
                      </a:r>
                      <a:r>
                        <a:rPr sz="890" i="0" b="1">
                          <a:solidFill>
                            <a:srgbClr val="1B1B1B"/>
                          </a:solidFill>
                          <a:latin typeface="Arial"/>
                        </a:rPr>
                        <a:t>), lưới định mức </a:t>
                      </a:r>
                      <a:r>
                        <a:rPr sz="890" i="0" b="1">
                          <a:solidFill>
                            <a:srgbClr val="0E2841"/>
                          </a:solidFill>
                          <a:latin typeface="Arial"/>
                        </a:rPr>
                        <a:t>380V/50Hz</a:t>
                      </a:r>
                      <a:r>
                        <a:rPr sz="890" i="0" b="1">
                          <a:solidFill>
                            <a:srgbClr val="1B1B1B"/>
                          </a:solidFill>
                          <a:latin typeface="Arial"/>
                        </a:rPr>
                        <a:t>, cáp treo </a:t>
                      </a:r>
                      <a:r>
                        <a:rPr sz="890" i="0" b="1">
                          <a:solidFill>
                            <a:srgbClr val="0E2841"/>
                          </a:solidFill>
                          <a:latin typeface="Arial"/>
                        </a:rPr>
                        <a:t>h = 12 m</a:t>
                      </a:r>
                      <a:r>
                        <a:rPr sz="890" i="0" b="1">
                          <a:solidFill>
                            <a:srgbClr val="1B1B1B"/>
                          </a:solidFill>
                          <a:latin typeface="Arial"/>
                        </a:rPr>
                        <a:t> (</a:t>
                      </a:r>
                      <a:r>
                        <a:rPr sz="890" i="0" b="1">
                          <a:solidFill>
                            <a:srgbClr val="0E2841"/>
                          </a:solidFill>
                          <a:latin typeface="Arial"/>
                        </a:rPr>
                        <a:t>N1</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DVP-L0-02, 03, 04, 05, 07, 08, 09, 10, 14</a:t>
                      </a:r>
                      <a:r>
                        <a:rPr sz="890" i="0" b="1">
                          <a:solidFill>
                            <a:srgbClr val="1B1B1B"/>
                          </a:solidFill>
                          <a:latin typeface="Arial"/>
                        </a:rPr>
                        <a:t>
*(9 bài đo cốt lõi)*</a:t>
                      </a:r>
                    </a:p>
                  </a:txBody>
                  <a:tcPr anchor="ctr" marT="19050" marB="19050" marL="50800" marR="50800">
                    <a:solidFill>
                      <a:srgbClr val="FEF9E7"/>
                    </a:solidFill>
                  </a:tcPr>
                </a:tc>
              </a:tr>
              <a:tr h="833658">
                <a:tc>
                  <a:txBody>
                    <a:bodyPr wrap="square"/>
                    <a:lstStyle/>
                    <a:p>
                      <a:pPr algn="ctr"/>
                      <a:r>
                        <a:rPr sz="890" i="0" b="1">
                          <a:solidFill>
                            <a:srgbClr val="0E2841"/>
                          </a:solidFill>
                          <a:latin typeface="Arial"/>
                        </a:rPr>
                        <a:t>TS-02</a:t>
                      </a:r>
                      <a:r>
                        <a:rPr sz="890" i="0" b="1">
                          <a:solidFill>
                            <a:srgbClr val="0E2841"/>
                          </a:solidFill>
                          <a:latin typeface="Arial"/>
                        </a:rPr>
                        <a:t>
(Load Swing &amp;
Step Noise)</a:t>
                      </a:r>
                    </a:p>
                  </a:txBody>
                  <a:tcPr anchor="ctr" marT="19050" marB="19050" marL="50800" marR="50800">
                    <a:solidFill>
                      <a:srgbClr val="F8F9FA"/>
                    </a:solidFill>
                  </a:tcPr>
                </a:tc>
                <a:tc>
                  <a:txBody>
                    <a:bodyPr wrap="square"/>
                    <a:lstStyle/>
                    <a:p>
                      <a:pPr algn="l"/>
                      <a:r>
                        <a:rPr sz="890" i="0" b="1">
                          <a:solidFill>
                            <a:srgbClr val="0E2841"/>
                          </a:solidFill>
                          <a:latin typeface="Arial"/>
                        </a:rPr>
                        <a:t>So sánh Không tải vs. Đầy tải &amp; Kháng nhiễu tải lắc</a:t>
                      </a:r>
                      <a:r>
                        <a:rPr sz="890" i="0" b="0">
                          <a:solidFill>
                            <a:srgbClr val="1B1B1B"/>
                          </a:solidFill>
                          <a:latin typeface="Arial"/>
                        </a:rPr>
                        <a:t>
(Chạy 2 trường hợp biên </a:t>
                      </a:r>
                      <a:r>
                        <a:rPr sz="890" i="0" b="1">
                          <a:solidFill>
                            <a:srgbClr val="0E2841"/>
                          </a:solidFill>
                          <a:latin typeface="Arial"/>
                        </a:rPr>
                        <a:t>2,022 kg</a:t>
                      </a:r>
                      <a:r>
                        <a:rPr sz="890" i="0" b="0">
                          <a:solidFill>
                            <a:srgbClr val="1B1B1B"/>
                          </a:solidFill>
                          <a:latin typeface="Arial"/>
                        </a:rPr>
                        <a:t> và </a:t>
                      </a:r>
                      <a:r>
                        <a:rPr sz="890" i="0" b="1">
                          <a:solidFill>
                            <a:srgbClr val="0E2841"/>
                          </a:solidFill>
                          <a:latin typeface="Arial"/>
                        </a:rPr>
                        <a:t>14,244 kg</a:t>
                      </a:r>
                      <a:r>
                        <a:rPr sz="890" i="0" b="0">
                          <a:solidFill>
                            <a:srgbClr val="1B1B1B"/>
                          </a:solidFill>
                          <a:latin typeface="Arial"/>
                        </a:rPr>
                        <a:t> + tiêm nhiễu mô-men ngang từ góc lắc cáp </a:t>
                      </a:r>
                      <a:r>
                        <a:rPr sz="890" i="0" b="1">
                          <a:solidFill>
                            <a:srgbClr val="0E2841"/>
                          </a:solidFill>
                          <a:latin typeface="Arial"/>
                        </a:rPr>
                        <a:t>θ(t)</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0">
                          <a:solidFill>
                            <a:srgbClr val="1B1B1B"/>
                          </a:solidFill>
                          <a:latin typeface="Arial"/>
                        </a:rPr>
                        <a:t>• Biến thiên khối lượng </a:t>
                      </a:r>
                      <a:r>
                        <a:rPr sz="890" i="0" b="1">
                          <a:solidFill>
                            <a:srgbClr val="0E2841"/>
                          </a:solidFill>
                          <a:latin typeface="Arial"/>
                        </a:rPr>
                        <a:t>7.04 lần</a:t>
                      </a:r>
                      <a:r>
                        <a:rPr sz="890" i="0" b="0">
                          <a:solidFill>
                            <a:srgbClr val="1B1B1B"/>
                          </a:solidFill>
                          <a:latin typeface="Arial"/>
                        </a:rPr>
                        <a:t> (</a:t>
                      </a:r>
                      <a:r>
                        <a:rPr sz="890" i="0" b="1">
                          <a:solidFill>
                            <a:srgbClr val="0E2841"/>
                          </a:solidFill>
                          <a:latin typeface="Arial"/>
                        </a:rPr>
                        <a:t>N1</a:t>
                      </a:r>
                      <a:r>
                        <a:rPr sz="890" i="0" b="0">
                          <a:solidFill>
                            <a:srgbClr val="1B1B1B"/>
                          </a:solidFill>
                          <a:latin typeface="Arial"/>
                        </a:rPr>
                        <a:t>), dao động con lắc cáp </a:t>
                      </a:r>
                      <a:r>
                        <a:rPr sz="890" i="0" b="1">
                          <a:solidFill>
                            <a:srgbClr val="0E2841"/>
                          </a:solidFill>
                          <a:latin typeface="Arial"/>
                        </a:rPr>
                        <a:t>ω_p = 0.904 rad/s</a:t>
                      </a:r>
                      <a:r>
                        <a:rPr sz="890" i="0" b="0">
                          <a:solidFill>
                            <a:srgbClr val="1B1B1B"/>
                          </a:solidFill>
                          <a:latin typeface="Arial"/>
                        </a:rPr>
                        <a:t>, ma sát ray </a:t>
                      </a:r>
                      <a:r>
                        <a:rPr sz="890" i="0" b="1">
                          <a:solidFill>
                            <a:srgbClr val="0E2841"/>
                          </a:solidFill>
                          <a:latin typeface="Arial"/>
                        </a:rPr>
                        <a:t>μ = 0.20</a:t>
                      </a:r>
                      <a:r>
                        <a:rPr sz="890" i="0" b="0">
                          <a:solidFill>
                            <a:srgbClr val="1B1B1B"/>
                          </a:solidFill>
                          <a:latin typeface="Arial"/>
                        </a:rPr>
                        <a:t> (</a:t>
                      </a:r>
                      <a:r>
                        <a:rPr sz="890" i="0" b="1">
                          <a:solidFill>
                            <a:srgbClr val="0E2841"/>
                          </a:solidFill>
                          <a:latin typeface="Arial"/>
                        </a:rPr>
                        <a:t>N3</a:t>
                      </a:r>
                      <a:r>
                        <a:rPr sz="890" i="0" b="0">
                          <a:solidFill>
                            <a:srgbClr val="1B1B1B"/>
                          </a:solidFill>
                          <a:latin typeface="Arial"/>
                        </a:rPr>
                        <a:t>).</a:t>
                      </a:r>
                    </a:p>
                  </a:txBody>
                  <a:tcPr anchor="ctr" marT="19050" marB="19050" marL="50800" marR="50800">
                    <a:solidFill>
                      <a:srgbClr val="F8F9FA"/>
                    </a:solidFill>
                  </a:tcPr>
                </a:tc>
                <a:tc>
                  <a:txBody>
                    <a:bodyPr wrap="square"/>
                    <a:lstStyle/>
                    <a:p>
                      <a:pPr algn="l"/>
                      <a:r>
                        <a:rPr sz="890" i="0" b="1">
                          <a:solidFill>
                            <a:srgbClr val="0E2841"/>
                          </a:solidFill>
                          <a:latin typeface="Arial"/>
                        </a:rPr>
                        <a:t>DVP-L0-04, 05, 06, 08, 10, 12</a:t>
                      </a:r>
                      <a:r>
                        <a:rPr sz="890" i="0" b="0">
                          <a:solidFill>
                            <a:srgbClr val="1B1B1B"/>
                          </a:solidFill>
                          <a:latin typeface="Arial"/>
                        </a:rPr>
                        <a:t>
*(6 bài đo bền vững)*</a:t>
                      </a:r>
                    </a:p>
                  </a:txBody>
                  <a:tcPr anchor="ctr" marT="19050" marB="19050" marL="50800" marR="50800">
                    <a:solidFill>
                      <a:srgbClr val="F8F9FA"/>
                    </a:solidFill>
                  </a:tcPr>
                </a:tc>
              </a:tr>
              <a:tr h="833658">
                <a:tc>
                  <a:txBody>
                    <a:bodyPr wrap="square"/>
                    <a:lstStyle/>
                    <a:p>
                      <a:pPr algn="ctr"/>
                      <a:r>
                        <a:rPr sz="890" i="0" b="1">
                          <a:solidFill>
                            <a:srgbClr val="0E2841"/>
                          </a:solidFill>
                          <a:latin typeface="Arial"/>
                        </a:rPr>
                        <a:t>TS-03</a:t>
                      </a:r>
                      <a:r>
                        <a:rPr sz="890" i="0" b="1">
                          <a:solidFill>
                            <a:srgbClr val="C00000"/>
                          </a:solidFill>
                          <a:latin typeface="Arial"/>
                        </a:rPr>
                        <a:t>
(Reversal &amp;
4Q Braking)</a:t>
                      </a:r>
                    </a:p>
                  </a:txBody>
                  <a:tcPr anchor="ctr" marT="19050" marB="19050" marL="50800" marR="50800">
                    <a:solidFill>
                      <a:srgbClr val="FEF9E7"/>
                    </a:solidFill>
                  </a:tcPr>
                </a:tc>
                <a:tc>
                  <a:txBody>
                    <a:bodyPr wrap="square"/>
                    <a:lstStyle/>
                    <a:p>
                      <a:pPr algn="l"/>
                      <a:r>
                        <a:rPr sz="890" i="0" b="1">
                          <a:solidFill>
                            <a:srgbClr val="0E2841"/>
                          </a:solidFill>
                          <a:latin typeface="Arial"/>
                        </a:rPr>
                        <a:t>Đảo chiều khẩn cấp &amp; Hãm tái sinh 4 góc phần tư</a:t>
                      </a:r>
                      <a:r>
                        <a:rPr sz="890" i="0" b="1">
                          <a:solidFill>
                            <a:srgbClr val="1B1B1B"/>
                          </a:solidFill>
                          <a:latin typeface="Arial"/>
                        </a:rPr>
                        <a:t>
(Đang chạy </a:t>
                      </a:r>
                      <a:r>
                        <a:rPr sz="890" i="0" b="1">
                          <a:solidFill>
                            <a:srgbClr val="0E2841"/>
                          </a:solidFill>
                          <a:latin typeface="Arial"/>
                        </a:rPr>
                        <a:t>+0.12 m/s</a:t>
                      </a:r>
                      <a:r>
                        <a:rPr sz="890" i="0" b="1">
                          <a:solidFill>
                            <a:srgbClr val="1B1B1B"/>
                          </a:solidFill>
                          <a:latin typeface="Arial"/>
                        </a:rPr>
                        <a:t> đầy tải thì phát lệnh đảo chiều sang </a:t>
                      </a:r>
                      <a:r>
                        <a:rPr sz="890" i="0" b="1">
                          <a:solidFill>
                            <a:srgbClr val="0E2841"/>
                          </a:solidFill>
                          <a:latin typeface="Arial"/>
                        </a:rPr>
                        <a:t>-0.12 m/s</a:t>
                      </a:r>
                      <a:r>
                        <a:rPr sz="890" i="0" b="1">
                          <a:solidFill>
                            <a:srgbClr val="1B1B1B"/>
                          </a:solidFill>
                          <a:latin typeface="Arial"/>
                        </a:rPr>
                        <a:t> tại áp lưới cao </a:t>
                      </a:r>
                      <a:r>
                        <a:rPr sz="890" i="0" b="1">
                          <a:solidFill>
                            <a:srgbClr val="0E2841"/>
                          </a:solidFill>
                          <a:latin typeface="Arial"/>
                        </a:rPr>
                        <a:t>+10%</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1B1B1B"/>
                          </a:solidFill>
                          <a:latin typeface="Arial"/>
                        </a:rPr>
                        <a:t>• Đầy tải </a:t>
                      </a:r>
                      <a:r>
                        <a:rPr sz="890" i="0" b="1">
                          <a:solidFill>
                            <a:srgbClr val="0E2841"/>
                          </a:solidFill>
                          <a:latin typeface="Arial"/>
                        </a:rPr>
                        <a:t>14,244 kg</a:t>
                      </a:r>
                      <a:r>
                        <a:rPr sz="890" i="0" b="1">
                          <a:solidFill>
                            <a:srgbClr val="1B1B1B"/>
                          </a:solidFill>
                          <a:latin typeface="Arial"/>
                        </a:rPr>
                        <a:t> (</a:t>
                      </a:r>
                      <a:r>
                        <a:rPr sz="890" i="0" b="1">
                          <a:solidFill>
                            <a:srgbClr val="0E2841"/>
                          </a:solidFill>
                          <a:latin typeface="Arial"/>
                        </a:rPr>
                        <a:t>N1</a:t>
                      </a:r>
                      <a:r>
                        <a:rPr sz="890" i="0" b="1">
                          <a:solidFill>
                            <a:srgbClr val="1B1B1B"/>
                          </a:solidFill>
                          <a:latin typeface="Arial"/>
                        </a:rPr>
                        <a:t>) + Lưới dâng áp </a:t>
                      </a:r>
                      <a:r>
                        <a:rPr sz="890" i="0" b="1">
                          <a:solidFill>
                            <a:srgbClr val="0E2841"/>
                          </a:solidFill>
                          <a:latin typeface="Arial"/>
                        </a:rPr>
                        <a:t>+10% (418V AC — N2)</a:t>
                      </a:r>
                      <a:r>
                        <a:rPr sz="890" i="0" b="1">
                          <a:solidFill>
                            <a:srgbClr val="1B1B1B"/>
                          </a:solidFill>
                          <a:latin typeface="Arial"/>
                        </a:rPr>
                        <a:t> ép trần áp DC-link khi hãm Q2/Q4.</a:t>
                      </a:r>
                    </a:p>
                  </a:txBody>
                  <a:tcPr anchor="ctr" marT="19050" marB="19050" marL="50800" marR="50800">
                    <a:solidFill>
                      <a:srgbClr val="FEF9E7"/>
                    </a:solidFill>
                  </a:tcPr>
                </a:tc>
                <a:tc>
                  <a:txBody>
                    <a:bodyPr wrap="square"/>
                    <a:lstStyle/>
                    <a:p>
                      <a:pPr algn="l"/>
                      <a:r>
                        <a:rPr sz="890" i="0" b="1">
                          <a:solidFill>
                            <a:srgbClr val="0E2841"/>
                          </a:solidFill>
                          <a:latin typeface="Arial"/>
                        </a:rPr>
                        <a:t>DVP-L0-01, 03, 06, 10</a:t>
                      </a:r>
                      <a:r>
                        <a:rPr sz="890" i="0" b="1">
                          <a:solidFill>
                            <a:srgbClr val="1B1B1B"/>
                          </a:solidFill>
                          <a:latin typeface="Arial"/>
                        </a:rPr>
                        <a:t>
*(4 bài đo an toàn CTS)*</a:t>
                      </a:r>
                    </a:p>
                  </a:txBody>
                  <a:tcPr anchor="ctr" marT="19050" marB="19050" marL="50800" marR="50800">
                    <a:solidFill>
                      <a:srgbClr val="FEF9E7"/>
                    </a:solidFill>
                  </a:tcPr>
                </a:tc>
              </a:tr>
              <a:tr h="833658">
                <a:tc>
                  <a:txBody>
                    <a:bodyPr wrap="square"/>
                    <a:lstStyle/>
                    <a:p>
                      <a:pPr algn="ctr"/>
                      <a:r>
                        <a:rPr sz="890" i="0" b="1">
                          <a:solidFill>
                            <a:srgbClr val="0E2841"/>
                          </a:solidFill>
                          <a:latin typeface="Arial"/>
                        </a:rPr>
                        <a:t>TS-04</a:t>
                      </a:r>
                      <a:r>
                        <a:rPr sz="890" i="0" b="1">
                          <a:solidFill>
                            <a:srgbClr val="C00000"/>
                          </a:solidFill>
                          <a:latin typeface="Arial"/>
                        </a:rPr>
                        <a:t>
(Thermal S3 &amp;
Undervoltage)</a:t>
                      </a:r>
                    </a:p>
                  </a:txBody>
                  <a:tcPr anchor="ctr" marT="19050" marB="19050" marL="50800" marR="50800">
                    <a:solidFill>
                      <a:srgbClr val="FEF9E7"/>
                    </a:solidFill>
                  </a:tcPr>
                </a:tc>
                <a:tc>
                  <a:txBody>
                    <a:bodyPr wrap="square"/>
                    <a:lstStyle/>
                    <a:p>
                      <a:pPr algn="l"/>
                      <a:r>
                        <a:rPr sz="890" i="0" b="1">
                          <a:solidFill>
                            <a:srgbClr val="0E2841"/>
                          </a:solidFill>
                          <a:latin typeface="Arial"/>
                        </a:rPr>
                        <a:t>Chu kỳ lặp S3-40% (10 phút) &amp; Sụt áp lưới -10%</a:t>
                      </a:r>
                      <a:r>
                        <a:rPr sz="890" i="0" b="1">
                          <a:solidFill>
                            <a:srgbClr val="1B1B1B"/>
                          </a:solidFill>
                          <a:latin typeface="Arial"/>
                        </a:rPr>
                        <a:t>
(Chạy lặp liên tục chu kỳ </a:t>
                      </a:r>
                      <a:r>
                        <a:rPr sz="890" i="0" b="1">
                          <a:solidFill>
                            <a:srgbClr val="0E2841"/>
                          </a:solidFill>
                          <a:latin typeface="Arial"/>
                        </a:rPr>
                        <a:t>4 phút chạy / 6 phút nghỉ</a:t>
                      </a:r>
                      <a:r>
                        <a:rPr sz="890" i="0" b="1">
                          <a:solidFill>
                            <a:srgbClr val="1B1B1B"/>
                          </a:solidFill>
                          <a:latin typeface="Arial"/>
                        </a:rPr>
                        <a:t> ở </a:t>
                      </a:r>
                      <a:r>
                        <a:rPr sz="890" i="0" b="1">
                          <a:solidFill>
                            <a:srgbClr val="0E2841"/>
                          </a:solidFill>
                          <a:latin typeface="Arial"/>
                        </a:rPr>
                        <a:t>40°C</a:t>
                      </a:r>
                      <a:r>
                        <a:rPr sz="890" i="0" b="1">
                          <a:solidFill>
                            <a:srgbClr val="1B1B1B"/>
                          </a:solidFill>
                          <a:latin typeface="Arial"/>
                        </a:rPr>
                        <a:t> và kiểm tra tại áp lưới thấp </a:t>
                      </a:r>
                      <a:r>
                        <a:rPr sz="890" i="0" b="1">
                          <a:solidFill>
                            <a:srgbClr val="0E2841"/>
                          </a:solidFill>
                          <a:latin typeface="Arial"/>
                        </a:rPr>
                        <a:t>342V AC</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1B1B1B"/>
                          </a:solidFill>
                          <a:latin typeface="Arial"/>
                        </a:rPr>
                        <a:t>• Nhiệt độ </a:t>
                      </a:r>
                      <a:r>
                        <a:rPr sz="890" i="0" b="1">
                          <a:solidFill>
                            <a:srgbClr val="0E2841"/>
                          </a:solidFill>
                          <a:latin typeface="Arial"/>
                        </a:rPr>
                        <a:t>40°C</a:t>
                      </a:r>
                      <a:r>
                        <a:rPr sz="890" i="0" b="1">
                          <a:solidFill>
                            <a:srgbClr val="1B1B1B"/>
                          </a:solidFill>
                          <a:latin typeface="Arial"/>
                        </a:rPr>
                        <a:t> làm tăng </a:t>
                      </a:r>
                      <a:r>
                        <a:rPr sz="890" i="0" b="1">
                          <a:solidFill>
                            <a:srgbClr val="0E2841"/>
                          </a:solidFill>
                          <a:latin typeface="Arial"/>
                        </a:rPr>
                        <a:t>R_r +25%</a:t>
                      </a:r>
                      <a:r>
                        <a:rPr sz="890" i="0" b="1">
                          <a:solidFill>
                            <a:srgbClr val="1B1B1B"/>
                          </a:solidFill>
                          <a:latin typeface="Arial"/>
                        </a:rPr>
                        <a:t> (</a:t>
                      </a:r>
                      <a:r>
                        <a:rPr sz="890" i="0" b="1">
                          <a:solidFill>
                            <a:srgbClr val="0E2841"/>
                          </a:solidFill>
                          <a:latin typeface="Arial"/>
                        </a:rPr>
                        <a:t>N4</a:t>
                      </a:r>
                      <a:r>
                        <a:rPr sz="890" i="0" b="1">
                          <a:solidFill>
                            <a:srgbClr val="1B1B1B"/>
                          </a:solidFill>
                          <a:latin typeface="Arial"/>
                        </a:rPr>
                        <a:t>) + Sụt áp lưới </a:t>
                      </a:r>
                      <a:r>
                        <a:rPr sz="890" i="0" b="1">
                          <a:solidFill>
                            <a:srgbClr val="0E2841"/>
                          </a:solidFill>
                          <a:latin typeface="Arial"/>
                        </a:rPr>
                        <a:t>-10% (342V AC — N2)</a:t>
                      </a:r>
                      <a:r>
                        <a:rPr sz="890" i="0" b="1">
                          <a:solidFill>
                            <a:srgbClr val="1B1B1B"/>
                          </a:solidFill>
                          <a:latin typeface="Arial"/>
                        </a:rPr>
                        <a:t> + Đầy tải </a:t>
                      </a:r>
                      <a:r>
                        <a:rPr sz="890" i="0" b="1">
                          <a:solidFill>
                            <a:srgbClr val="0E2841"/>
                          </a:solidFill>
                          <a:latin typeface="Arial"/>
                        </a:rPr>
                        <a:t>14,244 kg</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DVP-L0-11, 12, 13, 14</a:t>
                      </a:r>
                      <a:r>
                        <a:rPr sz="890" i="0" b="1">
                          <a:solidFill>
                            <a:srgbClr val="1B1B1B"/>
                          </a:solidFill>
                          <a:latin typeface="Arial"/>
                        </a:rPr>
                        <a:t>
*(4 bài đo nhiệt &amp; lưới)*</a:t>
                      </a:r>
                    </a:p>
                  </a:txBody>
                  <a:tcPr anchor="ctr" marT="19050" marB="19050" marL="50800" marR="50800">
                    <a:solidFill>
                      <a:srgbClr val="FEF9E7"/>
                    </a:solidFill>
                  </a:tcPr>
                </a:tc>
              </a:tr>
            </a:tbl>
          </a:graphicData>
        </a:graphic>
      </p:graphicFrame>
      <p:sp>
        <p:nvSpPr>
          <p:cNvPr id="6" name="Rounded Rectangle 5"/>
          <p:cNvSpPr/>
          <p:nvPr/>
        </p:nvSpPr>
        <p:spPr>
          <a:xfrm>
            <a:off x="310896" y="5138928"/>
            <a:ext cx="6903720" cy="1042415"/>
          </a:xfrm>
          <a:prstGeom prst="roundRect">
            <a:avLst>
              <a:gd name="adj" fmla="val 3000"/>
            </a:avLst>
          </a:prstGeom>
          <a:solidFill>
            <a:srgbClr val="F4F6F9"/>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19" b="1">
                <a:solidFill>
                  <a:srgbClr val="0E2841"/>
                </a:solidFill>
                <a:latin typeface="Arial"/>
              </a:rPr>
              <a:t>PHỐI HỢP 3 PHƯƠNG PHÁP KIỂM CHỨNG: A (ANALYSIS) + S (SIMULATION) + I (INSPECTION)</a:t>
            </a:r>
          </a:p>
          <a:p>
            <a:pPr>
              <a:spcAft>
                <a:spcPts val="150"/>
              </a:spcAft>
            </a:pPr>
            <a:r>
              <a:rPr sz="919" i="0" b="0">
                <a:solidFill>
                  <a:srgbClr val="1B1B1B"/>
                </a:solidFill>
                <a:latin typeface="Arial"/>
              </a:rPr>
              <a:t>• </a:t>
            </a:r>
            <a:r>
              <a:rPr sz="919" i="0" b="1">
                <a:solidFill>
                  <a:srgbClr val="0E2841"/>
                </a:solidFill>
                <a:latin typeface="Arial"/>
              </a:rPr>
              <a:t>A (Giải tích):</a:t>
            </a:r>
            <a:r>
              <a:rPr sz="919" i="0" b="0">
                <a:solidFill>
                  <a:srgbClr val="1B1B1B"/>
                </a:solidFill>
                <a:latin typeface="Arial"/>
              </a:rPr>
              <a:t> Tính công suất </a:t>
            </a:r>
            <a:r>
              <a:rPr sz="919" i="0" b="1">
                <a:solidFill>
                  <a:srgbClr val="0E2841"/>
                </a:solidFill>
                <a:latin typeface="Arial"/>
              </a:rPr>
              <a:t>P_eq,S340%</a:t>
            </a:r>
            <a:r>
              <a:rPr sz="919" i="0" b="0">
                <a:solidFill>
                  <a:srgbClr val="1B1B1B"/>
                </a:solidFill>
                <a:latin typeface="Arial"/>
              </a:rPr>
              <a:t>, điện trở xả </a:t>
            </a:r>
            <a:r>
              <a:rPr sz="919" i="0" b="1">
                <a:solidFill>
                  <a:srgbClr val="0E2841"/>
                </a:solidFill>
                <a:latin typeface="Arial"/>
              </a:rPr>
              <a:t>R_h</a:t>
            </a:r>
            <a:r>
              <a:rPr sz="919" i="0" b="0">
                <a:solidFill>
                  <a:srgbClr val="1B1B1B"/>
                </a:solidFill>
                <a:latin typeface="Arial"/>
              </a:rPr>
              <a:t>, hệ số bám </a:t>
            </a:r>
            <a:r>
              <a:rPr sz="919" i="0" b="1">
                <a:solidFill>
                  <a:srgbClr val="0E2841"/>
                </a:solidFill>
                <a:latin typeface="Arial"/>
              </a:rPr>
              <a:t>k_bám = 3.92</a:t>
            </a:r>
            <a:r>
              <a:rPr sz="919" i="0" b="0">
                <a:solidFill>
                  <a:srgbClr val="1B1B1B"/>
                </a:solidFill>
                <a:latin typeface="Arial"/>
              </a:rPr>
              <a:t>, tham số PI tại Khối 2 &amp; 3.</a:t>
            </a:r>
          </a:p>
          <a:p>
            <a:pPr>
              <a:spcAft>
                <a:spcPts val="150"/>
              </a:spcAft>
            </a:pPr>
            <a:r>
              <a:rPr sz="919" i="0" b="0">
                <a:solidFill>
                  <a:srgbClr val="1B1B1B"/>
                </a:solidFill>
                <a:latin typeface="Arial"/>
              </a:rPr>
              <a:t>• </a:t>
            </a:r>
            <a:r>
              <a:rPr sz="919" i="0" b="1">
                <a:solidFill>
                  <a:srgbClr val="0E2841"/>
                </a:solidFill>
                <a:latin typeface="Arial"/>
              </a:rPr>
              <a:t>S (Mô phỏng) &amp; I (Thanh tra):</a:t>
            </a:r>
            <a:r>
              <a:rPr sz="919" i="0" b="0">
                <a:solidFill>
                  <a:srgbClr val="1B1B1B"/>
                </a:solidFill>
                <a:latin typeface="Arial"/>
              </a:rPr>
              <a:t> Kiểm tra khóa liên động logic và đo kiểm trên </a:t>
            </a:r>
            <a:r>
              <a:rPr sz="919" i="0" b="1">
                <a:solidFill>
                  <a:srgbClr val="0E2841"/>
                </a:solidFill>
                <a:latin typeface="Arial"/>
              </a:rPr>
              <a:t>Simulink (T_s ≤ 10⁻⁴ s)</a:t>
            </a:r>
            <a:r>
              <a:rPr sz="919" i="0" b="0">
                <a:solidFill>
                  <a:srgbClr val="1B1B1B"/>
                </a:solidFill>
                <a:latin typeface="Arial"/>
              </a:rPr>
              <a:t> tại Khối 4 &amp; 5.</a:t>
            </a:r>
          </a:p>
        </p:txBody>
      </p:sp>
      <p:sp>
        <p:nvSpPr>
          <p:cNvPr id="7" name="Rounded Rectangle 6"/>
          <p:cNvSpPr/>
          <p:nvPr/>
        </p:nvSpPr>
        <p:spPr>
          <a:xfrm>
            <a:off x="7333488" y="1234440"/>
            <a:ext cx="4544568" cy="2432304"/>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ta_s16_sh3.jpg"/>
          <p:cNvPicPr>
            <a:picLocks noChangeAspect="1"/>
          </p:cNvPicPr>
          <p:nvPr/>
        </p:nvPicPr>
        <p:blipFill>
          <a:blip r:embed="rId3"/>
          <a:stretch>
            <a:fillRect/>
          </a:stretch>
        </p:blipFill>
        <p:spPr>
          <a:xfrm>
            <a:off x="8231110" y="1280160"/>
            <a:ext cx="2749323" cy="2052828"/>
          </a:xfrm>
          <a:prstGeom prst="rect">
            <a:avLst/>
          </a:prstGeom>
        </p:spPr>
      </p:pic>
      <p:sp>
        <p:nvSpPr>
          <p:cNvPr id="9" name="TextBox 8"/>
          <p:cNvSpPr txBox="1"/>
          <p:nvPr/>
        </p:nvSpPr>
        <p:spPr>
          <a:xfrm>
            <a:off x="7370063" y="3355848"/>
            <a:ext cx="4471416" cy="292608"/>
          </a:xfrm>
          <a:prstGeom prst="rect">
            <a:avLst/>
          </a:prstGeom>
          <a:noFill/>
        </p:spPr>
        <p:txBody>
          <a:bodyPr wrap="square" anchor="ctr" lIns="12700" tIns="12700" rIns="12700" bIns="12700">
            <a:spAutoFit/>
          </a:bodyPr>
          <a:lstStyle/>
          <a:p>
            <a:pPr algn="ctr"/>
            <a:r>
              <a:rPr sz="880" b="1" i="1">
                <a:solidFill>
                  <a:srgbClr val="0E2841"/>
                </a:solidFill>
                <a:latin typeface="Arial"/>
              </a:rPr>
              <a:t>Hình 1.3: Quỹ đạo S-Curve 7 pha (s, v, a, ρ) trong TS-01 &amp; TS-02</a:t>
            </a:r>
          </a:p>
        </p:txBody>
      </p:sp>
      <p:sp>
        <p:nvSpPr>
          <p:cNvPr id="10" name="Rounded Rectangle 9"/>
          <p:cNvSpPr/>
          <p:nvPr/>
        </p:nvSpPr>
        <p:spPr>
          <a:xfrm>
            <a:off x="7333488" y="3767328"/>
            <a:ext cx="4544568" cy="2432304"/>
          </a:xfrm>
          <a:prstGeom prst="roundRect">
            <a:avLst>
              <a:gd name="adj" fmla="val 2000"/>
            </a:avLst>
          </a:prstGeom>
          <a:solidFill>
            <a:srgbClr val="FFFFFF"/>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ta_s17_sh3.jpg"/>
          <p:cNvPicPr>
            <a:picLocks noChangeAspect="1"/>
          </p:cNvPicPr>
          <p:nvPr/>
        </p:nvPicPr>
        <p:blipFill>
          <a:blip r:embed="rId4"/>
          <a:stretch>
            <a:fillRect/>
          </a:stretch>
        </p:blipFill>
        <p:spPr>
          <a:xfrm>
            <a:off x="8231110" y="3813048"/>
            <a:ext cx="2749323" cy="2052828"/>
          </a:xfrm>
          <a:prstGeom prst="rect">
            <a:avLst/>
          </a:prstGeom>
        </p:spPr>
      </p:pic>
      <p:sp>
        <p:nvSpPr>
          <p:cNvPr id="12" name="TextBox 11"/>
          <p:cNvSpPr txBox="1"/>
          <p:nvPr/>
        </p:nvSpPr>
        <p:spPr>
          <a:xfrm>
            <a:off x="7370063" y="5888736"/>
            <a:ext cx="4471416" cy="292608"/>
          </a:xfrm>
          <a:prstGeom prst="rect">
            <a:avLst/>
          </a:prstGeom>
          <a:noFill/>
        </p:spPr>
        <p:txBody>
          <a:bodyPr wrap="square" anchor="ctr" lIns="12700" tIns="12700" rIns="12700" bIns="12700">
            <a:spAutoFit/>
          </a:bodyPr>
          <a:lstStyle/>
          <a:p>
            <a:pPr algn="ctr"/>
            <a:r>
              <a:rPr sz="880" b="1" i="1">
                <a:solidFill>
                  <a:srgbClr val="0E2841"/>
                </a:solidFill>
                <a:latin typeface="Arial"/>
              </a:rPr>
              <a:t>Hình 1.4: Vận hành 4 góc phần tư &amp; Hãm tái sinh qua R_h trong TS-03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12. TIÊU CHÍ NGHIỆM THU PASS/FAIL CHO 14 BÀI TEST DVP&amp;R LEVEL 0</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Khóa chặt ngưỡng </a:t>
            </a:r>
            <a:r>
              <a:rPr sz="1350" i="0" b="1">
                <a:solidFill>
                  <a:srgbClr val="0E2841"/>
                </a:solidFill>
                <a:latin typeface="Arial"/>
              </a:rPr>
              <a:t>Pass/Fail định lượng</a:t>
            </a:r>
            <a:r>
              <a:rPr sz="1350" i="0" b="1">
                <a:solidFill>
                  <a:srgbClr val="C00000"/>
                </a:solidFill>
                <a:latin typeface="Arial"/>
              </a:rPr>
              <a:t> cho từng yêu cầu </a:t>
            </a:r>
            <a:r>
              <a:rPr sz="1350" i="0" b="1">
                <a:solidFill>
                  <a:srgbClr val="0E2841"/>
                </a:solidFill>
                <a:latin typeface="Arial"/>
              </a:rPr>
              <a:t>SRS-FUNC-01..07</a:t>
            </a:r>
            <a:r>
              <a:rPr sz="1350" i="0" b="1">
                <a:solidFill>
                  <a:srgbClr val="C00000"/>
                </a:solidFill>
                <a:latin typeface="Arial"/>
              </a:rPr>
              <a:t> (Bảng trái) và </a:t>
            </a:r>
            <a:r>
              <a:rPr sz="1350" i="0" b="1">
                <a:solidFill>
                  <a:srgbClr val="0E2841"/>
                </a:solidFill>
                <a:latin typeface="Arial"/>
              </a:rPr>
              <a:t>SRS-PERM-01..07</a:t>
            </a:r>
            <a:r>
              <a:rPr sz="1350" i="0" b="1">
                <a:solidFill>
                  <a:srgbClr val="C00000"/>
                </a:solidFill>
                <a:latin typeface="Arial"/>
              </a:rPr>
              <a:t> (Bảng phải)</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SOW-1.3 — 14 Atomic DVP-L0 Pass/Fail Criteria | Slide 13 / 16</a:t>
            </a:r>
          </a:p>
        </p:txBody>
      </p:sp>
      <p:graphicFrame>
        <p:nvGraphicFramePr>
          <p:cNvPr id="5" name="Table 4"/>
          <p:cNvGraphicFramePr>
            <a:graphicFrameLocks noGrp="1"/>
          </p:cNvGraphicFramePr>
          <p:nvPr/>
        </p:nvGraphicFramePr>
        <p:xfrm>
          <a:off x="310896" y="1234440"/>
          <a:ext cx="5705856" cy="4667279"/>
        </p:xfrm>
        <a:graphic>
          <a:graphicData uri="http://schemas.openxmlformats.org/drawingml/2006/table">
            <a:tbl>
              <a:tblPr firstRow="1" bandRow="1">
                <a:tableStyleId>{5C22544A-7EE6-4342-B048-85BDC9FD1C3A}</a:tableStyleId>
              </a:tblPr>
              <a:tblGrid>
                <a:gridCol w="932688"/>
                <a:gridCol w="841248"/>
                <a:gridCol w="868680"/>
                <a:gridCol w="3063240"/>
              </a:tblGrid>
              <a:tr h="292608">
                <a:tc>
                  <a:txBody>
                    <a:bodyPr wrap="square"/>
                    <a:lstStyle/>
                    <a:p>
                      <a:pPr algn="ctr"/>
                      <a:r>
                        <a:rPr sz="969" b="1">
                          <a:solidFill>
                            <a:srgbClr val="FFFFFF"/>
                          </a:solidFill>
                          <a:latin typeface="Arial"/>
                        </a:rPr>
                        <a:t>Mã Test</a:t>
                      </a:r>
                    </a:p>
                  </a:txBody>
                  <a:tcPr anchor="ctr" marT="19050" marB="19050" marL="50800" marR="50800">
                    <a:solidFill>
                      <a:srgbClr val="0E2841"/>
                    </a:solidFill>
                  </a:tcPr>
                </a:tc>
                <a:tc>
                  <a:txBody>
                    <a:bodyPr wrap="square"/>
                    <a:lstStyle/>
                    <a:p>
                      <a:pPr algn="ctr"/>
                      <a:r>
                        <a:rPr sz="969" b="1">
                          <a:solidFill>
                            <a:srgbClr val="FFFFFF"/>
                          </a:solidFill>
                          <a:latin typeface="Arial"/>
                        </a:rPr>
                        <a:t>SRS</a:t>
                      </a:r>
                    </a:p>
                  </a:txBody>
                  <a:tcPr anchor="ctr" marT="19050" marB="19050" marL="50800" marR="50800">
                    <a:solidFill>
                      <a:srgbClr val="0E2841"/>
                    </a:solidFill>
                  </a:tcPr>
                </a:tc>
                <a:tc>
                  <a:txBody>
                    <a:bodyPr wrap="square"/>
                    <a:lstStyle/>
                    <a:p>
                      <a:pPr algn="ctr"/>
                      <a:r>
                        <a:rPr sz="969" b="1">
                          <a:solidFill>
                            <a:srgbClr val="FFFFFF"/>
                          </a:solidFill>
                          <a:latin typeface="Arial"/>
                        </a:rPr>
                        <a:t>Kịch bản &amp; PP</a:t>
                      </a:r>
                    </a:p>
                  </a:txBody>
                  <a:tcPr anchor="ctr" marT="19050" marB="19050" marL="50800" marR="50800">
                    <a:solidFill>
                      <a:srgbClr val="0E2841"/>
                    </a:solidFill>
                  </a:tcPr>
                </a:tc>
                <a:tc>
                  <a:txBody>
                    <a:bodyPr wrap="square"/>
                    <a:lstStyle/>
                    <a:p>
                      <a:pPr algn="ctr"/>
                      <a:r>
                        <a:rPr sz="969" b="1">
                          <a:solidFill>
                            <a:srgbClr val="FFFFFF"/>
                          </a:solidFill>
                          <a:latin typeface="Arial"/>
                        </a:rPr>
                        <a:t>Tiêu chí Nghiệm thu Đạt (PASS Criteria — Nhóm FUNC)</a:t>
                      </a:r>
                    </a:p>
                  </a:txBody>
                  <a:tcPr anchor="ctr" marT="19050" marB="19050" marL="50800" marR="50800">
                    <a:solidFill>
                      <a:srgbClr val="0E2841"/>
                    </a:solidFill>
                  </a:tcPr>
                </a:tc>
              </a:tr>
              <a:tr h="624953">
                <a:tc>
                  <a:txBody>
                    <a:bodyPr wrap="square"/>
                    <a:lstStyle/>
                    <a:p>
                      <a:pPr algn="ctr"/>
                      <a:r>
                        <a:rPr sz="870" i="0" b="1">
                          <a:solidFill>
                            <a:srgbClr val="0E2841"/>
                          </a:solidFill>
                          <a:latin typeface="Arial"/>
                        </a:rPr>
                        <a:t>DVP-L0-01</a:t>
                      </a:r>
                    </a:p>
                  </a:txBody>
                  <a:tcPr anchor="ctr" marT="19050" marB="19050" marL="50800" marR="50800">
                    <a:solidFill>
                      <a:srgbClr val="FDEDEC"/>
                    </a:solidFill>
                  </a:tcPr>
                </a:tc>
                <a:tc>
                  <a:txBody>
                    <a:bodyPr wrap="square"/>
                    <a:lstStyle/>
                    <a:p>
                      <a:pPr algn="l"/>
                      <a:r>
                        <a:rPr sz="870" i="0" b="1">
                          <a:solidFill>
                            <a:srgbClr val="0E2841"/>
                          </a:solidFill>
                          <a:latin typeface="Arial"/>
                        </a:rPr>
                        <a:t>FUNC-01</a:t>
                      </a:r>
                      <a:r>
                        <a:rPr sz="870" i="0" b="1">
                          <a:solidFill>
                            <a:srgbClr val="1B1B1B"/>
                          </a:solidFill>
                          <a:latin typeface="Arial"/>
                        </a:rPr>
                        <a:t>
(CTS-01)</a:t>
                      </a:r>
                    </a:p>
                  </a:txBody>
                  <a:tcPr anchor="ctr" marT="19050" marB="19050" marL="50800" marR="50800">
                    <a:solidFill>
                      <a:srgbClr val="FDEDEC"/>
                    </a:solidFill>
                  </a:tcPr>
                </a:tc>
                <a:tc>
                  <a:txBody>
                    <a:bodyPr wrap="square"/>
                    <a:lstStyle/>
                    <a:p>
                      <a:pPr algn="l"/>
                      <a:r>
                        <a:rPr sz="870" i="0" b="1">
                          <a:solidFill>
                            <a:srgbClr val="0E2841"/>
                          </a:solidFill>
                          <a:latin typeface="Arial"/>
                        </a:rPr>
                        <a:t>TS-03</a:t>
                      </a:r>
                      <a:r>
                        <a:rPr sz="870" i="0" b="1">
                          <a:solidFill>
                            <a:srgbClr val="1B1B1B"/>
                          </a:solidFill>
                          <a:latin typeface="Arial"/>
                        </a:rPr>
                        <a:t>
(S, I)</a:t>
                      </a:r>
                    </a:p>
                  </a:txBody>
                  <a:tcPr anchor="ctr" marT="19050" marB="19050" marL="50800" marR="50800">
                    <a:solidFill>
                      <a:srgbClr val="FDEDEC"/>
                    </a:solidFill>
                  </a:tcPr>
                </a:tc>
                <a:tc>
                  <a:txBody>
                    <a:bodyPr wrap="square"/>
                    <a:lstStyle/>
                    <a:p>
                      <a:pPr algn="l"/>
                      <a:r>
                        <a:rPr sz="870" i="0" b="1">
                          <a:solidFill>
                            <a:srgbClr val="1B1B1B"/>
                          </a:solidFill>
                          <a:latin typeface="Arial"/>
                        </a:rPr>
                        <a:t>Đảo chiều êm không đảo pha cứng; mô-men chủ động chỉ đổi dấu sau khi </a:t>
                      </a:r>
                      <a:r>
                        <a:rPr sz="870" i="0" b="1">
                          <a:solidFill>
                            <a:srgbClr val="0E2841"/>
                          </a:solidFill>
                          <a:latin typeface="Arial"/>
                        </a:rPr>
                        <a:t>|v_xe(t)| = 0 m/s</a:t>
                      </a:r>
                      <a:r>
                        <a:rPr sz="87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70" i="0" b="1">
                          <a:solidFill>
                            <a:srgbClr val="0E2841"/>
                          </a:solidFill>
                          <a:latin typeface="Arial"/>
                        </a:rPr>
                        <a:t>DVP-L0-02</a:t>
                      </a:r>
                    </a:p>
                  </a:txBody>
                  <a:tcPr anchor="ctr" marT="19050" marB="19050" marL="50800" marR="50800">
                    <a:solidFill>
                      <a:srgbClr val="F8F9FA"/>
                    </a:solidFill>
                  </a:tcPr>
                </a:tc>
                <a:tc>
                  <a:txBody>
                    <a:bodyPr wrap="square"/>
                    <a:lstStyle/>
                    <a:p>
                      <a:pPr algn="l"/>
                      <a:r>
                        <a:rPr sz="870" i="0" b="1">
                          <a:solidFill>
                            <a:srgbClr val="0E2841"/>
                          </a:solidFill>
                          <a:latin typeface="Arial"/>
                        </a:rPr>
                        <a:t>FUNC-02</a:t>
                      </a:r>
                    </a:p>
                  </a:txBody>
                  <a:tcPr anchor="ctr" marT="19050" marB="19050" marL="50800" marR="50800">
                    <a:solidFill>
                      <a:srgbClr val="F8F9FA"/>
                    </a:solidFill>
                  </a:tcPr>
                </a:tc>
                <a:tc>
                  <a:txBody>
                    <a:bodyPr wrap="square"/>
                    <a:lstStyle/>
                    <a:p>
                      <a:pPr algn="l"/>
                      <a:r>
                        <a:rPr sz="870" i="0" b="1">
                          <a:solidFill>
                            <a:srgbClr val="0E2841"/>
                          </a:solidFill>
                          <a:latin typeface="Arial"/>
                        </a:rPr>
                        <a:t>TS-01</a:t>
                      </a:r>
                      <a:r>
                        <a:rPr sz="870" i="0" b="0">
                          <a:solidFill>
                            <a:srgbClr val="1B1B1B"/>
                          </a:solidFill>
                          <a:latin typeface="Arial"/>
                        </a:rPr>
                        <a:t>
(S)</a:t>
                      </a:r>
                    </a:p>
                  </a:txBody>
                  <a:tcPr anchor="ctr" marT="19050" marB="19050" marL="50800" marR="50800">
                    <a:solidFill>
                      <a:srgbClr val="F8F9FA"/>
                    </a:solidFill>
                  </a:tcPr>
                </a:tc>
                <a:tc>
                  <a:txBody>
                    <a:bodyPr wrap="square"/>
                    <a:lstStyle/>
                    <a:p>
                      <a:pPr algn="l"/>
                      <a:r>
                        <a:rPr sz="870" i="0" b="0">
                          <a:solidFill>
                            <a:srgbClr val="1B1B1B"/>
                          </a:solidFill>
                          <a:latin typeface="Arial"/>
                        </a:rPr>
                        <a:t>Chuyển mượt giữa </a:t>
                      </a:r>
                      <a:r>
                        <a:rPr sz="870" i="0" b="1">
                          <a:solidFill>
                            <a:srgbClr val="0E2841"/>
                          </a:solidFill>
                          <a:latin typeface="Arial"/>
                        </a:rPr>
                        <a:t>0.12 m/s</a:t>
                      </a:r>
                      <a:r>
                        <a:rPr sz="870" i="0" b="0">
                          <a:solidFill>
                            <a:srgbClr val="1B1B1B"/>
                          </a:solidFill>
                          <a:latin typeface="Arial"/>
                        </a:rPr>
                        <a:t> và </a:t>
                      </a:r>
                      <a:r>
                        <a:rPr sz="870" i="0" b="1">
                          <a:solidFill>
                            <a:srgbClr val="0E2841"/>
                          </a:solidFill>
                          <a:latin typeface="Arial"/>
                        </a:rPr>
                        <a:t>0.030÷0.036 m/s</a:t>
                      </a:r>
                      <a:r>
                        <a:rPr sz="870" i="0" b="0">
                          <a:solidFill>
                            <a:srgbClr val="1B1B1B"/>
                          </a:solidFill>
                          <a:latin typeface="Arial"/>
                        </a:rPr>
                        <a:t>; quỹ đạo </a:t>
                      </a:r>
                      <a:r>
                        <a:rPr sz="870" i="0" b="1">
                          <a:solidFill>
                            <a:srgbClr val="0E2841"/>
                          </a:solidFill>
                          <a:latin typeface="Arial"/>
                        </a:rPr>
                        <a:t>v_ref(t)</a:t>
                      </a:r>
                      <a:r>
                        <a:rPr sz="870" i="0" b="0">
                          <a:solidFill>
                            <a:srgbClr val="1B1B1B"/>
                          </a:solidFill>
                          <a:latin typeface="Arial"/>
                        </a:rPr>
                        <a:t> liên tục, </a:t>
                      </a:r>
                      <a:r>
                        <a:rPr sz="870" i="0" b="1">
                          <a:solidFill>
                            <a:srgbClr val="0E2841"/>
                          </a:solidFill>
                          <a:latin typeface="Arial"/>
                        </a:rPr>
                        <a:t>|a(t)| ≤ 0.50 m/s²</a:t>
                      </a:r>
                      <a:r>
                        <a:rPr sz="870" i="0" b="0">
                          <a:solidFill>
                            <a:srgbClr val="1B1B1B"/>
                          </a:solidFill>
                          <a:latin typeface="Arial"/>
                        </a:rPr>
                        <a:t>.</a:t>
                      </a:r>
                    </a:p>
                  </a:txBody>
                  <a:tcPr anchor="ctr" marT="19050" marB="19050" marL="50800" marR="50800">
                    <a:solidFill>
                      <a:srgbClr val="F8F9FA"/>
                    </a:solidFill>
                  </a:tcPr>
                </a:tc>
              </a:tr>
              <a:tr h="624953">
                <a:tc>
                  <a:txBody>
                    <a:bodyPr wrap="square"/>
                    <a:lstStyle/>
                    <a:p>
                      <a:pPr algn="ctr"/>
                      <a:r>
                        <a:rPr sz="870" i="0" b="1">
                          <a:solidFill>
                            <a:srgbClr val="0E2841"/>
                          </a:solidFill>
                          <a:latin typeface="Arial"/>
                        </a:rPr>
                        <a:t>DVP-L0-03</a:t>
                      </a:r>
                    </a:p>
                  </a:txBody>
                  <a:tcPr anchor="ctr" marT="19050" marB="19050" marL="50800" marR="50800">
                    <a:solidFill>
                      <a:srgbClr val="FDEDEC"/>
                    </a:solidFill>
                  </a:tcPr>
                </a:tc>
                <a:tc>
                  <a:txBody>
                    <a:bodyPr wrap="square"/>
                    <a:lstStyle/>
                    <a:p>
                      <a:pPr algn="l"/>
                      <a:r>
                        <a:rPr sz="870" i="0" b="1">
                          <a:solidFill>
                            <a:srgbClr val="0E2841"/>
                          </a:solidFill>
                          <a:latin typeface="Arial"/>
                        </a:rPr>
                        <a:t>FUNC-03</a:t>
                      </a:r>
                      <a:r>
                        <a:rPr sz="870" i="0" b="1">
                          <a:solidFill>
                            <a:srgbClr val="1B1B1B"/>
                          </a:solidFill>
                          <a:latin typeface="Arial"/>
                        </a:rPr>
                        <a:t>
(CTS-02)</a:t>
                      </a:r>
                    </a:p>
                  </a:txBody>
                  <a:tcPr anchor="ctr" marT="19050" marB="19050" marL="50800" marR="50800">
                    <a:solidFill>
                      <a:srgbClr val="FDEDEC"/>
                    </a:solidFill>
                  </a:tcPr>
                </a:tc>
                <a:tc>
                  <a:txBody>
                    <a:bodyPr wrap="square"/>
                    <a:lstStyle/>
                    <a:p>
                      <a:pPr algn="l"/>
                      <a:r>
                        <a:rPr sz="870" i="0" b="1">
                          <a:solidFill>
                            <a:srgbClr val="0E2841"/>
                          </a:solidFill>
                          <a:latin typeface="Arial"/>
                        </a:rPr>
                        <a:t>TS-01,03</a:t>
                      </a:r>
                      <a:r>
                        <a:rPr sz="870" i="0" b="1">
                          <a:solidFill>
                            <a:srgbClr val="1B1B1B"/>
                          </a:solidFill>
                          <a:latin typeface="Arial"/>
                        </a:rPr>
                        <a:t>
(S, I)</a:t>
                      </a:r>
                    </a:p>
                  </a:txBody>
                  <a:tcPr anchor="ctr" marT="19050" marB="19050" marL="50800" marR="50800">
                    <a:solidFill>
                      <a:srgbClr val="FDEDEC"/>
                    </a:solidFill>
                  </a:tcPr>
                </a:tc>
                <a:tc>
                  <a:txBody>
                    <a:bodyPr wrap="square"/>
                    <a:lstStyle/>
                    <a:p>
                      <a:pPr algn="l"/>
                      <a:r>
                        <a:rPr sz="870" i="0" b="1">
                          <a:solidFill>
                            <a:srgbClr val="1B1B1B"/>
                          </a:solidFill>
                          <a:latin typeface="Arial"/>
                        </a:rPr>
                        <a:t>Dừng </a:t>
                      </a:r>
                      <a:r>
                        <a:rPr sz="870" i="0" b="1">
                          <a:solidFill>
                            <a:srgbClr val="0E2841"/>
                          </a:solidFill>
                          <a:latin typeface="Arial"/>
                        </a:rPr>
                        <a:t>Stop Cat. 1</a:t>
                      </a:r>
                      <a:r>
                        <a:rPr sz="870" i="0" b="1">
                          <a:solidFill>
                            <a:srgbClr val="1B1B1B"/>
                          </a:solidFill>
                          <a:latin typeface="Arial"/>
                        </a:rPr>
                        <a:t>: hãm điện từ về </a:t>
                      </a:r>
                      <a:r>
                        <a:rPr sz="870" i="0" b="1">
                          <a:solidFill>
                            <a:srgbClr val="0E2841"/>
                          </a:solidFill>
                          <a:latin typeface="Arial"/>
                        </a:rPr>
                        <a:t>|v_xe| ≤ 0.002 m/s</a:t>
                      </a:r>
                      <a:r>
                        <a:rPr sz="870" i="0" b="1">
                          <a:solidFill>
                            <a:srgbClr val="1B1B1B"/>
                          </a:solidFill>
                          <a:latin typeface="Arial"/>
                        </a:rPr>
                        <a:t> trước khi lệnh đóng phanh cơ chuyển sang </a:t>
                      </a:r>
                      <a:r>
                        <a:rPr sz="870" i="0" b="1">
                          <a:solidFill>
                            <a:srgbClr val="0E2841"/>
                          </a:solidFill>
                          <a:latin typeface="Arial"/>
                        </a:rPr>
                        <a:t>0</a:t>
                      </a:r>
                      <a:r>
                        <a:rPr sz="87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70" i="0" b="1">
                          <a:solidFill>
                            <a:srgbClr val="0E2841"/>
                          </a:solidFill>
                          <a:latin typeface="Arial"/>
                        </a:rPr>
                        <a:t>DVP-L0-04</a:t>
                      </a:r>
                    </a:p>
                  </a:txBody>
                  <a:tcPr anchor="ctr" marT="19050" marB="19050" marL="50800" marR="50800">
                    <a:solidFill>
                      <a:srgbClr val="FDEDEC"/>
                    </a:solidFill>
                  </a:tcPr>
                </a:tc>
                <a:tc>
                  <a:txBody>
                    <a:bodyPr wrap="square"/>
                    <a:lstStyle/>
                    <a:p>
                      <a:pPr algn="l"/>
                      <a:r>
                        <a:rPr sz="870" i="0" b="1">
                          <a:solidFill>
                            <a:srgbClr val="0E2841"/>
                          </a:solidFill>
                          <a:latin typeface="Arial"/>
                        </a:rPr>
                        <a:t>FUNC-04</a:t>
                      </a:r>
                      <a:r>
                        <a:rPr sz="870" i="0" b="1">
                          <a:solidFill>
                            <a:srgbClr val="1B1B1B"/>
                          </a:solidFill>
                          <a:latin typeface="Arial"/>
                        </a:rPr>
                        <a:t>
(CTS-03)</a:t>
                      </a:r>
                    </a:p>
                  </a:txBody>
                  <a:tcPr anchor="ctr" marT="19050" marB="19050" marL="50800" marR="50800">
                    <a:solidFill>
                      <a:srgbClr val="FDEDEC"/>
                    </a:solidFill>
                  </a:tcPr>
                </a:tc>
                <a:tc>
                  <a:txBody>
                    <a:bodyPr wrap="square"/>
                    <a:lstStyle/>
                    <a:p>
                      <a:pPr algn="l"/>
                      <a:r>
                        <a:rPr sz="870" i="0" b="1">
                          <a:solidFill>
                            <a:srgbClr val="0E2841"/>
                          </a:solidFill>
                          <a:latin typeface="Arial"/>
                        </a:rPr>
                        <a:t>TS-01,02</a:t>
                      </a:r>
                      <a:r>
                        <a:rPr sz="870" i="0" b="1">
                          <a:solidFill>
                            <a:srgbClr val="1B1B1B"/>
                          </a:solidFill>
                          <a:latin typeface="Arial"/>
                        </a:rPr>
                        <a:t>
(S, A)</a:t>
                      </a:r>
                    </a:p>
                  </a:txBody>
                  <a:tcPr anchor="ctr" marT="19050" marB="19050" marL="50800" marR="50800">
                    <a:solidFill>
                      <a:srgbClr val="FDEDEC"/>
                    </a:solidFill>
                  </a:tcPr>
                </a:tc>
                <a:tc>
                  <a:txBody>
                    <a:bodyPr wrap="square"/>
                    <a:lstStyle/>
                    <a:p>
                      <a:pPr algn="l"/>
                      <a:r>
                        <a:rPr sz="870" i="0" b="1">
                          <a:solidFill>
                            <a:srgbClr val="1B1B1B"/>
                          </a:solidFill>
                          <a:latin typeface="Arial"/>
                        </a:rPr>
                        <a:t>Duy trì </a:t>
                      </a:r>
                      <a:r>
                        <a:rPr sz="870" i="0" b="1">
                          <a:solidFill>
                            <a:srgbClr val="196B24"/>
                          </a:solidFill>
                          <a:latin typeface="Arial"/>
                        </a:rPr>
                        <a:t>M_hold ∈ [100%; 150%] M_đm</a:t>
                      </a:r>
                      <a:r>
                        <a:rPr sz="870" i="0" b="1">
                          <a:solidFill>
                            <a:srgbClr val="1B1B1B"/>
                          </a:solidFill>
                          <a:latin typeface="Arial"/>
                        </a:rPr>
                        <a:t> tại </a:t>
                      </a:r>
                      <a:r>
                        <a:rPr sz="870" i="0" b="1">
                          <a:solidFill>
                            <a:srgbClr val="0E2841"/>
                          </a:solidFill>
                          <a:latin typeface="Arial"/>
                        </a:rPr>
                        <a:t>0 rpm</a:t>
                      </a:r>
                      <a:r>
                        <a:rPr sz="870" i="0" b="1">
                          <a:solidFill>
                            <a:srgbClr val="1B1B1B"/>
                          </a:solidFill>
                          <a:latin typeface="Arial"/>
                        </a:rPr>
                        <a:t> trước khi mở phanh; độ trôi tải </a:t>
                      </a:r>
                      <a:r>
                        <a:rPr sz="870" i="0" b="1">
                          <a:solidFill>
                            <a:srgbClr val="0E2841"/>
                          </a:solidFill>
                          <a:latin typeface="Arial"/>
                        </a:rPr>
                        <a:t>Δx_trôi = 0 mm</a:t>
                      </a:r>
                      <a:r>
                        <a:rPr sz="87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70" i="0" b="1">
                          <a:solidFill>
                            <a:srgbClr val="0E2841"/>
                          </a:solidFill>
                          <a:latin typeface="Arial"/>
                        </a:rPr>
                        <a:t>DVP-L0-05</a:t>
                      </a:r>
                    </a:p>
                  </a:txBody>
                  <a:tcPr anchor="ctr" marT="19050" marB="19050" marL="50800" marR="50800">
                    <a:solidFill>
                      <a:srgbClr val="FFFFFF"/>
                    </a:solidFill>
                  </a:tcPr>
                </a:tc>
                <a:tc>
                  <a:txBody>
                    <a:bodyPr wrap="square"/>
                    <a:lstStyle/>
                    <a:p>
                      <a:pPr algn="l"/>
                      <a:r>
                        <a:rPr sz="870" i="0" b="1">
                          <a:solidFill>
                            <a:srgbClr val="0E2841"/>
                          </a:solidFill>
                          <a:latin typeface="Arial"/>
                        </a:rPr>
                        <a:t>FUNC-05</a:t>
                      </a:r>
                    </a:p>
                  </a:txBody>
                  <a:tcPr anchor="ctr" marT="19050" marB="19050" marL="50800" marR="50800">
                    <a:solidFill>
                      <a:srgbClr val="FFFFFF"/>
                    </a:solidFill>
                  </a:tcPr>
                </a:tc>
                <a:tc>
                  <a:txBody>
                    <a:bodyPr wrap="square"/>
                    <a:lstStyle/>
                    <a:p>
                      <a:pPr algn="l"/>
                      <a:r>
                        <a:rPr sz="870" i="0" b="1">
                          <a:solidFill>
                            <a:srgbClr val="0E2841"/>
                          </a:solidFill>
                          <a:latin typeface="Arial"/>
                        </a:rPr>
                        <a:t>TS-01,02</a:t>
                      </a:r>
                      <a:r>
                        <a:rPr sz="870" i="0" b="0">
                          <a:solidFill>
                            <a:srgbClr val="1B1B1B"/>
                          </a:solidFill>
                          <a:latin typeface="Arial"/>
                        </a:rPr>
                        <a:t>
(I, S)</a:t>
                      </a:r>
                    </a:p>
                  </a:txBody>
                  <a:tcPr anchor="ctr" marT="19050" marB="19050" marL="50800" marR="50800">
                    <a:solidFill>
                      <a:srgbClr val="FFFFFF"/>
                    </a:solidFill>
                  </a:tcPr>
                </a:tc>
                <a:tc>
                  <a:txBody>
                    <a:bodyPr wrap="square"/>
                    <a:lstStyle/>
                    <a:p>
                      <a:pPr algn="l"/>
                      <a:r>
                        <a:rPr sz="870" i="0" b="0">
                          <a:solidFill>
                            <a:srgbClr val="1B1B1B"/>
                          </a:solidFill>
                          <a:latin typeface="Arial"/>
                        </a:rPr>
                        <a:t>Có vòng kín </a:t>
                      </a:r>
                      <a:r>
                        <a:rPr sz="870" i="0" b="1">
                          <a:solidFill>
                            <a:srgbClr val="0E2841"/>
                          </a:solidFill>
                          <a:latin typeface="Arial"/>
                        </a:rPr>
                        <a:t>Encoder</a:t>
                      </a:r>
                      <a:r>
                        <a:rPr sz="870" i="0" b="0">
                          <a:solidFill>
                            <a:srgbClr val="1B1B1B"/>
                          </a:solidFill>
                          <a:latin typeface="Arial"/>
                        </a:rPr>
                        <a:t>; dòng từ hóa </a:t>
                      </a:r>
                      <a:r>
                        <a:rPr sz="870" i="0" b="1">
                          <a:solidFill>
                            <a:srgbClr val="0E2841"/>
                          </a:solidFill>
                          <a:latin typeface="Arial"/>
                        </a:rPr>
                        <a:t>i_sd</a:t>
                      </a:r>
                      <a:r>
                        <a:rPr sz="870" i="0" b="0">
                          <a:solidFill>
                            <a:srgbClr val="1B1B1B"/>
                          </a:solidFill>
                          <a:latin typeface="Arial"/>
                        </a:rPr>
                        <a:t> giữ phẳng không đổi khi dòng mô-men </a:t>
                      </a:r>
                      <a:r>
                        <a:rPr sz="870" i="0" b="1">
                          <a:solidFill>
                            <a:srgbClr val="0E2841"/>
                          </a:solidFill>
                          <a:latin typeface="Arial"/>
                        </a:rPr>
                        <a:t>i_sq</a:t>
                      </a:r>
                      <a:r>
                        <a:rPr sz="870" i="0" b="0">
                          <a:solidFill>
                            <a:srgbClr val="1B1B1B"/>
                          </a:solidFill>
                          <a:latin typeface="Arial"/>
                        </a:rPr>
                        <a:t> nhảy bậc theo tải.</a:t>
                      </a:r>
                    </a:p>
                  </a:txBody>
                  <a:tcPr anchor="ctr" marT="19050" marB="19050" marL="50800" marR="50800">
                    <a:solidFill>
                      <a:srgbClr val="FFFFFF"/>
                    </a:solidFill>
                  </a:tcPr>
                </a:tc>
              </a:tr>
              <a:tr h="624953">
                <a:tc>
                  <a:txBody>
                    <a:bodyPr wrap="square"/>
                    <a:lstStyle/>
                    <a:p>
                      <a:pPr algn="ctr"/>
                      <a:r>
                        <a:rPr sz="870" i="0" b="1">
                          <a:solidFill>
                            <a:srgbClr val="0E2841"/>
                          </a:solidFill>
                          <a:latin typeface="Arial"/>
                        </a:rPr>
                        <a:t>DVP-L0-06</a:t>
                      </a:r>
                    </a:p>
                  </a:txBody>
                  <a:tcPr anchor="ctr" marT="19050" marB="19050" marL="50800" marR="50800">
                    <a:solidFill>
                      <a:srgbClr val="FDEDEC"/>
                    </a:solidFill>
                  </a:tcPr>
                </a:tc>
                <a:tc>
                  <a:txBody>
                    <a:bodyPr wrap="square"/>
                    <a:lstStyle/>
                    <a:p>
                      <a:pPr algn="l"/>
                      <a:r>
                        <a:rPr sz="870" i="0" b="1">
                          <a:solidFill>
                            <a:srgbClr val="0E2841"/>
                          </a:solidFill>
                          <a:latin typeface="Arial"/>
                        </a:rPr>
                        <a:t>FUNC-06</a:t>
                      </a:r>
                      <a:r>
                        <a:rPr sz="870" i="0" b="1">
                          <a:solidFill>
                            <a:srgbClr val="1B1B1B"/>
                          </a:solidFill>
                          <a:latin typeface="Arial"/>
                        </a:rPr>
                        <a:t>
(CTS-04)</a:t>
                      </a:r>
                    </a:p>
                  </a:txBody>
                  <a:tcPr anchor="ctr" marT="19050" marB="19050" marL="50800" marR="50800">
                    <a:solidFill>
                      <a:srgbClr val="FDEDEC"/>
                    </a:solidFill>
                  </a:tcPr>
                </a:tc>
                <a:tc>
                  <a:txBody>
                    <a:bodyPr wrap="square"/>
                    <a:lstStyle/>
                    <a:p>
                      <a:pPr algn="l"/>
                      <a:r>
                        <a:rPr sz="870" i="0" b="1">
                          <a:solidFill>
                            <a:srgbClr val="0E2841"/>
                          </a:solidFill>
                          <a:latin typeface="Arial"/>
                        </a:rPr>
                        <a:t>TS-02,03</a:t>
                      </a:r>
                      <a:r>
                        <a:rPr sz="870" i="0" b="1">
                          <a:solidFill>
                            <a:srgbClr val="1B1B1B"/>
                          </a:solidFill>
                          <a:latin typeface="Arial"/>
                        </a:rPr>
                        <a:t>
(A, S)</a:t>
                      </a:r>
                    </a:p>
                  </a:txBody>
                  <a:tcPr anchor="ctr" marT="19050" marB="19050" marL="50800" marR="50800">
                    <a:solidFill>
                      <a:srgbClr val="FDEDEC"/>
                    </a:solidFill>
                  </a:tcPr>
                </a:tc>
                <a:tc>
                  <a:txBody>
                    <a:bodyPr wrap="square"/>
                    <a:lstStyle/>
                    <a:p>
                      <a:pPr algn="l"/>
                      <a:r>
                        <a:rPr sz="870" i="0" b="1">
                          <a:solidFill>
                            <a:srgbClr val="1B1B1B"/>
                          </a:solidFill>
                          <a:latin typeface="Arial"/>
                        </a:rPr>
                        <a:t>Chopper kích hoạt đúng ngưỡng khi hãm </a:t>
                      </a:r>
                      <a:r>
                        <a:rPr sz="870" i="0" b="1">
                          <a:solidFill>
                            <a:srgbClr val="0E2841"/>
                          </a:solidFill>
                          <a:latin typeface="Arial"/>
                        </a:rPr>
                        <a:t>Q2/Q4</a:t>
                      </a:r>
                      <a:r>
                        <a:rPr sz="870" i="0" b="1">
                          <a:solidFill>
                            <a:srgbClr val="1B1B1B"/>
                          </a:solidFill>
                          <a:latin typeface="Arial"/>
                        </a:rPr>
                        <a:t>; điện áp </a:t>
                      </a:r>
                      <a:r>
                        <a:rPr sz="870" i="0" b="1">
                          <a:solidFill>
                            <a:srgbClr val="0E2841"/>
                          </a:solidFill>
                          <a:latin typeface="Arial"/>
                        </a:rPr>
                        <a:t>U_dc,max &lt; 780 V DC</a:t>
                      </a:r>
                      <a:r>
                        <a:rPr sz="870" i="0" b="1">
                          <a:solidFill>
                            <a:srgbClr val="1B1B1B"/>
                          </a:solidFill>
                          <a:latin typeface="Arial"/>
                        </a:rPr>
                        <a:t> (không chạm 800V).</a:t>
                      </a:r>
                    </a:p>
                  </a:txBody>
                  <a:tcPr anchor="ctr" marT="19050" marB="19050" marL="50800" marR="50800">
                    <a:solidFill>
                      <a:srgbClr val="FDEDEC"/>
                    </a:solidFill>
                  </a:tcPr>
                </a:tc>
              </a:tr>
              <a:tr h="624953">
                <a:tc>
                  <a:txBody>
                    <a:bodyPr wrap="square"/>
                    <a:lstStyle/>
                    <a:p>
                      <a:pPr algn="ctr"/>
                      <a:r>
                        <a:rPr sz="870" i="0" b="1">
                          <a:solidFill>
                            <a:srgbClr val="0E2841"/>
                          </a:solidFill>
                          <a:latin typeface="Arial"/>
                        </a:rPr>
                        <a:t>DVP-L0-07</a:t>
                      </a:r>
                    </a:p>
                  </a:txBody>
                  <a:tcPr anchor="ctr" marT="19050" marB="19050" marL="50800" marR="50800">
                    <a:solidFill>
                      <a:srgbClr val="FFFFFF"/>
                    </a:solidFill>
                  </a:tcPr>
                </a:tc>
                <a:tc>
                  <a:txBody>
                    <a:bodyPr wrap="square"/>
                    <a:lstStyle/>
                    <a:p>
                      <a:pPr algn="l"/>
                      <a:r>
                        <a:rPr sz="870" i="0" b="1">
                          <a:solidFill>
                            <a:srgbClr val="0E2841"/>
                          </a:solidFill>
                          <a:latin typeface="Arial"/>
                        </a:rPr>
                        <a:t>FUNC-07</a:t>
                      </a:r>
                    </a:p>
                  </a:txBody>
                  <a:tcPr anchor="ctr" marT="19050" marB="19050" marL="50800" marR="50800">
                    <a:solidFill>
                      <a:srgbClr val="FFFFFF"/>
                    </a:solidFill>
                  </a:tcPr>
                </a:tc>
                <a:tc>
                  <a:txBody>
                    <a:bodyPr wrap="square"/>
                    <a:lstStyle/>
                    <a:p>
                      <a:pPr algn="l"/>
                      <a:r>
                        <a:rPr sz="870" i="0" b="1">
                          <a:solidFill>
                            <a:srgbClr val="0E2841"/>
                          </a:solidFill>
                          <a:latin typeface="Arial"/>
                        </a:rPr>
                        <a:t>TS-01</a:t>
                      </a:r>
                      <a:r>
                        <a:rPr sz="870" i="0" b="0">
                          <a:solidFill>
                            <a:srgbClr val="1B1B1B"/>
                          </a:solidFill>
                          <a:latin typeface="Arial"/>
                        </a:rPr>
                        <a:t>
(A, S)</a:t>
                      </a:r>
                    </a:p>
                  </a:txBody>
                  <a:tcPr anchor="ctr" marT="19050" marB="19050" marL="50800" marR="50800">
                    <a:solidFill>
                      <a:srgbClr val="FFFFFF"/>
                    </a:solidFill>
                  </a:tcPr>
                </a:tc>
                <a:tc>
                  <a:txBody>
                    <a:bodyPr wrap="square"/>
                    <a:lstStyle/>
                    <a:p>
                      <a:pPr algn="l"/>
                      <a:r>
                        <a:rPr sz="870" i="0" b="0">
                          <a:solidFill>
                            <a:srgbClr val="1B1B1B"/>
                          </a:solidFill>
                          <a:latin typeface="Arial"/>
                        </a:rPr>
                        <a:t>Đồ thị </a:t>
                      </a:r>
                      <a:r>
                        <a:rPr sz="870" i="0" b="1">
                          <a:solidFill>
                            <a:srgbClr val="0E2841"/>
                          </a:solidFill>
                          <a:latin typeface="Arial"/>
                        </a:rPr>
                        <a:t>a(t)</a:t>
                      </a:r>
                      <a:r>
                        <a:rPr sz="870" i="0" b="0">
                          <a:solidFill>
                            <a:srgbClr val="1B1B1B"/>
                          </a:solidFill>
                          <a:latin typeface="Arial"/>
                        </a:rPr>
                        <a:t> có dạng hình thang cân liên tục (7 pha S-Curve); đạo hàm bậc hai </a:t>
                      </a:r>
                      <a:r>
                        <a:rPr sz="870" i="0" b="1">
                          <a:solidFill>
                            <a:srgbClr val="0E2841"/>
                          </a:solidFill>
                          <a:latin typeface="Arial"/>
                        </a:rPr>
                        <a:t>|ρ_ref(t)| ≤ 2.00 m/s³</a:t>
                      </a:r>
                      <a:r>
                        <a:rPr sz="870" i="0" b="0">
                          <a:solidFill>
                            <a:srgbClr val="1B1B1B"/>
                          </a:solidFill>
                          <a:latin typeface="Arial"/>
                        </a:rPr>
                        <a:t>.</a:t>
                      </a:r>
                    </a:p>
                  </a:txBody>
                  <a:tcPr anchor="ctr" marT="19050" marB="19050" marL="50800" marR="50800">
                    <a:solidFill>
                      <a:srgbClr val="FFFFFF"/>
                    </a:solidFill>
                  </a:tcPr>
                </a:tc>
              </a:tr>
            </a:tbl>
          </a:graphicData>
        </a:graphic>
      </p:graphicFrame>
      <p:graphicFrame>
        <p:nvGraphicFramePr>
          <p:cNvPr id="6" name="Table 5"/>
          <p:cNvGraphicFramePr>
            <a:graphicFrameLocks noGrp="1"/>
          </p:cNvGraphicFramePr>
          <p:nvPr/>
        </p:nvGraphicFramePr>
        <p:xfrm>
          <a:off x="6172200" y="1234440"/>
          <a:ext cx="5705856" cy="4667279"/>
        </p:xfrm>
        <a:graphic>
          <a:graphicData uri="http://schemas.openxmlformats.org/drawingml/2006/table">
            <a:tbl>
              <a:tblPr firstRow="1" bandRow="1">
                <a:tableStyleId>{5C22544A-7EE6-4342-B048-85BDC9FD1C3A}</a:tableStyleId>
              </a:tblPr>
              <a:tblGrid>
                <a:gridCol w="932688"/>
                <a:gridCol w="841248"/>
                <a:gridCol w="868680"/>
                <a:gridCol w="3063240"/>
              </a:tblGrid>
              <a:tr h="292608">
                <a:tc>
                  <a:txBody>
                    <a:bodyPr wrap="square"/>
                    <a:lstStyle/>
                    <a:p>
                      <a:pPr algn="ctr"/>
                      <a:r>
                        <a:rPr sz="969" b="1">
                          <a:solidFill>
                            <a:srgbClr val="FFFFFF"/>
                          </a:solidFill>
                          <a:latin typeface="Arial"/>
                        </a:rPr>
                        <a:t>Mã Test</a:t>
                      </a:r>
                    </a:p>
                  </a:txBody>
                  <a:tcPr anchor="ctr" marT="19050" marB="19050" marL="50800" marR="50800">
                    <a:solidFill>
                      <a:srgbClr val="0E2841"/>
                    </a:solidFill>
                  </a:tcPr>
                </a:tc>
                <a:tc>
                  <a:txBody>
                    <a:bodyPr wrap="square"/>
                    <a:lstStyle/>
                    <a:p>
                      <a:pPr algn="ctr"/>
                      <a:r>
                        <a:rPr sz="969" b="1">
                          <a:solidFill>
                            <a:srgbClr val="FFFFFF"/>
                          </a:solidFill>
                          <a:latin typeface="Arial"/>
                        </a:rPr>
                        <a:t>SRS</a:t>
                      </a:r>
                    </a:p>
                  </a:txBody>
                  <a:tcPr anchor="ctr" marT="19050" marB="19050" marL="50800" marR="50800">
                    <a:solidFill>
                      <a:srgbClr val="0E2841"/>
                    </a:solidFill>
                  </a:tcPr>
                </a:tc>
                <a:tc>
                  <a:txBody>
                    <a:bodyPr wrap="square"/>
                    <a:lstStyle/>
                    <a:p>
                      <a:pPr algn="ctr"/>
                      <a:r>
                        <a:rPr sz="969" b="1">
                          <a:solidFill>
                            <a:srgbClr val="FFFFFF"/>
                          </a:solidFill>
                          <a:latin typeface="Arial"/>
                        </a:rPr>
                        <a:t>Kịch bản &amp; PP</a:t>
                      </a:r>
                    </a:p>
                  </a:txBody>
                  <a:tcPr anchor="ctr" marT="19050" marB="19050" marL="50800" marR="50800">
                    <a:solidFill>
                      <a:srgbClr val="0E2841"/>
                    </a:solidFill>
                  </a:tcPr>
                </a:tc>
                <a:tc>
                  <a:txBody>
                    <a:bodyPr wrap="square"/>
                    <a:lstStyle/>
                    <a:p>
                      <a:pPr algn="ctr"/>
                      <a:r>
                        <a:rPr sz="969" b="1">
                          <a:solidFill>
                            <a:srgbClr val="FFFFFF"/>
                          </a:solidFill>
                          <a:latin typeface="Arial"/>
                        </a:rPr>
                        <a:t>Tiêu chí Nghiệm thu Đạt (PASS Criteria — Nhóm PERM)</a:t>
                      </a:r>
                    </a:p>
                  </a:txBody>
                  <a:tcPr anchor="ctr" marT="19050" marB="19050" marL="50800" marR="50800">
                    <a:solidFill>
                      <a:srgbClr val="0E2841"/>
                    </a:solidFill>
                  </a:tcPr>
                </a:tc>
              </a:tr>
              <a:tr h="624953">
                <a:tc>
                  <a:txBody>
                    <a:bodyPr wrap="square"/>
                    <a:lstStyle/>
                    <a:p>
                      <a:pPr algn="ctr"/>
                      <a:r>
                        <a:rPr sz="870" i="0" b="1">
                          <a:solidFill>
                            <a:srgbClr val="0E2841"/>
                          </a:solidFill>
                          <a:latin typeface="Arial"/>
                        </a:rPr>
                        <a:t>DVP-L0-08</a:t>
                      </a:r>
                    </a:p>
                  </a:txBody>
                  <a:tcPr anchor="ctr" marT="19050" marB="19050" marL="50800" marR="50800">
                    <a:solidFill>
                      <a:srgbClr val="FEF9E7"/>
                    </a:solidFill>
                  </a:tcPr>
                </a:tc>
                <a:tc>
                  <a:txBody>
                    <a:bodyPr wrap="square"/>
                    <a:lstStyle/>
                    <a:p>
                      <a:pPr algn="l"/>
                      <a:r>
                        <a:rPr sz="870" i="0" b="1">
                          <a:solidFill>
                            <a:srgbClr val="0E2841"/>
                          </a:solidFill>
                          <a:latin typeface="Arial"/>
                        </a:rPr>
                        <a:t>PERM-01</a:t>
                      </a:r>
                      <a:r>
                        <a:rPr sz="870" i="0" b="1">
                          <a:solidFill>
                            <a:srgbClr val="1B1B1B"/>
                          </a:solidFill>
                          <a:latin typeface="Arial"/>
                        </a:rPr>
                        <a:t>
(CTQ-01,02)</a:t>
                      </a:r>
                    </a:p>
                  </a:txBody>
                  <a:tcPr anchor="ctr" marT="19050" marB="19050" marL="50800" marR="50800">
                    <a:solidFill>
                      <a:srgbClr val="FEF9E7"/>
                    </a:solidFill>
                  </a:tcPr>
                </a:tc>
                <a:tc>
                  <a:txBody>
                    <a:bodyPr wrap="square"/>
                    <a:lstStyle/>
                    <a:p>
                      <a:pPr algn="l"/>
                      <a:r>
                        <a:rPr sz="870" i="0" b="1">
                          <a:solidFill>
                            <a:srgbClr val="0E2841"/>
                          </a:solidFill>
                          <a:latin typeface="Arial"/>
                        </a:rPr>
                        <a:t>TS-01,02</a:t>
                      </a:r>
                      <a:r>
                        <a:rPr sz="870" i="0" b="1">
                          <a:solidFill>
                            <a:srgbClr val="1B1B1B"/>
                          </a:solidFill>
                          <a:latin typeface="Arial"/>
                        </a:rPr>
                        <a:t>
(S)</a:t>
                      </a:r>
                    </a:p>
                  </a:txBody>
                  <a:tcPr anchor="ctr" marT="19050" marB="19050" marL="50800" marR="50800">
                    <a:solidFill>
                      <a:srgbClr val="FEF9E7"/>
                    </a:solidFill>
                  </a:tcPr>
                </a:tc>
                <a:tc>
                  <a:txBody>
                    <a:bodyPr wrap="square"/>
                    <a:lstStyle/>
                    <a:p>
                      <a:pPr algn="l"/>
                      <a:r>
                        <a:rPr sz="870" i="0" b="1">
                          <a:solidFill>
                            <a:srgbClr val="1B1B1B"/>
                          </a:solidFill>
                          <a:latin typeface="Arial"/>
                        </a:rPr>
                        <a:t>Tại </a:t>
                      </a:r>
                      <a:r>
                        <a:rPr sz="870" i="0" b="1">
                          <a:solidFill>
                            <a:srgbClr val="0E2841"/>
                          </a:solidFill>
                          <a:latin typeface="Arial"/>
                        </a:rPr>
                        <a:t>0.12 m/s</a:t>
                      </a:r>
                      <a:r>
                        <a:rPr sz="870" i="0" b="1">
                          <a:solidFill>
                            <a:srgbClr val="1B1B1B"/>
                          </a:solidFill>
                          <a:latin typeface="Arial"/>
                        </a:rPr>
                        <a:t> (cả 2,022 kg &amp; 14,244 kg): </a:t>
                      </a:r>
                      <a:r>
                        <a:rPr sz="870" i="0" b="1">
                          <a:solidFill>
                            <a:srgbClr val="0E2841"/>
                          </a:solidFill>
                          <a:latin typeface="Arial"/>
                        </a:rPr>
                        <a:t>e_xl ≤ 5.0%</a:t>
                      </a:r>
                      <a:r>
                        <a:rPr sz="870" i="0" b="1">
                          <a:solidFill>
                            <a:srgbClr val="1B1B1B"/>
                          </a:solidFill>
                          <a:latin typeface="Arial"/>
                        </a:rPr>
                        <a:t> (</a:t>
                      </a:r>
                      <a:r>
                        <a:rPr sz="870" i="0" b="1">
                          <a:solidFill>
                            <a:srgbClr val="0E2841"/>
                          </a:solidFill>
                          <a:latin typeface="Arial"/>
                        </a:rPr>
                        <a:t>0.114÷0.126 m/s</a:t>
                      </a:r>
                      <a:r>
                        <a:rPr sz="870" i="0" b="1">
                          <a:solidFill>
                            <a:srgbClr val="1B1B1B"/>
                          </a:solidFill>
                          <a:latin typeface="Arial"/>
                        </a:rPr>
                        <a:t>) và </a:t>
                      </a:r>
                      <a:r>
                        <a:rPr sz="870" i="0" b="1">
                          <a:solidFill>
                            <a:srgbClr val="0E2841"/>
                          </a:solidFill>
                          <a:latin typeface="Arial"/>
                        </a:rPr>
                        <a:t>M_p ≤ 10.0%</a:t>
                      </a:r>
                      <a:r>
                        <a:rPr sz="870" i="0" b="1">
                          <a:solidFill>
                            <a:srgbClr val="1B1B1B"/>
                          </a:solidFill>
                          <a:latin typeface="Arial"/>
                        </a:rPr>
                        <a:t> (</a:t>
                      </a:r>
                      <a:r>
                        <a:rPr sz="870" i="0" b="1">
                          <a:solidFill>
                            <a:srgbClr val="0E2841"/>
                          </a:solidFill>
                          <a:latin typeface="Arial"/>
                        </a:rPr>
                        <a:t>≤ 0.132 m/s</a:t>
                      </a:r>
                      <a:r>
                        <a:rPr sz="87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70" i="0" b="1">
                          <a:solidFill>
                            <a:srgbClr val="0E2841"/>
                          </a:solidFill>
                          <a:latin typeface="Arial"/>
                        </a:rPr>
                        <a:t>DVP-L0-09</a:t>
                      </a:r>
                    </a:p>
                  </a:txBody>
                  <a:tcPr anchor="ctr" marT="19050" marB="19050" marL="50800" marR="50800">
                    <a:solidFill>
                      <a:srgbClr val="F8F9FA"/>
                    </a:solidFill>
                  </a:tcPr>
                </a:tc>
                <a:tc>
                  <a:txBody>
                    <a:bodyPr wrap="square"/>
                    <a:lstStyle/>
                    <a:p>
                      <a:pPr algn="l"/>
                      <a:r>
                        <a:rPr sz="870" i="0" b="1">
                          <a:solidFill>
                            <a:srgbClr val="0E2841"/>
                          </a:solidFill>
                          <a:latin typeface="Arial"/>
                        </a:rPr>
                        <a:t>PERM-02</a:t>
                      </a:r>
                      <a:r>
                        <a:rPr sz="870" i="0" b="0">
                          <a:solidFill>
                            <a:srgbClr val="1B1B1B"/>
                          </a:solidFill>
                          <a:latin typeface="Arial"/>
                        </a:rPr>
                        <a:t>
(CTQ-03)</a:t>
                      </a:r>
                    </a:p>
                  </a:txBody>
                  <a:tcPr anchor="ctr" marT="19050" marB="19050" marL="50800" marR="50800">
                    <a:solidFill>
                      <a:srgbClr val="F8F9FA"/>
                    </a:solidFill>
                  </a:tcPr>
                </a:tc>
                <a:tc>
                  <a:txBody>
                    <a:bodyPr wrap="square"/>
                    <a:lstStyle/>
                    <a:p>
                      <a:pPr algn="l"/>
                      <a:r>
                        <a:rPr sz="870" i="0" b="1">
                          <a:solidFill>
                            <a:srgbClr val="0E2841"/>
                          </a:solidFill>
                          <a:latin typeface="Arial"/>
                        </a:rPr>
                        <a:t>TS-01</a:t>
                      </a:r>
                      <a:r>
                        <a:rPr sz="870" i="0" b="0">
                          <a:solidFill>
                            <a:srgbClr val="1B1B1B"/>
                          </a:solidFill>
                          <a:latin typeface="Arial"/>
                        </a:rPr>
                        <a:t>
(S)</a:t>
                      </a:r>
                    </a:p>
                  </a:txBody>
                  <a:tcPr anchor="ctr" marT="19050" marB="19050" marL="50800" marR="50800">
                    <a:solidFill>
                      <a:srgbClr val="F8F9FA"/>
                    </a:solidFill>
                  </a:tcPr>
                </a:tc>
                <a:tc>
                  <a:txBody>
                    <a:bodyPr wrap="square"/>
                    <a:lstStyle/>
                    <a:p>
                      <a:pPr algn="l"/>
                      <a:r>
                        <a:rPr sz="870" i="0" b="0">
                          <a:solidFill>
                            <a:srgbClr val="1B1B1B"/>
                          </a:solidFill>
                          <a:latin typeface="Arial"/>
                        </a:rPr>
                        <a:t>Bám tốc độ bò </a:t>
                      </a:r>
                      <a:r>
                        <a:rPr sz="870" i="0" b="1">
                          <a:solidFill>
                            <a:srgbClr val="0E2841"/>
                          </a:solidFill>
                          <a:latin typeface="Arial"/>
                        </a:rPr>
                        <a:t>v_creep ∈ [0.030; 0.036] m/s</a:t>
                      </a:r>
                      <a:r>
                        <a:rPr sz="870" i="0" b="0">
                          <a:solidFill>
                            <a:srgbClr val="1B1B1B"/>
                          </a:solidFill>
                          <a:latin typeface="Arial"/>
                        </a:rPr>
                        <a:t> với sai số </a:t>
                      </a:r>
                      <a:r>
                        <a:rPr sz="870" i="0" b="1">
                          <a:solidFill>
                            <a:srgbClr val="0E2841"/>
                          </a:solidFill>
                          <a:latin typeface="Arial"/>
                        </a:rPr>
                        <a:t>≤ ±5.0%</a:t>
                      </a:r>
                      <a:r>
                        <a:rPr sz="870" i="0" b="0">
                          <a:solidFill>
                            <a:srgbClr val="1B1B1B"/>
                          </a:solidFill>
                          <a:latin typeface="Arial"/>
                        </a:rPr>
                        <a:t>; chứng minh dải điều chỉnh </a:t>
                      </a:r>
                      <a:r>
                        <a:rPr sz="870" i="0" b="1">
                          <a:solidFill>
                            <a:srgbClr val="0E2841"/>
                          </a:solidFill>
                          <a:latin typeface="Arial"/>
                        </a:rPr>
                        <a:t>D ≥ 10:1</a:t>
                      </a:r>
                      <a:r>
                        <a:rPr sz="870" i="0" b="0">
                          <a:solidFill>
                            <a:srgbClr val="1B1B1B"/>
                          </a:solidFill>
                          <a:latin typeface="Arial"/>
                        </a:rPr>
                        <a:t>.</a:t>
                      </a:r>
                    </a:p>
                  </a:txBody>
                  <a:tcPr anchor="ctr" marT="19050" marB="19050" marL="50800" marR="50800">
                    <a:solidFill>
                      <a:srgbClr val="F8F9FA"/>
                    </a:solidFill>
                  </a:tcPr>
                </a:tc>
              </a:tr>
              <a:tr h="624953">
                <a:tc>
                  <a:txBody>
                    <a:bodyPr wrap="square"/>
                    <a:lstStyle/>
                    <a:p>
                      <a:pPr algn="ctr"/>
                      <a:r>
                        <a:rPr sz="870" i="0" b="1">
                          <a:solidFill>
                            <a:srgbClr val="0E2841"/>
                          </a:solidFill>
                          <a:latin typeface="Arial"/>
                        </a:rPr>
                        <a:t>DVP-L0-10</a:t>
                      </a:r>
                    </a:p>
                  </a:txBody>
                  <a:tcPr anchor="ctr" marT="19050" marB="19050" marL="50800" marR="50800">
                    <a:solidFill>
                      <a:srgbClr val="FDEDEC"/>
                    </a:solidFill>
                  </a:tcPr>
                </a:tc>
                <a:tc>
                  <a:txBody>
                    <a:bodyPr wrap="square"/>
                    <a:lstStyle/>
                    <a:p>
                      <a:pPr algn="l"/>
                      <a:r>
                        <a:rPr sz="870" i="0" b="1">
                          <a:solidFill>
                            <a:srgbClr val="0E2841"/>
                          </a:solidFill>
                          <a:latin typeface="Arial"/>
                        </a:rPr>
                        <a:t>PERM-03</a:t>
                      </a:r>
                      <a:r>
                        <a:rPr sz="870" i="0" b="1">
                          <a:solidFill>
                            <a:srgbClr val="1B1B1B"/>
                          </a:solidFill>
                          <a:latin typeface="Arial"/>
                        </a:rPr>
                        <a:t>
(CTS-05)</a:t>
                      </a:r>
                    </a:p>
                  </a:txBody>
                  <a:tcPr anchor="ctr" marT="19050" marB="19050" marL="50800" marR="50800">
                    <a:solidFill>
                      <a:srgbClr val="FDEDEC"/>
                    </a:solidFill>
                  </a:tcPr>
                </a:tc>
                <a:tc>
                  <a:txBody>
                    <a:bodyPr wrap="square"/>
                    <a:lstStyle/>
                    <a:p>
                      <a:pPr algn="l"/>
                      <a:r>
                        <a:rPr sz="870" i="0" b="1">
                          <a:solidFill>
                            <a:srgbClr val="0E2841"/>
                          </a:solidFill>
                          <a:latin typeface="Arial"/>
                        </a:rPr>
                        <a:t>TS-01..03</a:t>
                      </a:r>
                      <a:r>
                        <a:rPr sz="870" i="0" b="1">
                          <a:solidFill>
                            <a:srgbClr val="1B1B1B"/>
                          </a:solidFill>
                          <a:latin typeface="Arial"/>
                        </a:rPr>
                        <a:t>
(A, S)</a:t>
                      </a:r>
                    </a:p>
                  </a:txBody>
                  <a:tcPr anchor="ctr" marT="19050" marB="19050" marL="50800" marR="50800">
                    <a:solidFill>
                      <a:srgbClr val="FDEDEC"/>
                    </a:solidFill>
                  </a:tcPr>
                </a:tc>
                <a:tc>
                  <a:txBody>
                    <a:bodyPr wrap="square"/>
                    <a:lstStyle/>
                    <a:p>
                      <a:pPr algn="l"/>
                      <a:r>
                        <a:rPr sz="870" i="0" b="1">
                          <a:solidFill>
                            <a:srgbClr val="1B1B1B"/>
                          </a:solidFill>
                          <a:latin typeface="Arial"/>
                        </a:rPr>
                        <a:t>Toàn bộ chu trình: </a:t>
                      </a:r>
                      <a:r>
                        <a:rPr sz="870" i="0" b="1">
                          <a:solidFill>
                            <a:srgbClr val="0E2841"/>
                          </a:solidFill>
                          <a:latin typeface="Arial"/>
                        </a:rPr>
                        <a:t>max|a(t)| ≤ 0.50 m/s²</a:t>
                      </a:r>
                      <a:r>
                        <a:rPr sz="870" i="0" b="1">
                          <a:solidFill>
                            <a:srgbClr val="1B1B1B"/>
                          </a:solidFill>
                          <a:latin typeface="Arial"/>
                        </a:rPr>
                        <a:t> (</a:t>
                      </a:r>
                      <a:r>
                        <a:rPr sz="870" i="0" b="1">
                          <a:solidFill>
                            <a:srgbClr val="0E2841"/>
                          </a:solidFill>
                          <a:latin typeface="Arial"/>
                        </a:rPr>
                        <a:t>k_bám = 3.92</a:t>
                      </a:r>
                      <a:r>
                        <a:rPr sz="870" i="0" b="1">
                          <a:solidFill>
                            <a:srgbClr val="1B1B1B"/>
                          </a:solidFill>
                          <a:latin typeface="Arial"/>
                        </a:rPr>
                        <a:t>) và </a:t>
                      </a:r>
                      <a:r>
                        <a:rPr sz="870" i="0" b="1">
                          <a:solidFill>
                            <a:srgbClr val="0E2841"/>
                          </a:solidFill>
                          <a:latin typeface="Arial"/>
                        </a:rPr>
                        <a:t>max|ρ(t)| ≤ 2.00 m/s³</a:t>
                      </a:r>
                      <a:r>
                        <a:rPr sz="870" i="0" b="1">
                          <a:solidFill>
                            <a:srgbClr val="1B1B1B"/>
                          </a:solidFill>
                          <a:latin typeface="Arial"/>
                        </a:rPr>
                        <a:t> (</a:t>
                      </a:r>
                      <a:r>
                        <a:rPr sz="870" i="0" b="1">
                          <a:solidFill>
                            <a:srgbClr val="0E2841"/>
                          </a:solidFill>
                          <a:latin typeface="Arial"/>
                        </a:rPr>
                        <a:t>θ_0 ≤ 2.92°</a:t>
                      </a:r>
                      <a:r>
                        <a:rPr sz="87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70" i="0" b="1">
                          <a:solidFill>
                            <a:srgbClr val="0E2841"/>
                          </a:solidFill>
                          <a:latin typeface="Arial"/>
                        </a:rPr>
                        <a:t>DVP-L0-11</a:t>
                      </a:r>
                    </a:p>
                  </a:txBody>
                  <a:tcPr anchor="ctr" marT="19050" marB="19050" marL="50800" marR="50800">
                    <a:solidFill>
                      <a:srgbClr val="FEF9E7"/>
                    </a:solidFill>
                  </a:tcPr>
                </a:tc>
                <a:tc>
                  <a:txBody>
                    <a:bodyPr wrap="square"/>
                    <a:lstStyle/>
                    <a:p>
                      <a:pPr algn="l"/>
                      <a:r>
                        <a:rPr sz="870" i="0" b="1">
                          <a:solidFill>
                            <a:srgbClr val="0E2841"/>
                          </a:solidFill>
                          <a:latin typeface="Arial"/>
                        </a:rPr>
                        <a:t>PERM-04</a:t>
                      </a:r>
                      <a:r>
                        <a:rPr sz="870" i="0" b="1">
                          <a:solidFill>
                            <a:srgbClr val="1B1B1B"/>
                          </a:solidFill>
                          <a:latin typeface="Arial"/>
                        </a:rPr>
                        <a:t>
(CTQ-08)</a:t>
                      </a:r>
                    </a:p>
                  </a:txBody>
                  <a:tcPr anchor="ctr" marT="19050" marB="19050" marL="50800" marR="50800">
                    <a:solidFill>
                      <a:srgbClr val="FEF9E7"/>
                    </a:solidFill>
                  </a:tcPr>
                </a:tc>
                <a:tc>
                  <a:txBody>
                    <a:bodyPr wrap="square"/>
                    <a:lstStyle/>
                    <a:p>
                      <a:pPr algn="l"/>
                      <a:r>
                        <a:rPr sz="870" i="0" b="1">
                          <a:solidFill>
                            <a:srgbClr val="0E2841"/>
                          </a:solidFill>
                          <a:latin typeface="Arial"/>
                        </a:rPr>
                        <a:t>TS-04</a:t>
                      </a:r>
                      <a:r>
                        <a:rPr sz="870" i="0" b="1">
                          <a:solidFill>
                            <a:srgbClr val="1B1B1B"/>
                          </a:solidFill>
                          <a:latin typeface="Arial"/>
                        </a:rPr>
                        <a:t>
(A, S)</a:t>
                      </a:r>
                    </a:p>
                  </a:txBody>
                  <a:tcPr anchor="ctr" marT="19050" marB="19050" marL="50800" marR="50800">
                    <a:solidFill>
                      <a:srgbClr val="FEF9E7"/>
                    </a:solidFill>
                  </a:tcPr>
                </a:tc>
                <a:tc>
                  <a:txBody>
                    <a:bodyPr wrap="square"/>
                    <a:lstStyle/>
                    <a:p>
                      <a:pPr algn="l"/>
                      <a:r>
                        <a:rPr sz="870" i="0" b="1">
                          <a:solidFill>
                            <a:srgbClr val="1B1B1B"/>
                          </a:solidFill>
                          <a:latin typeface="Arial"/>
                        </a:rPr>
                        <a:t>Công suất định mức ở </a:t>
                      </a:r>
                      <a:r>
                        <a:rPr sz="870" i="0" b="1">
                          <a:solidFill>
                            <a:srgbClr val="0E2841"/>
                          </a:solidFill>
                          <a:latin typeface="Arial"/>
                        </a:rPr>
                        <a:t>S3-40% (40°C)</a:t>
                      </a:r>
                      <a:r>
                        <a:rPr sz="870" i="0" b="1">
                          <a:solidFill>
                            <a:srgbClr val="1B1B1B"/>
                          </a:solidFill>
                          <a:latin typeface="Arial"/>
                        </a:rPr>
                        <a:t> thỏa mãn </a:t>
                      </a:r>
                      <a:r>
                        <a:rPr sz="870" i="0" b="1">
                          <a:solidFill>
                            <a:srgbClr val="0E2841"/>
                          </a:solidFill>
                          <a:latin typeface="Arial"/>
                        </a:rPr>
                        <a:t>k_dt = P_đm / P_eq,S340% ∈ [1.20; 1.50]</a:t>
                      </a:r>
                      <a:r>
                        <a:rPr sz="870" i="0" b="1">
                          <a:solidFill>
                            <a:srgbClr val="1B1B1B"/>
                          </a:solidFill>
                          <a:latin typeface="Arial"/>
                        </a:rPr>
                        <a:t>; </a:t>
                      </a:r>
                      <a:r>
                        <a:rPr sz="870" i="0" b="1">
                          <a:solidFill>
                            <a:srgbClr val="0E2841"/>
                          </a:solidFill>
                          <a:latin typeface="Arial"/>
                        </a:rPr>
                        <a:t>I_rms ≤ I_đm</a:t>
                      </a:r>
                      <a:r>
                        <a:rPr sz="87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70" i="0" b="1">
                          <a:solidFill>
                            <a:srgbClr val="0E2841"/>
                          </a:solidFill>
                          <a:latin typeface="Arial"/>
                        </a:rPr>
                        <a:t>DVP-L0-12</a:t>
                      </a:r>
                    </a:p>
                  </a:txBody>
                  <a:tcPr anchor="ctr" marT="19050" marB="19050" marL="50800" marR="50800">
                    <a:solidFill>
                      <a:srgbClr val="FEF9E7"/>
                    </a:solidFill>
                  </a:tcPr>
                </a:tc>
                <a:tc>
                  <a:txBody>
                    <a:bodyPr wrap="square"/>
                    <a:lstStyle/>
                    <a:p>
                      <a:pPr algn="l"/>
                      <a:r>
                        <a:rPr sz="870" i="0" b="1">
                          <a:solidFill>
                            <a:srgbClr val="0E2841"/>
                          </a:solidFill>
                          <a:latin typeface="Arial"/>
                        </a:rPr>
                        <a:t>PERM-05</a:t>
                      </a:r>
                      <a:r>
                        <a:rPr sz="870" i="0" b="1">
                          <a:solidFill>
                            <a:srgbClr val="1B1B1B"/>
                          </a:solidFill>
                          <a:latin typeface="Arial"/>
                        </a:rPr>
                        <a:t>
(CTQ-08)</a:t>
                      </a:r>
                    </a:p>
                  </a:txBody>
                  <a:tcPr anchor="ctr" marT="19050" marB="19050" marL="50800" marR="50800">
                    <a:solidFill>
                      <a:srgbClr val="FEF9E7"/>
                    </a:solidFill>
                  </a:tcPr>
                </a:tc>
                <a:tc>
                  <a:txBody>
                    <a:bodyPr wrap="square"/>
                    <a:lstStyle/>
                    <a:p>
                      <a:pPr algn="l"/>
                      <a:r>
                        <a:rPr sz="870" i="0" b="1">
                          <a:solidFill>
                            <a:srgbClr val="0E2841"/>
                          </a:solidFill>
                          <a:latin typeface="Arial"/>
                        </a:rPr>
                        <a:t>TS-02,04</a:t>
                      </a:r>
                      <a:r>
                        <a:rPr sz="870" i="0" b="1">
                          <a:solidFill>
                            <a:srgbClr val="1B1B1B"/>
                          </a:solidFill>
                          <a:latin typeface="Arial"/>
                        </a:rPr>
                        <a:t>
(A, S)</a:t>
                      </a:r>
                    </a:p>
                  </a:txBody>
                  <a:tcPr anchor="ctr" marT="19050" marB="19050" marL="50800" marR="50800">
                    <a:solidFill>
                      <a:srgbClr val="FEF9E7"/>
                    </a:solidFill>
                  </a:tcPr>
                </a:tc>
                <a:tc>
                  <a:txBody>
                    <a:bodyPr wrap="square"/>
                    <a:lstStyle/>
                    <a:p>
                      <a:pPr algn="l"/>
                      <a:r>
                        <a:rPr sz="870" i="0" b="1">
                          <a:solidFill>
                            <a:srgbClr val="1B1B1B"/>
                          </a:solidFill>
                          <a:latin typeface="Arial"/>
                        </a:rPr>
                        <a:t>Tổ hợp Động cơ - Biến tần có </a:t>
                      </a:r>
                      <a:r>
                        <a:rPr sz="870" i="0" b="1">
                          <a:solidFill>
                            <a:srgbClr val="0E2841"/>
                          </a:solidFill>
                          <a:latin typeface="Arial"/>
                        </a:rPr>
                        <a:t>λ_max = M_max / M_đm ≥ 2.0</a:t>
                      </a:r>
                      <a:r>
                        <a:rPr sz="870" i="0" b="1">
                          <a:solidFill>
                            <a:srgbClr val="1B1B1B"/>
                          </a:solidFill>
                          <a:latin typeface="Arial"/>
                        </a:rPr>
                        <a:t> và </a:t>
                      </a:r>
                      <a:r>
                        <a:rPr sz="870" i="0" b="1">
                          <a:solidFill>
                            <a:srgbClr val="0E2841"/>
                          </a:solidFill>
                          <a:latin typeface="Arial"/>
                        </a:rPr>
                        <a:t>M_max ≥ 1.25 · M_peak,sim</a:t>
                      </a:r>
                      <a:r>
                        <a:rPr sz="87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70" i="0" b="1">
                          <a:solidFill>
                            <a:srgbClr val="0E2841"/>
                          </a:solidFill>
                          <a:latin typeface="Arial"/>
                        </a:rPr>
                        <a:t>DVP-L0-13</a:t>
                      </a:r>
                    </a:p>
                  </a:txBody>
                  <a:tcPr anchor="ctr" marT="19050" marB="19050" marL="50800" marR="50800">
                    <a:solidFill>
                      <a:srgbClr val="F8F9FA"/>
                    </a:solidFill>
                  </a:tcPr>
                </a:tc>
                <a:tc>
                  <a:txBody>
                    <a:bodyPr wrap="square"/>
                    <a:lstStyle/>
                    <a:p>
                      <a:pPr algn="l"/>
                      <a:r>
                        <a:rPr sz="870" i="0" b="1">
                          <a:solidFill>
                            <a:srgbClr val="0E2841"/>
                          </a:solidFill>
                          <a:latin typeface="Arial"/>
                        </a:rPr>
                        <a:t>PERM-06</a:t>
                      </a:r>
                    </a:p>
                  </a:txBody>
                  <a:tcPr anchor="ctr" marT="19050" marB="19050" marL="50800" marR="50800">
                    <a:solidFill>
                      <a:srgbClr val="F8F9FA"/>
                    </a:solidFill>
                  </a:tcPr>
                </a:tc>
                <a:tc>
                  <a:txBody>
                    <a:bodyPr wrap="square"/>
                    <a:lstStyle/>
                    <a:p>
                      <a:pPr algn="l"/>
                      <a:r>
                        <a:rPr sz="870" i="0" b="1">
                          <a:solidFill>
                            <a:srgbClr val="0E2841"/>
                          </a:solidFill>
                          <a:latin typeface="Arial"/>
                        </a:rPr>
                        <a:t>TS-04</a:t>
                      </a:r>
                      <a:r>
                        <a:rPr sz="870" i="0" b="0">
                          <a:solidFill>
                            <a:srgbClr val="1B1B1B"/>
                          </a:solidFill>
                          <a:latin typeface="Arial"/>
                        </a:rPr>
                        <a:t>
(A, S)</a:t>
                      </a:r>
                    </a:p>
                  </a:txBody>
                  <a:tcPr anchor="ctr" marT="19050" marB="19050" marL="50800" marR="50800">
                    <a:solidFill>
                      <a:srgbClr val="F8F9FA"/>
                    </a:solidFill>
                  </a:tcPr>
                </a:tc>
                <a:tc>
                  <a:txBody>
                    <a:bodyPr wrap="square"/>
                    <a:lstStyle/>
                    <a:p>
                      <a:pPr algn="l"/>
                      <a:r>
                        <a:rPr sz="870" i="0" b="0">
                          <a:solidFill>
                            <a:srgbClr val="1B1B1B"/>
                          </a:solidFill>
                          <a:latin typeface="Arial"/>
                        </a:rPr>
                        <a:t>Hoạt động liên tục ở </a:t>
                      </a:r>
                      <a:r>
                        <a:rPr sz="870" i="0" b="1">
                          <a:solidFill>
                            <a:srgbClr val="0E2841"/>
                          </a:solidFill>
                          <a:latin typeface="Arial"/>
                        </a:rPr>
                        <a:t>342 V ÷ 418 V AC, 50 Hz</a:t>
                      </a:r>
                      <a:r>
                        <a:rPr sz="870" i="0" b="0">
                          <a:solidFill>
                            <a:srgbClr val="1B1B1B"/>
                          </a:solidFill>
                          <a:latin typeface="Arial"/>
                        </a:rPr>
                        <a:t> không Trip; tại </a:t>
                      </a:r>
                      <a:r>
                        <a:rPr sz="870" i="0" b="1">
                          <a:solidFill>
                            <a:srgbClr val="0E2841"/>
                          </a:solidFill>
                          <a:latin typeface="Arial"/>
                        </a:rPr>
                        <a:t>342 V (-10%)</a:t>
                      </a:r>
                      <a:r>
                        <a:rPr sz="870" i="0" b="0">
                          <a:solidFill>
                            <a:srgbClr val="1B1B1B"/>
                          </a:solidFill>
                          <a:latin typeface="Arial"/>
                        </a:rPr>
                        <a:t> vẫn đạt </a:t>
                      </a:r>
                      <a:r>
                        <a:rPr sz="870" i="0" b="1">
                          <a:solidFill>
                            <a:srgbClr val="0E2841"/>
                          </a:solidFill>
                          <a:latin typeface="Arial"/>
                        </a:rPr>
                        <a:t>e_xl ≤ 5.0%</a:t>
                      </a:r>
                      <a:r>
                        <a:rPr sz="870" i="0" b="0">
                          <a:solidFill>
                            <a:srgbClr val="1B1B1B"/>
                          </a:solidFill>
                          <a:latin typeface="Arial"/>
                        </a:rPr>
                        <a:t>.</a:t>
                      </a:r>
                    </a:p>
                  </a:txBody>
                  <a:tcPr anchor="ctr" marT="19050" marB="19050" marL="50800" marR="50800">
                    <a:solidFill>
                      <a:srgbClr val="F8F9FA"/>
                    </a:solidFill>
                  </a:tcPr>
                </a:tc>
              </a:tr>
              <a:tr h="624953">
                <a:tc>
                  <a:txBody>
                    <a:bodyPr wrap="square"/>
                    <a:lstStyle/>
                    <a:p>
                      <a:pPr algn="ctr"/>
                      <a:r>
                        <a:rPr sz="870" i="0" b="1">
                          <a:solidFill>
                            <a:srgbClr val="0E2841"/>
                          </a:solidFill>
                          <a:latin typeface="Arial"/>
                        </a:rPr>
                        <a:t>DVP-L0-14</a:t>
                      </a:r>
                    </a:p>
                  </a:txBody>
                  <a:tcPr anchor="ctr" marT="19050" marB="19050" marL="50800" marR="50800">
                    <a:solidFill>
                      <a:srgbClr val="FFFFFF"/>
                    </a:solidFill>
                  </a:tcPr>
                </a:tc>
                <a:tc>
                  <a:txBody>
                    <a:bodyPr wrap="square"/>
                    <a:lstStyle/>
                    <a:p>
                      <a:pPr algn="l"/>
                      <a:r>
                        <a:rPr sz="870" i="0" b="1">
                          <a:solidFill>
                            <a:srgbClr val="0E2841"/>
                          </a:solidFill>
                          <a:latin typeface="Arial"/>
                        </a:rPr>
                        <a:t>PERM-07</a:t>
                      </a:r>
                    </a:p>
                  </a:txBody>
                  <a:tcPr anchor="ctr" marT="19050" marB="19050" marL="50800" marR="50800">
                    <a:solidFill>
                      <a:srgbClr val="FFFFFF"/>
                    </a:solidFill>
                  </a:tcPr>
                </a:tc>
                <a:tc>
                  <a:txBody>
                    <a:bodyPr wrap="square"/>
                    <a:lstStyle/>
                    <a:p>
                      <a:pPr algn="l"/>
                      <a:r>
                        <a:rPr sz="870" i="0" b="1">
                          <a:solidFill>
                            <a:srgbClr val="0E2841"/>
                          </a:solidFill>
                          <a:latin typeface="Arial"/>
                        </a:rPr>
                        <a:t>TS-01,04</a:t>
                      </a:r>
                      <a:r>
                        <a:rPr sz="870" i="0" b="0">
                          <a:solidFill>
                            <a:srgbClr val="1B1B1B"/>
                          </a:solidFill>
                          <a:latin typeface="Arial"/>
                        </a:rPr>
                        <a:t>
(A, I)</a:t>
                      </a:r>
                    </a:p>
                  </a:txBody>
                  <a:tcPr anchor="ctr" marT="19050" marB="19050" marL="50800" marR="50800">
                    <a:solidFill>
                      <a:srgbClr val="FFFFFF"/>
                    </a:solidFill>
                  </a:tcPr>
                </a:tc>
                <a:tc>
                  <a:txBody>
                    <a:bodyPr wrap="square"/>
                    <a:lstStyle/>
                    <a:p>
                      <a:pPr algn="l"/>
                      <a:r>
                        <a:rPr sz="870" i="0" b="0">
                          <a:solidFill>
                            <a:srgbClr val="1B1B1B"/>
                          </a:solidFill>
                          <a:latin typeface="Arial"/>
                        </a:rPr>
                        <a:t>Khớp đúng </a:t>
                      </a:r>
                      <a:r>
                        <a:rPr sz="870" i="0" b="1">
                          <a:solidFill>
                            <a:srgbClr val="0E2841"/>
                          </a:solidFill>
                          <a:latin typeface="Arial"/>
                        </a:rPr>
                        <a:t>d = 0.25 m</a:t>
                      </a:r>
                      <a:r>
                        <a:rPr sz="870" i="0" b="0">
                          <a:solidFill>
                            <a:srgbClr val="1B1B1B"/>
                          </a:solidFill>
                          <a:latin typeface="Arial"/>
                        </a:rPr>
                        <a:t> (</a:t>
                      </a:r>
                      <a:r>
                        <a:rPr sz="870" i="0" b="1">
                          <a:solidFill>
                            <a:srgbClr val="0E2841"/>
                          </a:solidFill>
                          <a:latin typeface="Arial"/>
                        </a:rPr>
                        <a:t>ω_bx = 0.96 rad/s</a:t>
                      </a:r>
                      <a:r>
                        <a:rPr sz="870" i="0" b="0">
                          <a:solidFill>
                            <a:srgbClr val="1B1B1B"/>
                          </a:solidFill>
                          <a:latin typeface="Arial"/>
                        </a:rPr>
                        <a:t> tại </a:t>
                      </a:r>
                      <a:r>
                        <a:rPr sz="870" i="0" b="1">
                          <a:solidFill>
                            <a:srgbClr val="0E2841"/>
                          </a:solidFill>
                          <a:latin typeface="Arial"/>
                        </a:rPr>
                        <a:t>0.12 m/s</a:t>
                      </a:r>
                      <a:r>
                        <a:rPr sz="870" i="0" b="0">
                          <a:solidFill>
                            <a:srgbClr val="1B1B1B"/>
                          </a:solidFill>
                          <a:latin typeface="Arial"/>
                        </a:rPr>
                        <a:t>), </a:t>
                      </a:r>
                      <a:r>
                        <a:rPr sz="870" i="0" b="1">
                          <a:solidFill>
                            <a:srgbClr val="0E2841"/>
                          </a:solidFill>
                          <a:latin typeface="Arial"/>
                        </a:rPr>
                        <a:t>η = 0.96</a:t>
                      </a:r>
                      <a:r>
                        <a:rPr sz="870" i="0" b="0">
                          <a:solidFill>
                            <a:srgbClr val="1B1B1B"/>
                          </a:solidFill>
                          <a:latin typeface="Arial"/>
                        </a:rPr>
                        <a:t>, </a:t>
                      </a:r>
                      <a:r>
                        <a:rPr sz="870" i="0" b="1">
                          <a:solidFill>
                            <a:srgbClr val="0E2841"/>
                          </a:solidFill>
                          <a:latin typeface="Arial"/>
                        </a:rPr>
                        <a:t>M_Σ = 14,244 kg</a:t>
                      </a:r>
                      <a:r>
                        <a:rPr sz="870" i="0" b="0">
                          <a:solidFill>
                            <a:srgbClr val="1B1B1B"/>
                          </a:solidFill>
                          <a:latin typeface="Arial"/>
                        </a:rPr>
                        <a:t>.</a:t>
                      </a:r>
                    </a:p>
                  </a:txBody>
                  <a:tcPr anchor="ctr" marT="19050" marB="19050" marL="50800" marR="508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13. CHUẨN HÓA ĐO LƯỜNG MÔ PHỎNG SIMULINK (KIỂM SOÁT RỦI RO RRM-05)</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Cấm dùng đạo hàm `du/dt` thuần túy — Trích xuất </a:t>
            </a:r>
            <a:r>
              <a:rPr sz="1350" i="0" b="1">
                <a:solidFill>
                  <a:srgbClr val="0E2841"/>
                </a:solidFill>
                <a:latin typeface="Arial"/>
              </a:rPr>
              <a:t>a(t)</a:t>
            </a:r>
            <a:r>
              <a:rPr sz="1350" i="0" b="1">
                <a:solidFill>
                  <a:srgbClr val="C00000"/>
                </a:solidFill>
                <a:latin typeface="Arial"/>
              </a:rPr>
              <a:t> trước khâu tích phân &amp; lọc thông thấp </a:t>
            </a:r>
            <a:r>
              <a:rPr sz="1350" i="0" b="1">
                <a:solidFill>
                  <a:srgbClr val="0E2841"/>
                </a:solidFill>
                <a:latin typeface="Arial"/>
              </a:rPr>
              <a:t>G_d(s)</a:t>
            </a:r>
            <a:r>
              <a:rPr sz="1350" i="0" b="1">
                <a:solidFill>
                  <a:srgbClr val="C00000"/>
                </a:solidFill>
                <a:latin typeface="Arial"/>
              </a:rPr>
              <a:t> cho </a:t>
            </a:r>
            <a:r>
              <a:rPr sz="1350" i="0" b="1">
                <a:solidFill>
                  <a:srgbClr val="0E2841"/>
                </a:solidFill>
                <a:latin typeface="Arial"/>
              </a:rPr>
              <a:t>ρ(t)</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SOW-1.3 — Simulink Measurement Standard (RRM-05 Mitigation) | Slide 14 / 16</a:t>
            </a:r>
          </a:p>
        </p:txBody>
      </p:sp>
      <p:graphicFrame>
        <p:nvGraphicFramePr>
          <p:cNvPr id="5" name="Table 4"/>
          <p:cNvGraphicFramePr>
            <a:graphicFrameLocks noGrp="1"/>
          </p:cNvGraphicFramePr>
          <p:nvPr/>
        </p:nvGraphicFramePr>
        <p:xfrm>
          <a:off x="310896" y="1234440"/>
          <a:ext cx="11567160" cy="2707536"/>
        </p:xfrm>
        <a:graphic>
          <a:graphicData uri="http://schemas.openxmlformats.org/drawingml/2006/table">
            <a:tbl>
              <a:tblPr firstRow="1" bandRow="1">
                <a:tableStyleId>{5C22544A-7EE6-4342-B048-85BDC9FD1C3A}</a:tableStyleId>
              </a:tblPr>
              <a:tblGrid>
                <a:gridCol w="2148840"/>
                <a:gridCol w="5349240"/>
                <a:gridCol w="4069080"/>
              </a:tblGrid>
              <a:tr h="292608">
                <a:tc>
                  <a:txBody>
                    <a:bodyPr wrap="square"/>
                    <a:lstStyle/>
                    <a:p>
                      <a:pPr algn="ctr"/>
                      <a:r>
                        <a:rPr sz="1050" b="1">
                          <a:solidFill>
                            <a:srgbClr val="FFFFFF"/>
                          </a:solidFill>
                          <a:latin typeface="Arial"/>
                        </a:rPr>
                        <a:t>Hạng mục Chuẩn hóa</a:t>
                      </a:r>
                    </a:p>
                  </a:txBody>
                  <a:tcPr anchor="ctr" marT="19050" marB="19050" marL="50800" marR="50800">
                    <a:solidFill>
                      <a:srgbClr val="0E2841"/>
                    </a:solidFill>
                  </a:tcPr>
                </a:tc>
                <a:tc>
                  <a:txBody>
                    <a:bodyPr wrap="square"/>
                    <a:lstStyle/>
                    <a:p>
                      <a:pPr algn="ctr"/>
                      <a:r>
                        <a:rPr sz="1050" b="1">
                          <a:solidFill>
                            <a:srgbClr val="FFFFFF"/>
                          </a:solidFill>
                          <a:latin typeface="Arial"/>
                        </a:rPr>
                        <a:t>Quy định Kỹ thuật Bắt buộc trên MATLAB/Simulink (Khối 4 &amp; Khối 5)</a:t>
                      </a:r>
                    </a:p>
                  </a:txBody>
                  <a:tcPr anchor="ctr" marT="19050" marB="19050" marL="50800" marR="50800">
                    <a:solidFill>
                      <a:srgbClr val="0E2841"/>
                    </a:solidFill>
                  </a:tcPr>
                </a:tc>
                <a:tc>
                  <a:txBody>
                    <a:bodyPr wrap="square"/>
                    <a:lstStyle/>
                    <a:p>
                      <a:pPr algn="ctr"/>
                      <a:r>
                        <a:rPr sz="1050" b="1">
                          <a:solidFill>
                            <a:srgbClr val="FFFFFF"/>
                          </a:solidFill>
                          <a:latin typeface="Arial"/>
                        </a:rPr>
                        <a:t>Lý do Vật lý &amp; Toán học (Phòng ngừa RRM-05)</a:t>
                      </a:r>
                    </a:p>
                  </a:txBody>
                  <a:tcPr anchor="ctr" marT="19050" marB="19050" marL="50800" marR="50800">
                    <a:solidFill>
                      <a:srgbClr val="0E2841"/>
                    </a:solidFill>
                  </a:tcPr>
                </a:tc>
              </a:tr>
              <a:tr h="804976">
                <a:tc>
                  <a:txBody>
                    <a:bodyPr wrap="square"/>
                    <a:lstStyle/>
                    <a:p>
                      <a:pPr algn="ctr"/>
                      <a:r>
                        <a:rPr sz="940" i="0" b="1">
                          <a:solidFill>
                            <a:srgbClr val="0E2841"/>
                          </a:solidFill>
                          <a:latin typeface="Arial"/>
                        </a:rPr>
                        <a:t>1. Cấu hình Bộ giải</a:t>
                      </a:r>
                      <a:r>
                        <a:rPr sz="940" i="0" b="1">
                          <a:solidFill>
                            <a:srgbClr val="0E2841"/>
                          </a:solidFill>
                          <a:latin typeface="Arial"/>
                        </a:rPr>
                        <a:t>
(Solver Configuration)</a:t>
                      </a:r>
                    </a:p>
                  </a:txBody>
                  <a:tcPr anchor="ctr" marT="19050" marB="19050" marL="50800" marR="50800">
                    <a:solidFill>
                      <a:srgbClr val="FFFFFF"/>
                    </a:solidFill>
                  </a:tcPr>
                </a:tc>
                <a:tc>
                  <a:txBody>
                    <a:bodyPr wrap="square"/>
                    <a:lstStyle/>
                    <a:p>
                      <a:pPr algn="l"/>
                      <a:r>
                        <a:rPr sz="940" i="0" b="0">
                          <a:solidFill>
                            <a:srgbClr val="1B1B1B"/>
                          </a:solidFill>
                          <a:latin typeface="Arial"/>
                        </a:rPr>
                        <a:t>• Dùng </a:t>
                      </a:r>
                      <a:r>
                        <a:rPr sz="940" i="0" b="1">
                          <a:solidFill>
                            <a:srgbClr val="0E2841"/>
                          </a:solidFill>
                          <a:latin typeface="Arial"/>
                        </a:rPr>
                        <a:t>ode4 (Runge-Kutta)</a:t>
                      </a:r>
                      <a:r>
                        <a:rPr sz="940" i="0" b="0">
                          <a:solidFill>
                            <a:srgbClr val="1B1B1B"/>
                          </a:solidFill>
                          <a:latin typeface="Arial"/>
                        </a:rPr>
                        <a:t> bước cố định hoặc </a:t>
                      </a:r>
                      <a:r>
                        <a:rPr sz="940" i="0" b="1">
                          <a:solidFill>
                            <a:srgbClr val="0E2841"/>
                          </a:solidFill>
                          <a:latin typeface="Arial"/>
                        </a:rPr>
                        <a:t>ode23tb / ode45</a:t>
                      </a:r>
                      <a:r>
                        <a:rPr sz="940" i="0" b="0">
                          <a:solidFill>
                            <a:srgbClr val="1B1B1B"/>
                          </a:solidFill>
                          <a:latin typeface="Arial"/>
                        </a:rPr>
                        <a:t> bước biến thiên.
• Bước tích phân cực đại </a:t>
                      </a:r>
                      <a:r>
                        <a:rPr sz="940" i="0" b="1">
                          <a:solidFill>
                            <a:srgbClr val="0E2841"/>
                          </a:solidFill>
                          <a:latin typeface="Arial"/>
                        </a:rPr>
                        <a:t>Max Step Size T_s ≤ 10⁻⁴ s (100 μs)</a:t>
                      </a:r>
                      <a:r>
                        <a:rPr sz="940" i="0" b="0">
                          <a:solidFill>
                            <a:srgbClr val="1B1B1B"/>
                          </a:solidFill>
                          <a:latin typeface="Arial"/>
                        </a:rPr>
                        <a:t>; sai số tương đối </a:t>
                      </a:r>
                      <a:r>
                        <a:rPr sz="940" i="0" b="1">
                          <a:solidFill>
                            <a:srgbClr val="0E2841"/>
                          </a:solidFill>
                          <a:latin typeface="Arial"/>
                        </a:rPr>
                        <a:t>RelTol ≤ 10⁻⁴</a:t>
                      </a:r>
                      <a:r>
                        <a:rPr sz="940" i="0" b="0">
                          <a:solidFill>
                            <a:srgbClr val="1B1B1B"/>
                          </a:solidFill>
                          <a:latin typeface="Arial"/>
                        </a:rPr>
                        <a:t>.</a:t>
                      </a:r>
                    </a:p>
                  </a:txBody>
                  <a:tcPr anchor="ctr" marT="19050" marB="19050" marL="50800" marR="50800">
                    <a:solidFill>
                      <a:srgbClr val="FFFFFF"/>
                    </a:solidFill>
                  </a:tcPr>
                </a:tc>
                <a:tc>
                  <a:txBody>
                    <a:bodyPr wrap="square"/>
                    <a:lstStyle/>
                    <a:p>
                      <a:pPr algn="l"/>
                      <a:r>
                        <a:rPr sz="940" i="0" b="0">
                          <a:solidFill>
                            <a:srgbClr val="1B1B1B"/>
                          </a:solidFill>
                          <a:latin typeface="Arial"/>
                        </a:rPr>
                        <a:t>Đảm bảo độ phân giải thời gian mịn gấp </a:t>
                      </a:r>
                      <a:r>
                        <a:rPr sz="940" i="0" b="1">
                          <a:solidFill>
                            <a:srgbClr val="0E2841"/>
                          </a:solidFill>
                          <a:latin typeface="Arial"/>
                        </a:rPr>
                        <a:t>≥ 2,500 lần</a:t>
                      </a:r>
                      <a:r>
                        <a:rPr sz="940" i="0" b="0">
                          <a:solidFill>
                            <a:srgbClr val="1B1B1B"/>
                          </a:solidFill>
                          <a:latin typeface="Arial"/>
                        </a:rPr>
                        <a:t> sườn dốc Jerk (</a:t>
                      </a:r>
                      <a:r>
                        <a:rPr sz="940" i="0" b="1">
                          <a:solidFill>
                            <a:srgbClr val="0E2841"/>
                          </a:solidFill>
                          <a:latin typeface="Arial"/>
                        </a:rPr>
                        <a:t>t_j = 0.25 s</a:t>
                      </a:r>
                      <a:r>
                        <a:rPr sz="940" i="0" b="0">
                          <a:solidFill>
                            <a:srgbClr val="1B1B1B"/>
                          </a:solidFill>
                          <a:latin typeface="Arial"/>
                        </a:rPr>
                        <a:t>), không gây trễ pha vòng dòng FOC.</a:t>
                      </a:r>
                    </a:p>
                  </a:txBody>
                  <a:tcPr anchor="ctr" marT="19050" marB="19050" marL="50800" marR="50800">
                    <a:solidFill>
                      <a:srgbClr val="FFFFFF"/>
                    </a:solidFill>
                  </a:tcPr>
                </a:tc>
              </a:tr>
              <a:tr h="804976">
                <a:tc>
                  <a:txBody>
                    <a:bodyPr wrap="square"/>
                    <a:lstStyle/>
                    <a:p>
                      <a:pPr algn="ctr"/>
                      <a:r>
                        <a:rPr sz="940" i="0" b="1">
                          <a:solidFill>
                            <a:srgbClr val="0E2841"/>
                          </a:solidFill>
                          <a:latin typeface="Arial"/>
                        </a:rPr>
                        <a:t>2. Trích xuất Gia tốc</a:t>
                      </a:r>
                      <a:r>
                        <a:rPr sz="940" i="0" b="1">
                          <a:solidFill>
                            <a:srgbClr val="C00000"/>
                          </a:solidFill>
                          <a:latin typeface="Arial"/>
                        </a:rPr>
                        <a:t>
(</a:t>
                      </a:r>
                      <a:r>
                        <a:rPr sz="940" i="0" b="1">
                          <a:solidFill>
                            <a:srgbClr val="0E2841"/>
                          </a:solidFill>
                          <a:latin typeface="Arial"/>
                        </a:rPr>
                        <a:t>a_xe(t)</a:t>
                      </a:r>
                      <a:r>
                        <a:rPr sz="940" i="0" b="1">
                          <a:solidFill>
                            <a:srgbClr val="C00000"/>
                          </a:solidFill>
                          <a:latin typeface="Arial"/>
                        </a:rPr>
                        <a:t> — Mục 3.4.2)</a:t>
                      </a:r>
                    </a:p>
                  </a:txBody>
                  <a:tcPr anchor="ctr" marT="19050" marB="19050" marL="50800" marR="50800">
                    <a:solidFill>
                      <a:srgbClr val="FEF9E7"/>
                    </a:solidFill>
                  </a:tcPr>
                </a:tc>
                <a:tc>
                  <a:txBody>
                    <a:bodyPr wrap="square"/>
                    <a:lstStyle/>
                    <a:p>
                      <a:pPr algn="l"/>
                      <a:r>
                        <a:rPr sz="940" i="0" b="1">
                          <a:solidFill>
                            <a:srgbClr val="1B1B1B"/>
                          </a:solidFill>
                          <a:latin typeface="Arial"/>
                        </a:rPr>
                        <a:t>• </a:t>
                      </a:r>
                      <a:r>
                        <a:rPr sz="940" i="0" b="1">
                          <a:solidFill>
                            <a:srgbClr val="0E2841"/>
                          </a:solidFill>
                          <a:latin typeface="Arial"/>
                        </a:rPr>
                        <a:t>TUYỆT ĐỐI KHÔNG</a:t>
                      </a:r>
                      <a:r>
                        <a:rPr sz="940" i="0" b="1">
                          <a:solidFill>
                            <a:srgbClr val="1B1B1B"/>
                          </a:solidFill>
                          <a:latin typeface="Arial"/>
                        </a:rPr>
                        <a:t> lấy đạo hàm số `du/dt` từ vận tốc có nhiễu.
• Trích xuất trực tiếp tại </a:t>
                      </a:r>
                      <a:r>
                        <a:rPr sz="940" i="0" b="1">
                          <a:solidFill>
                            <a:srgbClr val="0E2841"/>
                          </a:solidFill>
                          <a:latin typeface="Arial"/>
                        </a:rPr>
                        <a:t>nút phương trình vi phân cơ học trước khâu tích phân `1/s`</a:t>
                      </a:r>
                      <a:r>
                        <a:rPr sz="940" i="0" b="1">
                          <a:solidFill>
                            <a:srgbClr val="1B1B1B"/>
                          </a:solidFill>
                          <a:latin typeface="Arial"/>
                        </a:rPr>
                        <a:t>:
  </a:t>
                      </a:r>
                      <a:r>
                        <a:rPr sz="940" i="0" b="1">
                          <a:solidFill>
                            <a:srgbClr val="0E2841"/>
                          </a:solidFill>
                          <a:latin typeface="Arial"/>
                        </a:rPr>
                        <a:t>a_xe(t) = [ F_kéo(t) − F_cản(t) − F_lắc_cáp(t) ] / (m_xc + m_nh)</a:t>
                      </a:r>
                      <a:r>
                        <a:rPr sz="940" i="0" b="1">
                          <a:solidFill>
                            <a:srgbClr val="1B1B1B"/>
                          </a:solidFill>
                          <a:latin typeface="Arial"/>
                        </a:rPr>
                        <a:t>.</a:t>
                      </a:r>
                    </a:p>
                  </a:txBody>
                  <a:tcPr anchor="ctr" marT="19050" marB="19050" marL="50800" marR="50800">
                    <a:solidFill>
                      <a:srgbClr val="FEF9E7"/>
                    </a:solidFill>
                  </a:tcPr>
                </a:tc>
                <a:tc>
                  <a:txBody>
                    <a:bodyPr wrap="square"/>
                    <a:lstStyle/>
                    <a:p>
                      <a:pPr algn="l"/>
                      <a:r>
                        <a:rPr sz="940" i="0" b="1">
                          <a:solidFill>
                            <a:srgbClr val="1B1B1B"/>
                          </a:solidFill>
                          <a:latin typeface="Arial"/>
                        </a:rPr>
                        <a:t>Lấy đúng </a:t>
                      </a:r>
                      <a:r>
                        <a:rPr sz="940" i="0" b="1">
                          <a:solidFill>
                            <a:srgbClr val="0E2841"/>
                          </a:solidFill>
                          <a:latin typeface="Arial"/>
                        </a:rPr>
                        <a:t>gia tốc cơ học vật lý thực</a:t>
                      </a:r>
                      <a:r>
                        <a:rPr sz="940" i="0" b="1">
                          <a:solidFill>
                            <a:srgbClr val="1B1B1B"/>
                          </a:solidFill>
                          <a:latin typeface="Arial"/>
                        </a:rPr>
                        <a:t> tác động lên khung xe con, loại bỏ hoàn toàn sai số đạo hàm số học bậc 1.</a:t>
                      </a:r>
                    </a:p>
                  </a:txBody>
                  <a:tcPr anchor="ctr" marT="19050" marB="19050" marL="50800" marR="50800">
                    <a:solidFill>
                      <a:srgbClr val="FEF9E7"/>
                    </a:solidFill>
                  </a:tcPr>
                </a:tc>
              </a:tr>
              <a:tr h="804976">
                <a:tc>
                  <a:txBody>
                    <a:bodyPr wrap="square"/>
                    <a:lstStyle/>
                    <a:p>
                      <a:pPr algn="ctr"/>
                      <a:r>
                        <a:rPr sz="940" i="0" b="1">
                          <a:solidFill>
                            <a:srgbClr val="0E2841"/>
                          </a:solidFill>
                          <a:latin typeface="Arial"/>
                        </a:rPr>
                        <a:t>3. Đo Độ giật (Jerk)</a:t>
                      </a:r>
                      <a:r>
                        <a:rPr sz="940" i="0" b="1">
                          <a:solidFill>
                            <a:srgbClr val="C00000"/>
                          </a:solidFill>
                          <a:latin typeface="Arial"/>
                        </a:rPr>
                        <a:t>
(</a:t>
                      </a:r>
                      <a:r>
                        <a:rPr sz="940" i="0" b="1">
                          <a:solidFill>
                            <a:srgbClr val="0E2841"/>
                          </a:solidFill>
                          <a:latin typeface="Arial"/>
                        </a:rPr>
                        <a:t>ρ_xe(t)</a:t>
                      </a:r>
                      <a:r>
                        <a:rPr sz="940" i="0" b="1">
                          <a:solidFill>
                            <a:srgbClr val="C00000"/>
                          </a:solidFill>
                          <a:latin typeface="Arial"/>
                        </a:rPr>
                        <a:t> — Mục 3.4.3)</a:t>
                      </a:r>
                    </a:p>
                  </a:txBody>
                  <a:tcPr anchor="ctr" marT="19050" marB="19050" marL="50800" marR="50800">
                    <a:solidFill>
                      <a:srgbClr val="FEF9E7"/>
                    </a:solidFill>
                  </a:tcPr>
                </a:tc>
                <a:tc>
                  <a:txBody>
                    <a:bodyPr wrap="square"/>
                    <a:lstStyle/>
                    <a:p>
                      <a:pPr algn="l"/>
                      <a:r>
                        <a:rPr sz="940" i="0" b="1">
                          <a:solidFill>
                            <a:srgbClr val="1B1B1B"/>
                          </a:solidFill>
                          <a:latin typeface="Arial"/>
                        </a:rPr>
                        <a:t>• Tính </a:t>
                      </a:r>
                      <a:r>
                        <a:rPr sz="940" i="0" b="1">
                          <a:solidFill>
                            <a:srgbClr val="0E2841"/>
                          </a:solidFill>
                          <a:latin typeface="Arial"/>
                        </a:rPr>
                        <a:t>ρ_xe(t)</a:t>
                      </a:r>
                      <a:r>
                        <a:rPr sz="940" i="0" b="1">
                          <a:solidFill>
                            <a:srgbClr val="1B1B1B"/>
                          </a:solidFill>
                          <a:latin typeface="Arial"/>
                        </a:rPr>
                        <a:t> từ tín hiệu </a:t>
                      </a:r>
                      <a:r>
                        <a:rPr sz="940" i="0" b="1">
                          <a:solidFill>
                            <a:srgbClr val="0E2841"/>
                          </a:solidFill>
                          <a:latin typeface="Arial"/>
                        </a:rPr>
                        <a:t>a_xe(t)</a:t>
                      </a:r>
                      <a:r>
                        <a:rPr sz="940" i="0" b="1">
                          <a:solidFill>
                            <a:srgbClr val="1B1B1B"/>
                          </a:solidFill>
                          <a:latin typeface="Arial"/>
                        </a:rPr>
                        <a:t> thông qua </a:t>
                      </a:r>
                      <a:r>
                        <a:rPr sz="940" i="0" b="1">
                          <a:solidFill>
                            <a:srgbClr val="0E2841"/>
                          </a:solidFill>
                          <a:latin typeface="Arial"/>
                        </a:rPr>
                        <a:t>khâu vi phân thực có lọc thông thấp bậc nhất</a:t>
                      </a:r>
                      <a:r>
                        <a:rPr sz="940" i="0" b="1">
                          <a:solidFill>
                            <a:srgbClr val="1B1B1B"/>
                          </a:solidFill>
                          <a:latin typeface="Arial"/>
                        </a:rPr>
                        <a:t>:
  </a:t>
                      </a:r>
                      <a:r>
                        <a:rPr sz="940" i="0" b="1">
                          <a:solidFill>
                            <a:srgbClr val="0E2841"/>
                          </a:solidFill>
                          <a:latin typeface="Arial"/>
                        </a:rPr>
                        <a:t>G_d(s) = s / (T_f · s + 1)</a:t>
                      </a:r>
                      <a:r>
                        <a:rPr sz="940" i="0" b="1">
                          <a:solidFill>
                            <a:srgbClr val="1B1B1B"/>
                          </a:solidFill>
                          <a:latin typeface="Arial"/>
                        </a:rPr>
                        <a:t> với hằng số thời gian </a:t>
                      </a:r>
                      <a:r>
                        <a:rPr sz="940" i="0" b="1">
                          <a:solidFill>
                            <a:srgbClr val="0E2841"/>
                          </a:solidFill>
                          <a:latin typeface="Arial"/>
                        </a:rPr>
                        <a:t>T_f = 0.005 ÷ 0.01 s</a:t>
                      </a:r>
                      <a:r>
                        <a:rPr sz="940" i="0" b="1">
                          <a:solidFill>
                            <a:srgbClr val="1B1B1B"/>
                          </a:solidFill>
                          <a:latin typeface="Arial"/>
                        </a:rPr>
                        <a:t> (</a:t>
                      </a:r>
                      <a:r>
                        <a:rPr sz="940" i="0" b="1">
                          <a:solidFill>
                            <a:srgbClr val="0E2841"/>
                          </a:solidFill>
                          <a:latin typeface="Arial"/>
                        </a:rPr>
                        <a:t>f_c ≈ 16 ÷ 32 Hz</a:t>
                      </a:r>
                      <a:r>
                        <a:rPr sz="940" i="0" b="1">
                          <a:solidFill>
                            <a:srgbClr val="1B1B1B"/>
                          </a:solidFill>
                          <a:latin typeface="Arial"/>
                        </a:rPr>
                        <a:t>).</a:t>
                      </a:r>
                    </a:p>
                  </a:txBody>
                  <a:tcPr anchor="ctr" marT="19050" marB="19050" marL="50800" marR="50800">
                    <a:solidFill>
                      <a:srgbClr val="FEF9E7"/>
                    </a:solidFill>
                  </a:tcPr>
                </a:tc>
                <a:tc>
                  <a:txBody>
                    <a:bodyPr wrap="square"/>
                    <a:lstStyle/>
                    <a:p>
                      <a:pPr algn="l"/>
                      <a:r>
                        <a:rPr sz="940" i="0" b="1">
                          <a:solidFill>
                            <a:srgbClr val="1B1B1B"/>
                          </a:solidFill>
                          <a:latin typeface="Arial"/>
                        </a:rPr>
                        <a:t>Băng thông cơ khí xe con &amp; con lắc cáp chỉ nằm ở </a:t>
                      </a:r>
                      <a:r>
                        <a:rPr sz="940" i="0" b="1">
                          <a:solidFill>
                            <a:srgbClr val="0E2841"/>
                          </a:solidFill>
                          <a:latin typeface="Arial"/>
                        </a:rPr>
                        <a:t>0.14 ÷ 2 Hz</a:t>
                      </a:r>
                      <a:r>
                        <a:rPr sz="940" i="0" b="1">
                          <a:solidFill>
                            <a:srgbClr val="1B1B1B"/>
                          </a:solidFill>
                          <a:latin typeface="Arial"/>
                        </a:rPr>
                        <a:t> (</a:t>
                      </a:r>
                      <a:r>
                        <a:rPr sz="940" i="0" b="1">
                          <a:solidFill>
                            <a:srgbClr val="0E2841"/>
                          </a:solidFill>
                          <a:latin typeface="Arial"/>
                        </a:rPr>
                        <a:t>ω_p = 0.904 rad/s</a:t>
                      </a:r>
                      <a:r>
                        <a:rPr sz="940" i="0" b="1">
                          <a:solidFill>
                            <a:srgbClr val="1B1B1B"/>
                          </a:solidFill>
                          <a:latin typeface="Arial"/>
                        </a:rPr>
                        <a:t>), nên lọc ở </a:t>
                      </a:r>
                      <a:r>
                        <a:rPr sz="940" i="0" b="1">
                          <a:solidFill>
                            <a:srgbClr val="0E2841"/>
                          </a:solidFill>
                          <a:latin typeface="Arial"/>
                        </a:rPr>
                        <a:t>16÷32 Hz</a:t>
                      </a:r>
                      <a:r>
                        <a:rPr sz="940" i="0" b="1">
                          <a:solidFill>
                            <a:srgbClr val="1B1B1B"/>
                          </a:solidFill>
                          <a:latin typeface="Arial"/>
                        </a:rPr>
                        <a:t> bảo toàn 100% biên độ Jerk thật và cắt sạch gai nhiễu PWM.</a:t>
                      </a:r>
                    </a:p>
                  </a:txBody>
                  <a:tcPr anchor="ctr" marT="19050" marB="19050" marL="50800" marR="50800">
                    <a:solidFill>
                      <a:srgbClr val="FEF9E7"/>
                    </a:solidFill>
                  </a:tcPr>
                </a:tc>
              </a:tr>
            </a:tbl>
          </a:graphicData>
        </a:graphic>
      </p:graphicFrame>
      <p:sp>
        <p:nvSpPr>
          <p:cNvPr id="6" name="Rounded Rectangle 5"/>
          <p:cNvSpPr/>
          <p:nvPr/>
        </p:nvSpPr>
        <p:spPr>
          <a:xfrm>
            <a:off x="310896" y="4169663"/>
            <a:ext cx="11567160" cy="2029968"/>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rawio_10_simulink_block_only.png"/>
          <p:cNvPicPr>
            <a:picLocks noChangeAspect="1"/>
          </p:cNvPicPr>
          <p:nvPr/>
        </p:nvPicPr>
        <p:blipFill>
          <a:blip r:embed="rId3"/>
          <a:stretch>
            <a:fillRect/>
          </a:stretch>
        </p:blipFill>
        <p:spPr>
          <a:xfrm>
            <a:off x="3018906" y="4215383"/>
            <a:ext cx="6151139" cy="1650492"/>
          </a:xfrm>
          <a:prstGeom prst="rect">
            <a:avLst/>
          </a:prstGeom>
        </p:spPr>
      </p:pic>
      <p:sp>
        <p:nvSpPr>
          <p:cNvPr id="8" name="TextBox 7"/>
          <p:cNvSpPr txBox="1"/>
          <p:nvPr/>
        </p:nvSpPr>
        <p:spPr>
          <a:xfrm>
            <a:off x="347472" y="5888736"/>
            <a:ext cx="11494008" cy="292608"/>
          </a:xfrm>
          <a:prstGeom prst="rect">
            <a:avLst/>
          </a:prstGeom>
          <a:noFill/>
        </p:spPr>
        <p:txBody>
          <a:bodyPr wrap="square" anchor="ctr" lIns="12700" tIns="12700" rIns="12700" bIns="12700">
            <a:spAutoFit/>
          </a:bodyPr>
          <a:lstStyle/>
          <a:p>
            <a:pPr algn="ctr"/>
            <a:r>
              <a:rPr sz="880" b="1" i="1">
                <a:solidFill>
                  <a:srgbClr val="0E2841"/>
                </a:solidFill>
                <a:latin typeface="Arial"/>
              </a:rPr>
              <a:t>Sơ đồ khối trích xuất trực tiếp a_xe(t) trước khâu 1/s và bộ lọc vi phân thực G_d(s) = s/(T_f·s + 1) đo độ giật ρ(t) — Draw.io 10 (300 DPI)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14. CHECKLIST ĐÓNG CỔNG GATE 2 (SRR-EVT) &amp; BÀN GIAO SANG KHỐI 2 (PDR)</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Đạt </a:t>
            </a:r>
            <a:r>
              <a:rPr sz="1350" i="0" b="1">
                <a:solidFill>
                  <a:srgbClr val="0E2841"/>
                </a:solidFill>
                <a:latin typeface="Arial"/>
              </a:rPr>
              <a:t>100% (6/6) tiêu chí Exit Criteria</a:t>
            </a:r>
            <a:r>
              <a:rPr sz="1350" i="0" b="1">
                <a:solidFill>
                  <a:srgbClr val="C00000"/>
                </a:solidFill>
                <a:latin typeface="Arial"/>
              </a:rPr>
              <a:t> theo </a:t>
            </a:r>
            <a:r>
              <a:rPr sz="1350" i="0" b="1">
                <a:solidFill>
                  <a:srgbClr val="0E2841"/>
                </a:solidFill>
                <a:latin typeface="Arial"/>
              </a:rPr>
              <a:t>FLOW_REVIEW.md §5.2</a:t>
            </a:r>
            <a:r>
              <a:rPr sz="1350" i="0" b="1">
                <a:solidFill>
                  <a:srgbClr val="C00000"/>
                </a:solidFill>
                <a:latin typeface="Arial"/>
              </a:rPr>
              <a:t> &amp; </a:t>
            </a:r>
            <a:r>
              <a:rPr sz="1350" i="0" b="1">
                <a:solidFill>
                  <a:srgbClr val="0E2841"/>
                </a:solidFill>
                <a:latin typeface="Arial"/>
              </a:rPr>
              <a:t>NASA Table 6.7-5</a:t>
            </a:r>
            <a:r>
              <a:rPr sz="1350" i="0" b="1">
                <a:solidFill>
                  <a:srgbClr val="C00000"/>
                </a:solidFill>
                <a:latin typeface="Arial"/>
              </a:rPr>
              <a:t> — Sẵn sàng mở </a:t>
            </a:r>
            <a:r>
              <a:rPr sz="1350" i="0" b="1">
                <a:solidFill>
                  <a:srgbClr val="0E2841"/>
                </a:solidFill>
                <a:latin typeface="Arial"/>
              </a:rPr>
              <a:t>Khối 2</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Gate 2 (SRR-EVT) Exit Review &amp; Handover to Block 2 (PDR) | Slide 15 / 16</a:t>
            </a:r>
          </a:p>
        </p:txBody>
      </p:sp>
      <p:graphicFrame>
        <p:nvGraphicFramePr>
          <p:cNvPr id="5" name="Table 4"/>
          <p:cNvGraphicFramePr>
            <a:graphicFrameLocks noGrp="1"/>
          </p:cNvGraphicFramePr>
          <p:nvPr/>
        </p:nvGraphicFramePr>
        <p:xfrm>
          <a:off x="310896" y="1234440"/>
          <a:ext cx="6903720" cy="4667280"/>
        </p:xfrm>
        <a:graphic>
          <a:graphicData uri="http://schemas.openxmlformats.org/drawingml/2006/table">
            <a:tbl>
              <a:tblPr firstRow="1" bandRow="1">
                <a:tableStyleId>{5C22544A-7EE6-4342-B048-85BDC9FD1C3A}</a:tableStyleId>
              </a:tblPr>
              <a:tblGrid>
                <a:gridCol w="457200"/>
                <a:gridCol w="2514600"/>
                <a:gridCol w="2971800"/>
                <a:gridCol w="960120"/>
              </a:tblGrid>
              <a:tr h="292608">
                <a:tc>
                  <a:txBody>
                    <a:bodyPr wrap="square"/>
                    <a:lstStyle/>
                    <a:p>
                      <a:pPr algn="ctr"/>
                      <a:r>
                        <a:rPr sz="1000" b="1">
                          <a:solidFill>
                            <a:srgbClr val="FFFFFF"/>
                          </a:solidFill>
                          <a:latin typeface="Arial"/>
                        </a:rPr>
                        <a:t>TT</a:t>
                      </a:r>
                    </a:p>
                  </a:txBody>
                  <a:tcPr anchor="ctr" marT="19050" marB="19050" marL="50800" marR="50800">
                    <a:solidFill>
                      <a:srgbClr val="0E2841"/>
                    </a:solidFill>
                  </a:tcPr>
                </a:tc>
                <a:tc>
                  <a:txBody>
                    <a:bodyPr wrap="square"/>
                    <a:lstStyle/>
                    <a:p>
                      <a:pPr algn="ctr"/>
                      <a:r>
                        <a:rPr sz="1000" b="1">
                          <a:solidFill>
                            <a:srgbClr val="FFFFFF"/>
                          </a:solidFill>
                          <a:latin typeface="Arial"/>
                        </a:rPr>
                        <a:t>Tiêu chí Đóng cổng Gate 2 (SRR-EVT Exit Criteria)</a:t>
                      </a:r>
                    </a:p>
                  </a:txBody>
                  <a:tcPr anchor="ctr" marT="19050" marB="19050" marL="50800" marR="50800">
                    <a:solidFill>
                      <a:srgbClr val="0E2841"/>
                    </a:solidFill>
                  </a:tcPr>
                </a:tc>
                <a:tc>
                  <a:txBody>
                    <a:bodyPr wrap="square"/>
                    <a:lstStyle/>
                    <a:p>
                      <a:pPr algn="ctr"/>
                      <a:r>
                        <a:rPr sz="1000" b="1">
                          <a:solidFill>
                            <a:srgbClr val="FFFFFF"/>
                          </a:solidFill>
                          <a:latin typeface="Arial"/>
                        </a:rPr>
                        <a:t>Bằng chứng Hồ sơ Khối 1 (Nhóm 8.5-EMG — Đề x = 2)</a:t>
                      </a:r>
                    </a:p>
                  </a:txBody>
                  <a:tcPr anchor="ctr" marT="19050" marB="19050" marL="50800" marR="50800">
                    <a:solidFill>
                      <a:srgbClr val="0E2841"/>
                    </a:solidFill>
                  </a:tcPr>
                </a:tc>
                <a:tc>
                  <a:txBody>
                    <a:bodyPr wrap="square"/>
                    <a:lstStyle/>
                    <a:p>
                      <a:pPr algn="ctr"/>
                      <a:r>
                        <a:rPr sz="1000" b="1">
                          <a:solidFill>
                            <a:srgbClr val="FFFFFF"/>
                          </a:solidFill>
                          <a:latin typeface="Arial"/>
                        </a:rPr>
                        <a:t>Trạng thái</a:t>
                      </a:r>
                    </a:p>
                  </a:txBody>
                  <a:tcPr anchor="ctr" marT="19050" marB="19050" marL="50800" marR="50800">
                    <a:solidFill>
                      <a:srgbClr val="0E2841"/>
                    </a:solidFill>
                  </a:tcPr>
                </a:tc>
              </a:tr>
              <a:tr h="729112">
                <a:tc>
                  <a:txBody>
                    <a:bodyPr wrap="square"/>
                    <a:lstStyle/>
                    <a:p>
                      <a:pPr algn="ctr"/>
                      <a:r>
                        <a:rPr sz="890" i="0" b="1">
                          <a:solidFill>
                            <a:srgbClr val="0E2841"/>
                          </a:solidFill>
                          <a:latin typeface="Arial"/>
                        </a:rPr>
                        <a:t>1</a:t>
                      </a:r>
                    </a:p>
                  </a:txBody>
                  <a:tcPr anchor="ctr" marT="19050" marB="19050" marL="50800" marR="50800">
                    <a:solidFill>
                      <a:srgbClr val="FDEDEC"/>
                    </a:solidFill>
                  </a:tcPr>
                </a:tc>
                <a:tc>
                  <a:txBody>
                    <a:bodyPr wrap="square"/>
                    <a:lstStyle/>
                    <a:p>
                      <a:pPr algn="l"/>
                      <a:r>
                        <a:rPr sz="890" i="0" b="1">
                          <a:solidFill>
                            <a:srgbClr val="0E2841"/>
                          </a:solidFill>
                          <a:latin typeface="Arial"/>
                        </a:rPr>
                        <a:t>Ranh giới Hệ thống &amp; P-Diagram hoàn chỉnh</a:t>
                      </a:r>
                      <a:r>
                        <a:rPr sz="890" i="0" b="1">
                          <a:solidFill>
                            <a:srgbClr val="1B1B1B"/>
                          </a:solidFill>
                          <a:latin typeface="Arial"/>
                        </a:rPr>
                        <a:t>
(Khoanh vùng SoI và định lượng đủ 10 giao diện)</a:t>
                      </a:r>
                    </a:p>
                  </a:txBody>
                  <a:tcPr anchor="ctr" marT="19050" marB="19050" marL="50800" marR="50800">
                    <a:solidFill>
                      <a:srgbClr val="FDEDEC"/>
                    </a:solidFill>
                  </a:tcPr>
                </a:tc>
                <a:tc>
                  <a:txBody>
                    <a:bodyPr wrap="square"/>
                    <a:lstStyle/>
                    <a:p>
                      <a:pPr algn="l"/>
                      <a:r>
                        <a:rPr sz="890" i="0" b="1">
                          <a:solidFill>
                            <a:srgbClr val="1B1B1B"/>
                          </a:solidFill>
                          <a:latin typeface="Arial"/>
                        </a:rPr>
                        <a:t>Sơ đồ </a:t>
                      </a:r>
                      <a:r>
                        <a:rPr sz="890" i="0" b="1">
                          <a:solidFill>
                            <a:srgbClr val="0E2841"/>
                          </a:solidFill>
                          <a:latin typeface="Arial"/>
                        </a:rPr>
                        <a:t>System Boundary</a:t>
                      </a:r>
                      <a:r>
                        <a:rPr sz="890" i="0" b="1">
                          <a:solidFill>
                            <a:srgbClr val="1B1B1B"/>
                          </a:solidFill>
                          <a:latin typeface="Arial"/>
                        </a:rPr>
                        <a:t> (3 vùng, </a:t>
                      </a:r>
                      <a:r>
                        <a:rPr sz="890" i="0" b="1">
                          <a:solidFill>
                            <a:srgbClr val="0E2841"/>
                          </a:solidFill>
                          <a:latin typeface="Arial"/>
                        </a:rPr>
                        <a:t>IF-01..10 [P/E/I/M]</a:t>
                      </a:r>
                      <a:r>
                        <a:rPr sz="890" i="0" b="1">
                          <a:solidFill>
                            <a:srgbClr val="1B1B1B"/>
                          </a:solidFill>
                          <a:latin typeface="Arial"/>
                        </a:rPr>
                        <a:t>) &amp; </a:t>
                      </a:r>
                      <a:r>
                        <a:rPr sz="890" i="0" b="1">
                          <a:solidFill>
                            <a:srgbClr val="0E2841"/>
                          </a:solidFill>
                          <a:latin typeface="Arial"/>
                        </a:rPr>
                        <a:t>P-Diagram</a:t>
                      </a:r>
                      <a:r>
                        <a:rPr sz="890" i="0" b="1">
                          <a:solidFill>
                            <a:srgbClr val="1B1B1B"/>
                          </a:solidFill>
                          <a:latin typeface="Arial"/>
                        </a:rPr>
                        <a:t> (</a:t>
                      </a:r>
                      <a:r>
                        <a:rPr sz="890" i="0" b="1">
                          <a:solidFill>
                            <a:srgbClr val="C00000"/>
                          </a:solidFill>
                          <a:latin typeface="Arial"/>
                        </a:rPr>
                        <a:t>N1..N4, CF1..CF6, E1..E4</a:t>
                      </a:r>
                      <a:r>
                        <a:rPr sz="890" i="0" b="1">
                          <a:solidFill>
                            <a:srgbClr val="1B1B1B"/>
                          </a:solidFill>
                          <a:latin typeface="Arial"/>
                        </a:rPr>
                        <a:t>) tại Mục 1 &amp; 2 SRS.</a:t>
                      </a:r>
                    </a:p>
                  </a:txBody>
                  <a:tcPr anchor="ctr" marT="19050" marB="19050" marL="50800" marR="50800">
                    <a:solidFill>
                      <a:srgbClr val="FDEDEC"/>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FDEDEC"/>
                    </a:solidFill>
                  </a:tcPr>
                </a:tc>
              </a:tr>
              <a:tr h="729112">
                <a:tc>
                  <a:txBody>
                    <a:bodyPr wrap="square"/>
                    <a:lstStyle/>
                    <a:p>
                      <a:pPr algn="ctr"/>
                      <a:r>
                        <a:rPr sz="890" i="0" b="1">
                          <a:solidFill>
                            <a:srgbClr val="0E2841"/>
                          </a:solidFill>
                          <a:latin typeface="Arial"/>
                        </a:rPr>
                        <a:t>2</a:t>
                      </a:r>
                    </a:p>
                  </a:txBody>
                  <a:tcPr anchor="ctr" marT="19050" marB="19050" marL="50800" marR="50800">
                    <a:solidFill>
                      <a:srgbClr val="FDEDEC"/>
                    </a:solidFill>
                  </a:tcPr>
                </a:tc>
                <a:tc>
                  <a:txBody>
                    <a:bodyPr wrap="square"/>
                    <a:lstStyle/>
                    <a:p>
                      <a:pPr algn="l"/>
                      <a:r>
                        <a:rPr sz="890" i="0" b="1">
                          <a:solidFill>
                            <a:srgbClr val="0E2841"/>
                          </a:solidFill>
                          <a:latin typeface="Arial"/>
                        </a:rPr>
                        <a:t>Trích xuất đầy đủ CTQ &amp; CTS định lượng</a:t>
                      </a:r>
                      <a:r>
                        <a:rPr sz="890" i="0" b="1">
                          <a:solidFill>
                            <a:srgbClr val="1B1B1B"/>
                          </a:solidFill>
                          <a:latin typeface="Arial"/>
                        </a:rPr>
                        <a:t>
(Liên kết trực tiếp với 8 cột HoQ EC Khối 0)</a:t>
                      </a:r>
                    </a:p>
                  </a:txBody>
                  <a:tcPr anchor="ctr" marT="19050" marB="19050" marL="50800" marR="50800">
                    <a:solidFill>
                      <a:srgbClr val="FDEDEC"/>
                    </a:solidFill>
                  </a:tcPr>
                </a:tc>
                <a:tc>
                  <a:txBody>
                    <a:bodyPr wrap="square"/>
                    <a:lstStyle/>
                    <a:p>
                      <a:pPr algn="l"/>
                      <a:r>
                        <a:rPr sz="890" i="0" b="1">
                          <a:solidFill>
                            <a:srgbClr val="1B1B1B"/>
                          </a:solidFill>
                          <a:latin typeface="Arial"/>
                        </a:rPr>
                        <a:t>Đã khóa </a:t>
                      </a:r>
                      <a:r>
                        <a:rPr sz="890" i="0" b="1">
                          <a:solidFill>
                            <a:srgbClr val="0E2841"/>
                          </a:solidFill>
                          <a:latin typeface="Arial"/>
                        </a:rPr>
                        <a:t>8 chỉ tiêu CTQ-01..08</a:t>
                      </a:r>
                      <a:r>
                        <a:rPr sz="890" i="0" b="1">
                          <a:solidFill>
                            <a:srgbClr val="1B1B1B"/>
                          </a:solidFill>
                          <a:latin typeface="Arial"/>
                        </a:rPr>
                        <a:t> và tích hợp </a:t>
                      </a:r>
                      <a:r>
                        <a:rPr sz="890" i="0" b="1">
                          <a:solidFill>
                            <a:srgbClr val="C00000"/>
                          </a:solidFill>
                          <a:latin typeface="Arial"/>
                        </a:rPr>
                        <a:t>5 chỉ tiêu CTS-01..05</a:t>
                      </a:r>
                      <a:r>
                        <a:rPr sz="890" i="0" b="1">
                          <a:solidFill>
                            <a:srgbClr val="1B1B1B"/>
                          </a:solidFill>
                          <a:latin typeface="Arial"/>
                        </a:rPr>
                        <a:t> vào tập yêu cầu FUNC &amp; PERM (Mục 1.2 &amp; 1.3 RTM).</a:t>
                      </a:r>
                    </a:p>
                  </a:txBody>
                  <a:tcPr anchor="ctr" marT="19050" marB="19050" marL="50800" marR="50800">
                    <a:solidFill>
                      <a:srgbClr val="FDEDEC"/>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FDEDEC"/>
                    </a:solidFill>
                  </a:tcPr>
                </a:tc>
              </a:tr>
              <a:tr h="729112">
                <a:tc>
                  <a:txBody>
                    <a:bodyPr wrap="square"/>
                    <a:lstStyle/>
                    <a:p>
                      <a:pPr algn="ctr"/>
                      <a:r>
                        <a:rPr sz="890" i="0" b="1">
                          <a:solidFill>
                            <a:srgbClr val="0E2841"/>
                          </a:solidFill>
                          <a:latin typeface="Arial"/>
                        </a:rPr>
                        <a:t>3</a:t>
                      </a:r>
                    </a:p>
                  </a:txBody>
                  <a:tcPr anchor="ctr" marT="19050" marB="19050" marL="50800" marR="50800">
                    <a:solidFill>
                      <a:srgbClr val="E8F8F5"/>
                    </a:solidFill>
                  </a:tcPr>
                </a:tc>
                <a:tc>
                  <a:txBody>
                    <a:bodyPr wrap="square"/>
                    <a:lstStyle/>
                    <a:p>
                      <a:pPr algn="l"/>
                      <a:r>
                        <a:rPr sz="890" i="0" b="1">
                          <a:solidFill>
                            <a:srgbClr val="0E2841"/>
                          </a:solidFill>
                          <a:latin typeface="Arial"/>
                        </a:rPr>
                        <a:t>Tập yêu cầu SRS nguyên tử (Atomic &amp; Testable)</a:t>
                      </a:r>
                      <a:r>
                        <a:rPr sz="890" i="0" b="1">
                          <a:solidFill>
                            <a:srgbClr val="1B1B1B"/>
                          </a:solidFill>
                          <a:latin typeface="Arial"/>
                        </a:rPr>
                        <a:t>
(Tuân thủ cú pháp 5 thành phần IEEE 29148)</a:t>
                      </a:r>
                    </a:p>
                  </a:txBody>
                  <a:tcPr anchor="ctr" marT="19050" marB="19050" marL="50800" marR="50800">
                    <a:solidFill>
                      <a:srgbClr val="E8F8F5"/>
                    </a:solidFill>
                  </a:tcPr>
                </a:tc>
                <a:tc>
                  <a:txBody>
                    <a:bodyPr wrap="square"/>
                    <a:lstStyle/>
                    <a:p>
                      <a:pPr algn="l"/>
                      <a:r>
                        <a:rPr sz="890" i="0" b="1">
                          <a:solidFill>
                            <a:srgbClr val="0E2841"/>
                          </a:solidFill>
                          <a:latin typeface="Arial"/>
                        </a:rPr>
                        <a:t>14 yêu cầu SRS</a:t>
                      </a:r>
                      <a:r>
                        <a:rPr sz="890" i="0" b="1">
                          <a:solidFill>
                            <a:srgbClr val="1B1B1B"/>
                          </a:solidFill>
                          <a:latin typeface="Arial"/>
                        </a:rPr>
                        <a:t> (</a:t>
                      </a:r>
                      <a:r>
                        <a:rPr sz="890" i="0" b="1">
                          <a:solidFill>
                            <a:srgbClr val="0E2841"/>
                          </a:solidFill>
                          <a:latin typeface="Arial"/>
                        </a:rPr>
                        <a:t>7 SRS-FUNC-01..07</a:t>
                      </a:r>
                      <a:r>
                        <a:rPr sz="890" i="0" b="1">
                          <a:solidFill>
                            <a:srgbClr val="1B1B1B"/>
                          </a:solidFill>
                          <a:latin typeface="Arial"/>
                        </a:rPr>
                        <a:t> + </a:t>
                      </a:r>
                      <a:r>
                        <a:rPr sz="890" i="0" b="1">
                          <a:solidFill>
                            <a:srgbClr val="0E2841"/>
                          </a:solidFill>
                          <a:latin typeface="Arial"/>
                        </a:rPr>
                        <a:t>7 SRS-PERM-01..07</a:t>
                      </a:r>
                      <a:r>
                        <a:rPr sz="890" i="0" b="1">
                          <a:solidFill>
                            <a:srgbClr val="1B1B1B"/>
                          </a:solidFill>
                          <a:latin typeface="Arial"/>
                        </a:rPr>
                        <a:t>) dùng cấu trúc </a:t>
                      </a:r>
                      <a:r>
                        <a:rPr sz="890" i="0" b="1">
                          <a:solidFill>
                            <a:srgbClr val="C00000"/>
                          </a:solidFill>
                          <a:latin typeface="Arial"/>
                        </a:rPr>
                        <a:t>'PHẢI (SHALL)'</a:t>
                      </a:r>
                      <a:r>
                        <a:rPr sz="890" i="0" b="1">
                          <a:solidFill>
                            <a:srgbClr val="1B1B1B"/>
                          </a:solidFill>
                          <a:latin typeface="Arial"/>
                        </a:rPr>
                        <a:t>, không mơ hồ.</a:t>
                      </a:r>
                    </a:p>
                  </a:txBody>
                  <a:tcPr anchor="ctr" marT="19050" marB="19050" marL="50800" marR="50800">
                    <a:solidFill>
                      <a:srgbClr val="E8F8F5"/>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E8F8F5"/>
                    </a:solidFill>
                  </a:tcPr>
                </a:tc>
              </a:tr>
              <a:tr h="729112">
                <a:tc>
                  <a:txBody>
                    <a:bodyPr wrap="square"/>
                    <a:lstStyle/>
                    <a:p>
                      <a:pPr algn="ctr"/>
                      <a:r>
                        <a:rPr sz="890" i="0" b="1">
                          <a:solidFill>
                            <a:srgbClr val="0E2841"/>
                          </a:solidFill>
                          <a:latin typeface="Arial"/>
                        </a:rPr>
                        <a:t>4</a:t>
                      </a:r>
                    </a:p>
                  </a:txBody>
                  <a:tcPr anchor="ctr" marT="19050" marB="19050" marL="50800" marR="50800">
                    <a:solidFill>
                      <a:srgbClr val="E8F8F5"/>
                    </a:solidFill>
                  </a:tcPr>
                </a:tc>
                <a:tc>
                  <a:txBody>
                    <a:bodyPr wrap="square"/>
                    <a:lstStyle/>
                    <a:p>
                      <a:pPr algn="l"/>
                      <a:r>
                        <a:rPr sz="890" i="0" b="1">
                          <a:solidFill>
                            <a:srgbClr val="0E2841"/>
                          </a:solidFill>
                          <a:latin typeface="Arial"/>
                        </a:rPr>
                        <a:t>Không áp đặt linh kiện thương mại sớm</a:t>
                      </a:r>
                      <a:r>
                        <a:rPr sz="890" i="0" b="1">
                          <a:solidFill>
                            <a:srgbClr val="1B1B1B"/>
                          </a:solidFill>
                          <a:latin typeface="Arial"/>
                        </a:rPr>
                        <a:t>
(Design-Independent SRS tại cổng SRR)</a:t>
                      </a:r>
                    </a:p>
                  </a:txBody>
                  <a:tcPr anchor="ctr" marT="19050" marB="19050" marL="50800" marR="50800">
                    <a:solidFill>
                      <a:srgbClr val="E8F8F5"/>
                    </a:solidFill>
                  </a:tcPr>
                </a:tc>
                <a:tc>
                  <a:txBody>
                    <a:bodyPr wrap="square"/>
                    <a:lstStyle/>
                    <a:p>
                      <a:pPr algn="l"/>
                      <a:r>
                        <a:rPr sz="890" i="0" b="1">
                          <a:solidFill>
                            <a:srgbClr val="1B1B1B"/>
                          </a:solidFill>
                          <a:latin typeface="Arial"/>
                        </a:rPr>
                        <a:t>Chỉ quy định ngưỡng chức năng &amp; vật lý (</a:t>
                      </a:r>
                      <a:r>
                        <a:rPr sz="890" i="0" b="1">
                          <a:solidFill>
                            <a:srgbClr val="0E2841"/>
                          </a:solidFill>
                          <a:latin typeface="Arial"/>
                        </a:rPr>
                        <a:t>100÷150% M_đm</a:t>
                      </a:r>
                      <a:r>
                        <a:rPr sz="890" i="0" b="1">
                          <a:solidFill>
                            <a:srgbClr val="1B1B1B"/>
                          </a:solidFill>
                          <a:latin typeface="Arial"/>
                        </a:rPr>
                        <a:t>, </a:t>
                      </a:r>
                      <a:r>
                        <a:rPr sz="890" i="0" b="1">
                          <a:solidFill>
                            <a:srgbClr val="0E2841"/>
                          </a:solidFill>
                          <a:latin typeface="Arial"/>
                        </a:rPr>
                        <a:t>U_dc &lt; 780V</a:t>
                      </a:r>
                      <a:r>
                        <a:rPr sz="890" i="0" b="1">
                          <a:solidFill>
                            <a:srgbClr val="1B1B1B"/>
                          </a:solidFill>
                          <a:latin typeface="Arial"/>
                        </a:rPr>
                        <a:t>, </a:t>
                      </a:r>
                      <a:r>
                        <a:rPr sz="890" i="0" b="1">
                          <a:solidFill>
                            <a:srgbClr val="0E2841"/>
                          </a:solidFill>
                          <a:latin typeface="Arial"/>
                        </a:rPr>
                        <a:t>k_dt ∈ [1.2;1.5]</a:t>
                      </a:r>
                      <a:r>
                        <a:rPr sz="890" i="0" b="1">
                          <a:solidFill>
                            <a:srgbClr val="1B1B1B"/>
                          </a:solidFill>
                          <a:latin typeface="Arial"/>
                        </a:rPr>
                        <a:t>), chưa khóa hãng sản xuất.</a:t>
                      </a:r>
                    </a:p>
                  </a:txBody>
                  <a:tcPr anchor="ctr" marT="19050" marB="19050" marL="50800" marR="50800">
                    <a:solidFill>
                      <a:srgbClr val="E8F8F5"/>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E8F8F5"/>
                    </a:solidFill>
                  </a:tcPr>
                </a:tc>
              </a:tr>
              <a:tr h="729112">
                <a:tc>
                  <a:txBody>
                    <a:bodyPr wrap="square"/>
                    <a:lstStyle/>
                    <a:p>
                      <a:pPr algn="ctr"/>
                      <a:r>
                        <a:rPr sz="890" i="0" b="1">
                          <a:solidFill>
                            <a:srgbClr val="0E2841"/>
                          </a:solidFill>
                          <a:latin typeface="Arial"/>
                        </a:rPr>
                        <a:t>5</a:t>
                      </a:r>
                    </a:p>
                  </a:txBody>
                  <a:tcPr anchor="ctr" marT="19050" marB="19050" marL="50800" marR="50800">
                    <a:solidFill>
                      <a:srgbClr val="E8F8F5"/>
                    </a:solidFill>
                  </a:tcPr>
                </a:tc>
                <a:tc>
                  <a:txBody>
                    <a:bodyPr wrap="square"/>
                    <a:lstStyle/>
                    <a:p>
                      <a:pPr algn="l"/>
                      <a:r>
                        <a:rPr sz="890" i="0" b="1">
                          <a:solidFill>
                            <a:srgbClr val="0E2841"/>
                          </a:solidFill>
                          <a:latin typeface="Arial"/>
                        </a:rPr>
                        <a:t>Ma trận Truy vết 2 chiều (RTM) khép kín</a:t>
                      </a:r>
                      <a:r>
                        <a:rPr sz="890" i="0" b="1">
                          <a:solidFill>
                            <a:srgbClr val="1B1B1B"/>
                          </a:solidFill>
                          <a:latin typeface="Arial"/>
                        </a:rPr>
                        <a:t>
(Không yêu cầu mồ côi, không mạ vàng thừa)</a:t>
                      </a:r>
                    </a:p>
                  </a:txBody>
                  <a:tcPr anchor="ctr" marT="19050" marB="19050" marL="50800" marR="50800">
                    <a:solidFill>
                      <a:srgbClr val="E8F8F5"/>
                    </a:solidFill>
                  </a:tcPr>
                </a:tc>
                <a:tc>
                  <a:txBody>
                    <a:bodyPr wrap="square"/>
                    <a:lstStyle/>
                    <a:p>
                      <a:pPr algn="l"/>
                      <a:r>
                        <a:rPr sz="890" i="0" b="1">
                          <a:solidFill>
                            <a:srgbClr val="196B24"/>
                          </a:solidFill>
                          <a:latin typeface="Arial"/>
                        </a:rPr>
                        <a:t>8/8 PRD (100%)</a:t>
                      </a:r>
                      <a:r>
                        <a:rPr sz="890" i="0" b="1">
                          <a:solidFill>
                            <a:srgbClr val="1B1B1B"/>
                          </a:solidFill>
                          <a:latin typeface="Arial"/>
                        </a:rPr>
                        <a:t> → </a:t>
                      </a:r>
                      <a:r>
                        <a:rPr sz="890" i="0" b="1">
                          <a:solidFill>
                            <a:srgbClr val="196B24"/>
                          </a:solidFill>
                          <a:latin typeface="Arial"/>
                        </a:rPr>
                        <a:t>8/8 HoQ EC (100%)</a:t>
                      </a:r>
                      <a:r>
                        <a:rPr sz="890" i="0" b="1">
                          <a:solidFill>
                            <a:srgbClr val="1B1B1B"/>
                          </a:solidFill>
                          <a:latin typeface="Arial"/>
                        </a:rPr>
                        <a:t> → </a:t>
                      </a:r>
                      <a:r>
                        <a:rPr sz="890" i="0" b="1">
                          <a:solidFill>
                            <a:srgbClr val="196B24"/>
                          </a:solidFill>
                          <a:latin typeface="Arial"/>
                        </a:rPr>
                        <a:t>14/14 SRS (100%)</a:t>
                      </a:r>
                      <a:r>
                        <a:rPr sz="890" i="0" b="1">
                          <a:solidFill>
                            <a:srgbClr val="1B1B1B"/>
                          </a:solidFill>
                          <a:latin typeface="Arial"/>
                        </a:rPr>
                        <a:t> → </a:t>
                      </a:r>
                      <a:r>
                        <a:rPr sz="890" i="0" b="1">
                          <a:solidFill>
                            <a:srgbClr val="196B24"/>
                          </a:solidFill>
                          <a:latin typeface="Arial"/>
                        </a:rPr>
                        <a:t>14/14 DVP-L0 (100%)</a:t>
                      </a:r>
                      <a:r>
                        <a:rPr sz="890" i="0" b="1">
                          <a:solidFill>
                            <a:srgbClr val="1B1B1B"/>
                          </a:solidFill>
                          <a:latin typeface="Arial"/>
                        </a:rPr>
                        <a:t>; </a:t>
                      </a:r>
                      <a:r>
                        <a:rPr sz="890" i="0" b="1">
                          <a:solidFill>
                            <a:srgbClr val="196B24"/>
                          </a:solidFill>
                          <a:latin typeface="Arial"/>
                        </a:rPr>
                        <a:t>0 Orphan, 0 Gold-Plating</a:t>
                      </a:r>
                      <a:r>
                        <a:rPr sz="890" i="0" b="1">
                          <a:solidFill>
                            <a:srgbClr val="1B1B1B"/>
                          </a:solidFill>
                          <a:latin typeface="Arial"/>
                        </a:rPr>
                        <a:t>.</a:t>
                      </a:r>
                    </a:p>
                  </a:txBody>
                  <a:tcPr anchor="ctr" marT="19050" marB="19050" marL="50800" marR="50800">
                    <a:solidFill>
                      <a:srgbClr val="E8F8F5"/>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E8F8F5"/>
                    </a:solidFill>
                  </a:tcPr>
                </a:tc>
              </a:tr>
              <a:tr h="729112">
                <a:tc>
                  <a:txBody>
                    <a:bodyPr wrap="square"/>
                    <a:lstStyle/>
                    <a:p>
                      <a:pPr algn="ctr"/>
                      <a:r>
                        <a:rPr sz="890" i="0" b="1">
                          <a:solidFill>
                            <a:srgbClr val="0E2841"/>
                          </a:solidFill>
                          <a:latin typeface="Arial"/>
                        </a:rPr>
                        <a:t>6</a:t>
                      </a:r>
                    </a:p>
                  </a:txBody>
                  <a:tcPr anchor="ctr" marT="19050" marB="19050" marL="50800" marR="50800">
                    <a:solidFill>
                      <a:srgbClr val="E8F8F5"/>
                    </a:solidFill>
                  </a:tcPr>
                </a:tc>
                <a:tc>
                  <a:txBody>
                    <a:bodyPr wrap="square"/>
                    <a:lstStyle/>
                    <a:p>
                      <a:pPr algn="l"/>
                      <a:r>
                        <a:rPr sz="890" i="0" b="1">
                          <a:solidFill>
                            <a:srgbClr val="0E2841"/>
                          </a:solidFill>
                          <a:latin typeface="Arial"/>
                        </a:rPr>
                        <a:t>Kế hoạch DVP&amp;R L0 &amp; Chuẩn đo Simulink</a:t>
                      </a:r>
                      <a:r>
                        <a:rPr sz="890" i="0" b="1">
                          <a:solidFill>
                            <a:srgbClr val="1B1B1B"/>
                          </a:solidFill>
                          <a:latin typeface="Arial"/>
                        </a:rPr>
                        <a:t>
(Có tiêu chí Pass/Fail và kiểm soát RRM-05)</a:t>
                      </a:r>
                    </a:p>
                  </a:txBody>
                  <a:tcPr anchor="ctr" marT="19050" marB="19050" marL="50800" marR="50800">
                    <a:solidFill>
                      <a:srgbClr val="E8F8F5"/>
                    </a:solidFill>
                  </a:tcPr>
                </a:tc>
                <a:tc>
                  <a:txBody>
                    <a:bodyPr wrap="square"/>
                    <a:lstStyle/>
                    <a:p>
                      <a:pPr algn="l"/>
                      <a:r>
                        <a:rPr sz="890" i="0" b="1">
                          <a:solidFill>
                            <a:srgbClr val="0E2841"/>
                          </a:solidFill>
                          <a:latin typeface="Arial"/>
                        </a:rPr>
                        <a:t>14 bài đo DVP-L0-01..14</a:t>
                      </a:r>
                      <a:r>
                        <a:rPr sz="890" i="0" b="1">
                          <a:solidFill>
                            <a:srgbClr val="1B1B1B"/>
                          </a:solidFill>
                          <a:latin typeface="Arial"/>
                        </a:rPr>
                        <a:t> trong </a:t>
                      </a:r>
                      <a:r>
                        <a:rPr sz="890" i="0" b="1">
                          <a:solidFill>
                            <a:srgbClr val="0E2841"/>
                          </a:solidFill>
                          <a:latin typeface="Arial"/>
                        </a:rPr>
                        <a:t>4 kịch bản TS-01..04</a:t>
                      </a:r>
                      <a:r>
                        <a:rPr sz="890" i="0" b="1">
                          <a:solidFill>
                            <a:srgbClr val="1B1B1B"/>
                          </a:solidFill>
                          <a:latin typeface="Arial"/>
                        </a:rPr>
                        <a:t>; chuẩn hóa trích xuất </a:t>
                      </a:r>
                      <a:r>
                        <a:rPr sz="890" i="0" b="1">
                          <a:solidFill>
                            <a:srgbClr val="0E2841"/>
                          </a:solidFill>
                          <a:latin typeface="Arial"/>
                        </a:rPr>
                        <a:t>a(t)</a:t>
                      </a:r>
                      <a:r>
                        <a:rPr sz="890" i="0" b="1">
                          <a:solidFill>
                            <a:srgbClr val="1B1B1B"/>
                          </a:solidFill>
                          <a:latin typeface="Arial"/>
                        </a:rPr>
                        <a:t> và bộ lọc </a:t>
                      </a:r>
                      <a:r>
                        <a:rPr sz="890" i="0" b="1">
                          <a:solidFill>
                            <a:srgbClr val="0E2841"/>
                          </a:solidFill>
                          <a:latin typeface="Arial"/>
                        </a:rPr>
                        <a:t>G_d(s)</a:t>
                      </a:r>
                      <a:r>
                        <a:rPr sz="890" i="0" b="1">
                          <a:solidFill>
                            <a:srgbClr val="1B1B1B"/>
                          </a:solidFill>
                          <a:latin typeface="Arial"/>
                        </a:rPr>
                        <a:t> cho </a:t>
                      </a:r>
                      <a:r>
                        <a:rPr sz="890" i="0" b="1">
                          <a:solidFill>
                            <a:srgbClr val="0E2841"/>
                          </a:solidFill>
                          <a:latin typeface="Arial"/>
                        </a:rPr>
                        <a:t>ρ(t)</a:t>
                      </a:r>
                      <a:r>
                        <a:rPr sz="890" i="0" b="1">
                          <a:solidFill>
                            <a:srgbClr val="1B1B1B"/>
                          </a:solidFill>
                          <a:latin typeface="Arial"/>
                        </a:rPr>
                        <a:t>.</a:t>
                      </a:r>
                    </a:p>
                  </a:txBody>
                  <a:tcPr anchor="ctr" marT="19050" marB="19050" marL="50800" marR="50800">
                    <a:solidFill>
                      <a:srgbClr val="E8F8F5"/>
                    </a:solidFill>
                  </a:tcPr>
                </a:tc>
                <a:tc>
                  <a:txBody>
                    <a:bodyPr wrap="square"/>
                    <a:lstStyle/>
                    <a:p>
                      <a:pPr algn="l"/>
                      <a:r>
                        <a:rPr sz="890" i="0" b="1">
                          <a:solidFill>
                            <a:srgbClr val="196B24"/>
                          </a:solidFill>
                          <a:latin typeface="Arial"/>
                        </a:rPr>
                        <a:t>PASS</a:t>
                      </a:r>
                      <a:r>
                        <a:rPr sz="890" i="0" b="1">
                          <a:solidFill>
                            <a:srgbClr val="1B1B1B"/>
                          </a:solidFill>
                          <a:latin typeface="Arial"/>
                        </a:rPr>
                        <a:t>
(100%)</a:t>
                      </a:r>
                    </a:p>
                  </a:txBody>
                  <a:tcPr anchor="ctr" marT="19050" marB="19050" marL="50800" marR="50800">
                    <a:solidFill>
                      <a:srgbClr val="E8F8F5"/>
                    </a:solidFill>
                  </a:tcPr>
                </a:tc>
              </a:tr>
            </a:tbl>
          </a:graphicData>
        </a:graphic>
      </p:graphicFrame>
      <p:sp>
        <p:nvSpPr>
          <p:cNvPr id="6" name="Rounded Rectangle 5"/>
          <p:cNvSpPr/>
          <p:nvPr/>
        </p:nvSpPr>
        <p:spPr>
          <a:xfrm>
            <a:off x="7333488" y="1234440"/>
            <a:ext cx="4544568" cy="4965192"/>
          </a:xfrm>
          <a:prstGeom prst="roundRect">
            <a:avLst>
              <a:gd name="adj" fmla="val 3000"/>
            </a:avLst>
          </a:prstGeom>
          <a:solidFill>
            <a:srgbClr val="E8F8F5"/>
          </a:solidFill>
          <a:ln w="15875">
            <a:solidFill>
              <a:srgbClr val="196B2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100" b="1">
                <a:solidFill>
                  <a:srgbClr val="196B24"/>
                </a:solidFill>
                <a:latin typeface="Arial"/>
              </a:rPr>
              <a:t>GÓI BÀN GIAO SANG KHỐI 2 (GATE 3: PDR — THIẾT KẾ CƠ SỞ)</a:t>
            </a:r>
          </a:p>
          <a:p>
            <a:pPr>
              <a:spcAft>
                <a:spcPts val="150"/>
              </a:spcAft>
            </a:pPr>
            <a:r>
              <a:rPr sz="980" i="0" b="0">
                <a:solidFill>
                  <a:srgbClr val="1B1B1B"/>
                </a:solidFill>
                <a:latin typeface="Arial"/>
              </a:rPr>
              <a:t>1. </a:t>
            </a:r>
            <a:r>
              <a:rPr sz="980" i="0" b="1">
                <a:solidFill>
                  <a:srgbClr val="0E2841"/>
                </a:solidFill>
                <a:latin typeface="Arial"/>
              </a:rPr>
              <a:t>Đầu vào cho WBS 2.1 (Mô hình hóa Động lực học &amp; Phụ tải):</a:t>
            </a:r>
          </a:p>
          <a:p>
            <a:pPr>
              <a:spcAft>
                <a:spcPts val="150"/>
              </a:spcAft>
            </a:pPr>
            <a:r>
              <a:rPr sz="980" i="0" b="0">
                <a:solidFill>
                  <a:srgbClr val="1B1B1B"/>
                </a:solidFill>
                <a:latin typeface="Arial"/>
              </a:rPr>
              <a:t>   • Thông số cơ học từ </a:t>
            </a:r>
            <a:r>
              <a:rPr sz="980" i="0" b="1">
                <a:solidFill>
                  <a:srgbClr val="0E2841"/>
                </a:solidFill>
                <a:latin typeface="Arial"/>
              </a:rPr>
              <a:t>SRS-PERM-03, 07</a:t>
            </a:r>
            <a:r>
              <a:rPr sz="980" i="0" b="0">
                <a:solidFill>
                  <a:srgbClr val="1B1B1B"/>
                </a:solidFill>
                <a:latin typeface="Arial"/>
              </a:rPr>
              <a:t>: </a:t>
            </a:r>
            <a:r>
              <a:rPr sz="980" i="0" b="1">
                <a:solidFill>
                  <a:srgbClr val="0E2841"/>
                </a:solidFill>
                <a:latin typeface="Arial"/>
              </a:rPr>
              <a:t>M_Σ = 14,244 kg</a:t>
            </a:r>
            <a:r>
              <a:rPr sz="980" i="0" b="0">
                <a:solidFill>
                  <a:srgbClr val="1B1B1B"/>
                </a:solidFill>
                <a:latin typeface="Arial"/>
              </a:rPr>
              <a:t>, </a:t>
            </a:r>
            <a:r>
              <a:rPr sz="980" i="0" b="1">
                <a:solidFill>
                  <a:srgbClr val="0E2841"/>
                </a:solidFill>
                <a:latin typeface="Arial"/>
              </a:rPr>
              <a:t>m_tĩnh = 2,022 kg</a:t>
            </a:r>
            <a:r>
              <a:rPr sz="980" i="0" b="0">
                <a:solidFill>
                  <a:srgbClr val="1B1B1B"/>
                </a:solidFill>
                <a:latin typeface="Arial"/>
              </a:rPr>
              <a:t>, </a:t>
            </a:r>
            <a:r>
              <a:rPr sz="980" i="0" b="1">
                <a:solidFill>
                  <a:srgbClr val="0E2841"/>
                </a:solidFill>
                <a:latin typeface="Arial"/>
              </a:rPr>
              <a:t>d = 0.25 m</a:t>
            </a:r>
            <a:r>
              <a:rPr sz="980" i="0" b="0">
                <a:solidFill>
                  <a:srgbClr val="1B1B1B"/>
                </a:solidFill>
                <a:latin typeface="Arial"/>
              </a:rPr>
              <a:t>, </a:t>
            </a:r>
            <a:r>
              <a:rPr sz="980" i="0" b="1">
                <a:solidFill>
                  <a:srgbClr val="0E2841"/>
                </a:solidFill>
                <a:latin typeface="Arial"/>
              </a:rPr>
              <a:t>η = 0.96</a:t>
            </a:r>
            <a:r>
              <a:rPr sz="980" i="0" b="0">
                <a:solidFill>
                  <a:srgbClr val="1B1B1B"/>
                </a:solidFill>
                <a:latin typeface="Arial"/>
              </a:rPr>
              <a:t>, </a:t>
            </a:r>
            <a:r>
              <a:rPr sz="980" i="0" b="1">
                <a:solidFill>
                  <a:srgbClr val="0E2841"/>
                </a:solidFill>
                <a:latin typeface="Arial"/>
              </a:rPr>
              <a:t>h = 12 m</a:t>
            </a:r>
            <a:r>
              <a:rPr sz="980" i="0" b="0">
                <a:solidFill>
                  <a:srgbClr val="1B1B1B"/>
                </a:solidFill>
                <a:latin typeface="Arial"/>
              </a:rPr>
              <a:t> (</a:t>
            </a:r>
            <a:r>
              <a:rPr sz="980" i="0" b="1">
                <a:solidFill>
                  <a:srgbClr val="0E2841"/>
                </a:solidFill>
                <a:latin typeface="Arial"/>
              </a:rPr>
              <a:t>ω_p = 0.904 rad/s</a:t>
            </a:r>
            <a:r>
              <a:rPr sz="980" i="0" b="0">
                <a:solidFill>
                  <a:srgbClr val="1B1B1B"/>
                </a:solidFill>
                <a:latin typeface="Arial"/>
              </a:rPr>
              <a:t>).</a:t>
            </a:r>
          </a:p>
          <a:p>
            <a:pPr>
              <a:spcAft>
                <a:spcPts val="150"/>
              </a:spcAft>
            </a:pPr>
            <a:r>
              <a:rPr sz="980" i="0" b="0">
                <a:solidFill>
                  <a:srgbClr val="1B1B1B"/>
                </a:solidFill>
                <a:latin typeface="Arial"/>
              </a:rPr>
              <a:t>   • Quỹ đạo </a:t>
            </a:r>
            <a:r>
              <a:rPr sz="980" i="0" b="1">
                <a:solidFill>
                  <a:srgbClr val="0E2841"/>
                </a:solidFill>
                <a:latin typeface="Arial"/>
              </a:rPr>
              <a:t>S-Curve 7 pha</a:t>
            </a:r>
            <a:r>
              <a:rPr sz="980" i="0" b="0">
                <a:solidFill>
                  <a:srgbClr val="1B1B1B"/>
                </a:solidFill>
                <a:latin typeface="Arial"/>
              </a:rPr>
              <a:t> từ </a:t>
            </a:r>
            <a:r>
              <a:rPr sz="980" i="0" b="1">
                <a:solidFill>
                  <a:srgbClr val="0E2841"/>
                </a:solidFill>
                <a:latin typeface="Arial"/>
              </a:rPr>
              <a:t>SRS-FUNC-07</a:t>
            </a:r>
            <a:r>
              <a:rPr sz="980" i="0" b="0">
                <a:solidFill>
                  <a:srgbClr val="1B1B1B"/>
                </a:solidFill>
                <a:latin typeface="Arial"/>
              </a:rPr>
              <a:t>: </a:t>
            </a:r>
            <a:r>
              <a:rPr sz="980" i="0" b="1">
                <a:solidFill>
                  <a:srgbClr val="0E2841"/>
                </a:solidFill>
                <a:latin typeface="Arial"/>
              </a:rPr>
              <a:t>v_max = 0.12 m/s</a:t>
            </a:r>
            <a:r>
              <a:rPr sz="980" i="0" b="0">
                <a:solidFill>
                  <a:srgbClr val="1B1B1B"/>
                </a:solidFill>
                <a:latin typeface="Arial"/>
              </a:rPr>
              <a:t>, </a:t>
            </a:r>
            <a:r>
              <a:rPr sz="980" i="0" b="1">
                <a:solidFill>
                  <a:srgbClr val="0E2841"/>
                </a:solidFill>
                <a:latin typeface="Arial"/>
              </a:rPr>
              <a:t>|a| ≤ 0.50 m/s²</a:t>
            </a:r>
            <a:r>
              <a:rPr sz="980" i="0" b="0">
                <a:solidFill>
                  <a:srgbClr val="1B1B1B"/>
                </a:solidFill>
                <a:latin typeface="Arial"/>
              </a:rPr>
              <a:t>, </a:t>
            </a:r>
            <a:r>
              <a:rPr sz="980" i="0" b="1">
                <a:solidFill>
                  <a:srgbClr val="0E2841"/>
                </a:solidFill>
                <a:latin typeface="Arial"/>
              </a:rPr>
              <a:t>|ρ| ≤ 2.00 m/s³</a:t>
            </a:r>
            <a:r>
              <a:rPr sz="980" i="0" b="0">
                <a:solidFill>
                  <a:srgbClr val="1B1B1B"/>
                </a:solidFill>
                <a:latin typeface="Arial"/>
              </a:rPr>
              <a:t> (</a:t>
            </a:r>
            <a:r>
              <a:rPr sz="980" i="0" b="1">
                <a:solidFill>
                  <a:srgbClr val="0E2841"/>
                </a:solidFill>
                <a:latin typeface="Arial"/>
              </a:rPr>
              <a:t>t_j = 0.25 s</a:t>
            </a:r>
            <a:r>
              <a:rPr sz="980" i="0" b="0">
                <a:solidFill>
                  <a:srgbClr val="1B1B1B"/>
                </a:solidFill>
                <a:latin typeface="Arial"/>
              </a:rPr>
              <a:t>).</a:t>
            </a:r>
          </a:p>
          <a:p>
            <a:pPr>
              <a:spcAft>
                <a:spcPts val="150"/>
              </a:spcAft>
            </a:pPr>
          </a:p>
          <a:p>
            <a:pPr>
              <a:spcAft>
                <a:spcPts val="150"/>
              </a:spcAft>
            </a:pPr>
            <a:r>
              <a:rPr sz="980" i="0" b="0">
                <a:solidFill>
                  <a:srgbClr val="1B1B1B"/>
                </a:solidFill>
                <a:latin typeface="Arial"/>
              </a:rPr>
              <a:t>2. </a:t>
            </a:r>
            <a:r>
              <a:rPr sz="980" i="0" b="1">
                <a:solidFill>
                  <a:srgbClr val="0E2841"/>
                </a:solidFill>
                <a:latin typeface="Arial"/>
              </a:rPr>
              <a:t>Đầu vào cho WBS 2.2 (Tính chọn Động cơ, Hộp số &amp; Phanh từ):</a:t>
            </a:r>
          </a:p>
          <a:p>
            <a:pPr>
              <a:spcAft>
                <a:spcPts val="150"/>
              </a:spcAft>
            </a:pPr>
            <a:r>
              <a:rPr sz="980" i="0" b="0">
                <a:solidFill>
                  <a:srgbClr val="1B1B1B"/>
                </a:solidFill>
                <a:latin typeface="Arial"/>
              </a:rPr>
              <a:t>   • Tiêu chuẩn định cỡ nhiệt từ </a:t>
            </a:r>
            <a:r>
              <a:rPr sz="980" i="0" b="1">
                <a:solidFill>
                  <a:srgbClr val="0E2841"/>
                </a:solidFill>
                <a:latin typeface="Arial"/>
              </a:rPr>
              <a:t>SRS-PERM-04, 05</a:t>
            </a:r>
            <a:r>
              <a:rPr sz="980" i="0" b="0">
                <a:solidFill>
                  <a:srgbClr val="1B1B1B"/>
                </a:solidFill>
                <a:latin typeface="Arial"/>
              </a:rPr>
              <a:t>: Chế độ </a:t>
            </a:r>
            <a:r>
              <a:rPr sz="980" i="0" b="1">
                <a:solidFill>
                  <a:srgbClr val="0E2841"/>
                </a:solidFill>
                <a:latin typeface="Arial"/>
              </a:rPr>
              <a:t>S3-40% (40°C)</a:t>
            </a:r>
            <a:r>
              <a:rPr sz="980" i="0" b="0">
                <a:solidFill>
                  <a:srgbClr val="1B1B1B"/>
                </a:solidFill>
                <a:latin typeface="Arial"/>
              </a:rPr>
              <a:t> với </a:t>
            </a:r>
            <a:r>
              <a:rPr sz="980" i="0" b="1">
                <a:solidFill>
                  <a:srgbClr val="0E2841"/>
                </a:solidFill>
                <a:latin typeface="Arial"/>
              </a:rPr>
              <a:t>k_dt ∈ [1.20; 1.50]</a:t>
            </a:r>
            <a:r>
              <a:rPr sz="980" i="0" b="0">
                <a:solidFill>
                  <a:srgbClr val="1B1B1B"/>
                </a:solidFill>
                <a:latin typeface="Arial"/>
              </a:rPr>
              <a:t> và </a:t>
            </a:r>
            <a:r>
              <a:rPr sz="980" i="0" b="1">
                <a:solidFill>
                  <a:srgbClr val="0E2841"/>
                </a:solidFill>
                <a:latin typeface="Arial"/>
              </a:rPr>
              <a:t>λ_max ≥ 2.0</a:t>
            </a:r>
            <a:r>
              <a:rPr sz="980" i="0" b="0">
                <a:solidFill>
                  <a:srgbClr val="1B1B1B"/>
                </a:solidFill>
                <a:latin typeface="Arial"/>
              </a:rPr>
              <a:t>.</a:t>
            </a:r>
          </a:p>
          <a:p>
            <a:pPr>
              <a:spcAft>
                <a:spcPts val="150"/>
              </a:spcAft>
            </a:pPr>
            <a:r>
              <a:rPr sz="980" i="0" b="0">
                <a:solidFill>
                  <a:srgbClr val="1B1B1B"/>
                </a:solidFill>
                <a:latin typeface="Arial"/>
              </a:rPr>
              <a:t>   • Yêu cầu phanh giữ tải từ </a:t>
            </a:r>
            <a:r>
              <a:rPr sz="980" i="0" b="1">
                <a:solidFill>
                  <a:srgbClr val="0E2841"/>
                </a:solidFill>
                <a:latin typeface="Arial"/>
              </a:rPr>
              <a:t>SRS-FUNC-04</a:t>
            </a:r>
            <a:r>
              <a:rPr sz="980" i="0" b="0">
                <a:solidFill>
                  <a:srgbClr val="1B1B1B"/>
                </a:solidFill>
                <a:latin typeface="Arial"/>
              </a:rPr>
              <a:t>: </a:t>
            </a:r>
            <a:r>
              <a:rPr sz="980" i="0" b="1">
                <a:solidFill>
                  <a:srgbClr val="0E2841"/>
                </a:solidFill>
                <a:latin typeface="Arial"/>
              </a:rPr>
              <a:t>M_phanh ≥ 1.5 · M_tĩnh</a:t>
            </a:r>
            <a:r>
              <a:rPr sz="980" i="0" b="0">
                <a:solidFill>
                  <a:srgbClr val="1B1B1B"/>
                </a:solidFill>
                <a:latin typeface="Arial"/>
              </a:rPr>
              <a:t> và phối hợp </a:t>
            </a:r>
            <a:r>
              <a:rPr sz="980" i="0" b="1">
                <a:solidFill>
                  <a:srgbClr val="196B24"/>
                </a:solidFill>
                <a:latin typeface="Arial"/>
              </a:rPr>
              <a:t>M_hold ∈ [100%; 150%] M_đm</a:t>
            </a:r>
            <a:r>
              <a:rPr sz="980" i="0" b="0">
                <a:solidFill>
                  <a:srgbClr val="1B1B1B"/>
                </a:solidFill>
                <a:latin typeface="Arial"/>
              </a:rPr>
              <a:t>.</a:t>
            </a:r>
          </a:p>
          <a:p>
            <a:pPr>
              <a:spcAft>
                <a:spcPts val="150"/>
              </a:spcAft>
            </a:pPr>
          </a:p>
          <a:p>
            <a:pPr>
              <a:spcAft>
                <a:spcPts val="150"/>
              </a:spcAft>
            </a:pPr>
            <a:r>
              <a:rPr sz="980" i="0" b="0">
                <a:solidFill>
                  <a:srgbClr val="1B1B1B"/>
                </a:solidFill>
                <a:latin typeface="Arial"/>
              </a:rPr>
              <a:t>3. </a:t>
            </a:r>
            <a:r>
              <a:rPr sz="980" i="0" b="1">
                <a:solidFill>
                  <a:srgbClr val="0E2841"/>
                </a:solidFill>
                <a:latin typeface="Arial"/>
              </a:rPr>
              <a:t>Đầu vào cho WBS 2.3 (Định cỡ Biến tần 4Q &amp; Điện trở xả R_h):</a:t>
            </a:r>
          </a:p>
          <a:p>
            <a:pPr>
              <a:spcAft>
                <a:spcPts val="150"/>
              </a:spcAft>
            </a:pPr>
            <a:r>
              <a:rPr sz="980" i="0" b="0">
                <a:solidFill>
                  <a:srgbClr val="1B1B1B"/>
                </a:solidFill>
                <a:latin typeface="Arial"/>
              </a:rPr>
              <a:t>   • Từ </a:t>
            </a:r>
            <a:r>
              <a:rPr sz="980" i="0" b="1">
                <a:solidFill>
                  <a:srgbClr val="0E2841"/>
                </a:solidFill>
                <a:latin typeface="Arial"/>
              </a:rPr>
              <a:t>SRS-FUNC-06 &amp; SRS-PERM-06</a:t>
            </a:r>
            <a:r>
              <a:rPr sz="980" i="0" b="0">
                <a:solidFill>
                  <a:srgbClr val="1B1B1B"/>
                </a:solidFill>
                <a:latin typeface="Arial"/>
              </a:rPr>
              <a:t>: Dải áp lưới </a:t>
            </a:r>
            <a:r>
              <a:rPr sz="980" i="0" b="1">
                <a:solidFill>
                  <a:srgbClr val="0E2841"/>
                </a:solidFill>
                <a:latin typeface="Arial"/>
              </a:rPr>
              <a:t>342 ÷ 418 V AC</a:t>
            </a:r>
            <a:r>
              <a:rPr sz="980" i="0" b="0">
                <a:solidFill>
                  <a:srgbClr val="1B1B1B"/>
                </a:solidFill>
                <a:latin typeface="Arial"/>
              </a:rPr>
              <a:t>, kẹp áp </a:t>
            </a:r>
            <a:r>
              <a:rPr sz="980" i="0" b="1">
                <a:solidFill>
                  <a:srgbClr val="0E2841"/>
                </a:solidFill>
                <a:latin typeface="Arial"/>
              </a:rPr>
              <a:t>U_dc &lt; 780 V DC</a:t>
            </a:r>
            <a:r>
              <a:rPr sz="980" i="0" b="0">
                <a:solidFill>
                  <a:srgbClr val="1B1B1B"/>
                </a:solidFill>
                <a:latin typeface="Arial"/>
              </a:rPr>
              <a:t> khi hãm tái sinh đầy tải.</a:t>
            </a:r>
          </a:p>
          <a:p>
            <a:pPr>
              <a:spcAft>
                <a:spcPts val="150"/>
              </a:spcAft>
            </a:pPr>
          </a:p>
          <a:p>
            <a:pPr>
              <a:spcAft>
                <a:spcPts val="150"/>
              </a:spcAft>
            </a:pPr>
            <a:r>
              <a:rPr sz="980" i="0" b="0">
                <a:solidFill>
                  <a:srgbClr val="1B1B1B"/>
                </a:solidFill>
                <a:latin typeface="Arial"/>
              </a:rPr>
              <a:t>• </a:t>
            </a:r>
            <a:r>
              <a:rPr sz="980" i="0" b="1">
                <a:solidFill>
                  <a:srgbClr val="0E2841"/>
                </a:solidFill>
                <a:latin typeface="Arial"/>
              </a:rPr>
              <a:t>KẾT LUẬN CỦA HỘI ĐỒNG NỘI BỘ:</a:t>
            </a:r>
            <a:r>
              <a:rPr sz="980" i="0" b="0">
                <a:solidFill>
                  <a:srgbClr val="1B1B1B"/>
                </a:solidFill>
                <a:latin typeface="Arial"/>
              </a:rPr>
              <a:t> </a:t>
            </a:r>
            <a:r>
              <a:rPr sz="980" i="0" b="1">
                <a:solidFill>
                  <a:srgbClr val="0E2841"/>
                </a:solidFill>
                <a:latin typeface="Arial"/>
              </a:rPr>
              <a:t>ĐỒNG Ý ĐÓNG CỔNG GATE 2 (SRR-EVT) — CHUYỂN SANG KHỐI 2 (PDR)</a:t>
            </a:r>
            <a:r>
              <a:rPr sz="980" i="0" b="0">
                <a:solidFill>
                  <a:srgbClr val="1B1B1B"/>
                </a:solidFill>
                <a:latin typeface="Aria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7498079" cy="1005840"/>
          </a:xfrm>
          <a:prstGeom prst="rect">
            <a:avLst/>
          </a:prstGeom>
          <a:noFill/>
        </p:spPr>
        <p:txBody>
          <a:bodyPr wrap="square">
            <a:spAutoFit/>
          </a:bodyPr>
          <a:lstStyle/>
          <a:p>
            <a:r>
              <a:rPr sz="2600" b="1">
                <a:solidFill>
                  <a:srgbClr val="C00000"/>
                </a:solidFill>
                <a:latin typeface="Arial"/>
              </a:rPr>
              <a:t>TRÂN TRỌNG CẢM ƠN THẦY VÀ HỘI ĐỒNG!</a:t>
            </a:r>
          </a:p>
          <a:p>
            <a:pPr>
              <a:spcBef>
                <a:spcPts val="400"/>
              </a:spcBef>
            </a:pPr>
            <a:r>
              <a:rPr sz="1350" b="1">
                <a:solidFill>
                  <a:srgbClr val="0E2841"/>
                </a:solidFill>
                <a:latin typeface="Arial"/>
              </a:rPr>
              <a:t>Nhóm 8.5-EMG — Sẵn sàng giải trình Q&amp;A Cổng Gate 2 (SRR-EVT) với 7 Slide Phụ lục (B1-1 ÷ B1-7)</a:t>
            </a:r>
          </a:p>
        </p:txBody>
      </p:sp>
      <p:sp>
        <p:nvSpPr>
          <p:cNvPr id="3" name="Rounded Rectangle 2"/>
          <p:cNvSpPr/>
          <p:nvPr/>
        </p:nvSpPr>
        <p:spPr>
          <a:xfrm>
            <a:off x="594360" y="1508760"/>
            <a:ext cx="7543800" cy="4160520"/>
          </a:xfrm>
          <a:prstGeom prst="roundRect">
            <a:avLst>
              <a:gd name="adj" fmla="val 3000"/>
            </a:avLst>
          </a:prstGeom>
          <a:solidFill>
            <a:srgbClr val="FFFFFF"/>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200" b="1">
                <a:solidFill>
                  <a:srgbClr val="0E2841"/>
                </a:solidFill>
                <a:latin typeface="Arial"/>
              </a:rPr>
              <a:t>DANH MỤC TIÊU CHUẨN &amp; TÀI LIỆU THAM KHẢO CỐT LÕI (KHỐI 1 — SRR-EVT)</a:t>
            </a:r>
          </a:p>
          <a:p>
            <a:pPr>
              <a:spcAft>
                <a:spcPts val="150"/>
              </a:spcAft>
            </a:pPr>
            <a:r>
              <a:rPr sz="1050" i="0" b="0">
                <a:solidFill>
                  <a:srgbClr val="1B1B1B"/>
                </a:solidFill>
                <a:latin typeface="Arial"/>
              </a:rPr>
              <a:t>1. </a:t>
            </a:r>
            <a:r>
              <a:rPr sz="1050" i="0" b="1">
                <a:solidFill>
                  <a:srgbClr val="0E2841"/>
                </a:solidFill>
                <a:latin typeface="Arial"/>
              </a:rPr>
              <a:t>ISO/IEC/IEEE 29148:2018</a:t>
            </a:r>
            <a:r>
              <a:rPr sz="1050" i="0" b="0">
                <a:solidFill>
                  <a:srgbClr val="1B1B1B"/>
                </a:solidFill>
                <a:latin typeface="Arial"/>
              </a:rPr>
              <a:t> — *Systems and software engineering — Life cycle processes — Requirements engineering* (Chuẩn cú pháp yêu cầu nguyên tử 5 thành phần &amp; thuộc tính SRS).</a:t>
            </a:r>
          </a:p>
          <a:p>
            <a:pPr>
              <a:spcAft>
                <a:spcPts val="150"/>
              </a:spcAft>
            </a:pPr>
            <a:r>
              <a:rPr sz="1050" i="0" b="0">
                <a:solidFill>
                  <a:srgbClr val="1B1B1B"/>
                </a:solidFill>
                <a:latin typeface="Arial"/>
              </a:rPr>
              <a:t>2. </a:t>
            </a:r>
            <a:r>
              <a:rPr sz="1050" i="0" b="1">
                <a:solidFill>
                  <a:srgbClr val="0E2841"/>
                </a:solidFill>
                <a:latin typeface="Arial"/>
              </a:rPr>
              <a:t>NASA SP-2016-6105 Rev 2</a:t>
            </a:r>
            <a:r>
              <a:rPr sz="1050" i="0" b="0">
                <a:solidFill>
                  <a:srgbClr val="1B1B1B"/>
                </a:solidFill>
                <a:latin typeface="Arial"/>
              </a:rPr>
              <a:t> — *NASA Systems Engineering Handbook* (Quy trình thẩm định cổng SRR Table 6.7-5, Ma trận truy vết 2 chiều RTM &amp; Kế hoạch kiểm chứng DVP&amp;R).</a:t>
            </a:r>
          </a:p>
          <a:p>
            <a:pPr>
              <a:spcAft>
                <a:spcPts val="150"/>
              </a:spcAft>
            </a:pPr>
            <a:r>
              <a:rPr sz="1050" i="0" b="0">
                <a:solidFill>
                  <a:srgbClr val="1B1B1B"/>
                </a:solidFill>
                <a:latin typeface="Arial"/>
              </a:rPr>
              <a:t>3. </a:t>
            </a:r>
            <a:r>
              <a:rPr sz="1050" i="0" b="1">
                <a:solidFill>
                  <a:srgbClr val="0E2841"/>
                </a:solidFill>
                <a:latin typeface="Arial"/>
              </a:rPr>
              <a:t>IEC 61800-2:2021</a:t>
            </a:r>
            <a:r>
              <a:rPr sz="1050" i="0" b="0">
                <a:solidFill>
                  <a:srgbClr val="1B1B1B"/>
                </a:solidFill>
                <a:latin typeface="Arial"/>
              </a:rPr>
              <a:t> — *Adjustable speed electrical power drive systems — Part 2: General requirements* (Cấu trúc chuẩn hệ thống truyền động điện PDS &amp; ranh giới CDM - Motor - Cơ khí).</a:t>
            </a:r>
          </a:p>
          <a:p>
            <a:pPr>
              <a:spcAft>
                <a:spcPts val="150"/>
              </a:spcAft>
            </a:pPr>
            <a:r>
              <a:rPr sz="1050" i="0" b="0">
                <a:solidFill>
                  <a:srgbClr val="1B1B1B"/>
                </a:solidFill>
                <a:latin typeface="Arial"/>
              </a:rPr>
              <a:t>4. </a:t>
            </a:r>
            <a:r>
              <a:rPr sz="1050" i="0" b="1">
                <a:solidFill>
                  <a:srgbClr val="0E2841"/>
                </a:solidFill>
                <a:latin typeface="Arial"/>
              </a:rPr>
              <a:t>IEC 60204-1:2016</a:t>
            </a:r>
            <a:r>
              <a:rPr sz="1050" i="0" b="0">
                <a:solidFill>
                  <a:srgbClr val="1B1B1B"/>
                </a:solidFill>
                <a:latin typeface="Arial"/>
              </a:rPr>
              <a:t> — *Safety of machinery — Electrical equipment of machines* (Quy định trình tự dừng an toàn </a:t>
            </a:r>
            <a:r>
              <a:rPr sz="1050" i="0" b="1">
                <a:solidFill>
                  <a:srgbClr val="0E2841"/>
                </a:solidFill>
                <a:latin typeface="Arial"/>
              </a:rPr>
              <a:t>Stop Category 0 / Category 1</a:t>
            </a:r>
            <a:r>
              <a:rPr sz="1050" i="0" b="0">
                <a:solidFill>
                  <a:srgbClr val="1B1B1B"/>
                </a:solidFill>
                <a:latin typeface="Arial"/>
              </a:rPr>
              <a:t> cho thiết bị nâng hạ).</a:t>
            </a:r>
          </a:p>
          <a:p>
            <a:pPr>
              <a:spcAft>
                <a:spcPts val="150"/>
              </a:spcAft>
            </a:pPr>
            <a:r>
              <a:rPr sz="1050" i="0" b="0">
                <a:solidFill>
                  <a:srgbClr val="1B1B1B"/>
                </a:solidFill>
                <a:latin typeface="Arial"/>
              </a:rPr>
              <a:t>5. </a:t>
            </a:r>
            <a:r>
              <a:rPr sz="1050" i="0" b="1">
                <a:solidFill>
                  <a:srgbClr val="0E2841"/>
                </a:solidFill>
                <a:latin typeface="Arial"/>
              </a:rPr>
              <a:t>FEM 1.001 (1998) &amp; ISO 4301-1:2016</a:t>
            </a:r>
            <a:r>
              <a:rPr sz="1050" i="0" b="0">
                <a:solidFill>
                  <a:srgbClr val="1B1B1B"/>
                </a:solidFill>
                <a:latin typeface="Arial"/>
              </a:rPr>
              <a:t> — *Rules for the Design of Hoisting Appliances* (Hệ số cản chuyển động xe con, hệ số bám bánh xe - ray và chế độ làm việc </a:t>
            </a:r>
            <a:r>
              <a:rPr sz="1050" i="0" b="1">
                <a:solidFill>
                  <a:srgbClr val="0E2841"/>
                </a:solidFill>
                <a:latin typeface="Arial"/>
              </a:rPr>
              <a:t>S3-40%</a:t>
            </a:r>
            <a:r>
              <a:rPr sz="1050" i="0" b="0">
                <a:solidFill>
                  <a:srgbClr val="1B1B1B"/>
                </a:solidFill>
                <a:latin typeface="Arial"/>
              </a:rPr>
              <a:t>).</a:t>
            </a:r>
          </a:p>
          <a:p>
            <a:pPr>
              <a:spcAft>
                <a:spcPts val="150"/>
              </a:spcAft>
            </a:pPr>
            <a:r>
              <a:rPr sz="1050" i="0" b="0">
                <a:solidFill>
                  <a:srgbClr val="1B1B1B"/>
                </a:solidFill>
                <a:latin typeface="Arial"/>
              </a:rPr>
              <a:t>6. </a:t>
            </a:r>
            <a:r>
              <a:rPr sz="1050" i="0" b="1">
                <a:solidFill>
                  <a:srgbClr val="0E2841"/>
                </a:solidFill>
                <a:latin typeface="Arial"/>
              </a:rPr>
              <a:t>IATF 16949 &amp; Six Sigma DFSS</a:t>
            </a:r>
            <a:r>
              <a:rPr sz="1050" i="0" b="0">
                <a:solidFill>
                  <a:srgbClr val="1B1B1B"/>
                </a:solidFill>
                <a:latin typeface="Arial"/>
              </a:rPr>
              <a:t> — Phương pháp xây dựng sơ đồ thông số </a:t>
            </a:r>
            <a:r>
              <a:rPr sz="1050" i="0" b="1">
                <a:solidFill>
                  <a:srgbClr val="0E2841"/>
                </a:solidFill>
                <a:latin typeface="Arial"/>
              </a:rPr>
              <a:t>P-Diagram</a:t>
            </a:r>
            <a:r>
              <a:rPr sz="1050" i="0" b="0">
                <a:solidFill>
                  <a:srgbClr val="1B1B1B"/>
                </a:solidFill>
                <a:latin typeface="Arial"/>
              </a:rPr>
              <a:t> (Signal - Noise - Control - Error), phân tích </a:t>
            </a:r>
            <a:r>
              <a:rPr sz="1050" i="0" b="1">
                <a:solidFill>
                  <a:srgbClr val="0E2841"/>
                </a:solidFill>
                <a:latin typeface="Arial"/>
              </a:rPr>
              <a:t>CTQ/CTS</a:t>
            </a:r>
            <a:r>
              <a:rPr sz="1050" i="0" b="0">
                <a:solidFill>
                  <a:srgbClr val="1B1B1B"/>
                </a:solidFill>
                <a:latin typeface="Arial"/>
              </a:rPr>
              <a:t> và chu trình </a:t>
            </a:r>
            <a:r>
              <a:rPr sz="1050" i="0" b="1">
                <a:solidFill>
                  <a:srgbClr val="0E2841"/>
                </a:solidFill>
                <a:latin typeface="Arial"/>
              </a:rPr>
              <a:t>DMAIC</a:t>
            </a:r>
            <a:r>
              <a:rPr sz="1050" i="0" b="0">
                <a:solidFill>
                  <a:srgbClr val="1B1B1B"/>
                </a:solidFill>
                <a:latin typeface="Arial"/>
              </a:rPr>
              <a:t>.</a:t>
            </a:r>
          </a:p>
          <a:p>
            <a:pPr>
              <a:spcAft>
                <a:spcPts val="150"/>
              </a:spcAft>
            </a:pPr>
            <a:r>
              <a:rPr sz="1050" i="0" b="0">
                <a:solidFill>
                  <a:srgbClr val="1B1B1B"/>
                </a:solidFill>
                <a:latin typeface="Arial"/>
              </a:rPr>
              <a:t>7. </a:t>
            </a:r>
            <a:r>
              <a:rPr sz="1050" i="0" b="1">
                <a:solidFill>
                  <a:srgbClr val="0E2841"/>
                </a:solidFill>
                <a:latin typeface="Arial"/>
              </a:rPr>
              <a:t>Hồ sơ Dự án Nhóm 8.5-EMG (Đề x = 2):</a:t>
            </a:r>
            <a:r>
              <a:rPr sz="1050" i="0" b="0">
                <a:solidFill>
                  <a:srgbClr val="1B1B1B"/>
                </a:solidFill>
                <a:latin typeface="Arial"/>
              </a:rPr>
              <a:t> `srs_xe_con_cau_truc_x2_nhom_8_5_emg (1).md` &amp; `rtm_dvp_xe_con_cau_truc_x2_nhom_8_5_emg.md`.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B1-1] BẢNG ĐẶC TẢ CHI TIẾT 7 YÊU CẦU CHỨC NĂNG (SRS-FUNC-01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Toàn văn phát biểu nguyên tử theo chuẩn </a:t>
            </a:r>
            <a:r>
              <a:rPr sz="1350" i="0" b="1">
                <a:solidFill>
                  <a:srgbClr val="0E2841"/>
                </a:solidFill>
                <a:latin typeface="Arial"/>
              </a:rPr>
              <a:t>IEEE 29148</a:t>
            </a:r>
            <a:r>
              <a:rPr sz="1350" i="0" b="1">
                <a:solidFill>
                  <a:srgbClr val="C00000"/>
                </a:solidFill>
                <a:latin typeface="Arial"/>
              </a:rPr>
              <a:t>, lý giải kỹ thuật (</a:t>
            </a:r>
            <a:r>
              <a:rPr sz="1350" i="0" b="1">
                <a:solidFill>
                  <a:srgbClr val="0E2841"/>
                </a:solidFill>
                <a:latin typeface="Arial"/>
              </a:rPr>
              <a:t>Rationale</a:t>
            </a:r>
            <a:r>
              <a:rPr sz="1350" i="0" b="1">
                <a:solidFill>
                  <a:srgbClr val="C00000"/>
                </a:solidFill>
                <a:latin typeface="Arial"/>
              </a:rPr>
              <a:t>), </a:t>
            </a:r>
            <a:r>
              <a:rPr sz="1350" i="0" b="1">
                <a:solidFill>
                  <a:srgbClr val="0E2841"/>
                </a:solidFill>
                <a:latin typeface="Arial"/>
              </a:rPr>
              <a:t>CTQ/CTS</a:t>
            </a:r>
            <a:r>
              <a:rPr sz="1350" i="0" b="1">
                <a:solidFill>
                  <a:srgbClr val="C00000"/>
                </a:solidFill>
                <a:latin typeface="Arial"/>
              </a:rPr>
              <a:t> và chủ trì (</a:t>
            </a:r>
            <a:r>
              <a:rPr sz="1350" i="0" b="1">
                <a:solidFill>
                  <a:srgbClr val="0E2841"/>
                </a:solidFill>
                <a:latin typeface="Arial"/>
              </a:rPr>
              <a:t>Owner</a:t>
            </a:r>
            <a:r>
              <a:rPr sz="1350" i="0" b="1">
                <a:solidFill>
                  <a:srgbClr val="C00000"/>
                </a:solidFill>
                <a:latin typeface="Arial"/>
              </a:rPr>
              <a:t>)</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B1-1 — Full Metadata Table for SRS-FUNC-01..07 | Backup B1-1 (17/23)</a:t>
            </a:r>
          </a:p>
        </p:txBody>
      </p:sp>
      <p:graphicFrame>
        <p:nvGraphicFramePr>
          <p:cNvPr id="5" name="Table 4"/>
          <p:cNvGraphicFramePr>
            <a:graphicFrameLocks noGrp="1"/>
          </p:cNvGraphicFramePr>
          <p:nvPr/>
        </p:nvGraphicFramePr>
        <p:xfrm>
          <a:off x="310896" y="1234440"/>
          <a:ext cx="11567160" cy="4667279"/>
        </p:xfrm>
        <a:graphic>
          <a:graphicData uri="http://schemas.openxmlformats.org/drawingml/2006/table">
            <a:tbl>
              <a:tblPr firstRow="1" bandRow="1">
                <a:tableStyleId>{5C22544A-7EE6-4342-B048-85BDC9FD1C3A}</a:tableStyleId>
              </a:tblPr>
              <a:tblGrid>
                <a:gridCol w="1188720"/>
                <a:gridCol w="4800600"/>
                <a:gridCol w="3017520"/>
                <a:gridCol w="1051560"/>
                <a:gridCol w="1508760"/>
              </a:tblGrid>
              <a:tr h="292608">
                <a:tc>
                  <a:txBody>
                    <a:bodyPr wrap="square"/>
                    <a:lstStyle/>
                    <a:p>
                      <a:pPr algn="ctr"/>
                      <a:r>
                        <a:rPr sz="969" b="1">
                          <a:solidFill>
                            <a:srgbClr val="FFFFFF"/>
                          </a:solidFill>
                          <a:latin typeface="Arial"/>
                        </a:rPr>
                        <a:t>Mã SRS</a:t>
                      </a:r>
                    </a:p>
                  </a:txBody>
                  <a:tcPr anchor="ctr" marT="19050" marB="19050" marL="50800" marR="50800">
                    <a:solidFill>
                      <a:srgbClr val="0E2841"/>
                    </a:solidFill>
                  </a:tcPr>
                </a:tc>
                <a:tc>
                  <a:txBody>
                    <a:bodyPr wrap="square"/>
                    <a:lstStyle/>
                    <a:p>
                      <a:pPr algn="ctr"/>
                      <a:r>
                        <a:rPr sz="969" b="1">
                          <a:solidFill>
                            <a:srgbClr val="FFFFFF"/>
                          </a:solidFill>
                          <a:latin typeface="Arial"/>
                        </a:rPr>
                        <a:t>Phát biểu Yêu cầu Nguyên tử Đầy đủ ('PHẢI / SHALL' — Mục 4.1 SRS)</a:t>
                      </a:r>
                    </a:p>
                  </a:txBody>
                  <a:tcPr anchor="ctr" marT="19050" marB="19050" marL="50800" marR="50800">
                    <a:solidFill>
                      <a:srgbClr val="0E2841"/>
                    </a:solidFill>
                  </a:tcPr>
                </a:tc>
                <a:tc>
                  <a:txBody>
                    <a:bodyPr wrap="square"/>
                    <a:lstStyle/>
                    <a:p>
                      <a:pPr algn="ctr"/>
                      <a:r>
                        <a:rPr sz="969" b="1">
                          <a:solidFill>
                            <a:srgbClr val="FFFFFF"/>
                          </a:solidFill>
                          <a:latin typeface="Arial"/>
                        </a:rPr>
                        <a:t>Lý giải Kỹ thuật (Rationale)</a:t>
                      </a:r>
                    </a:p>
                  </a:txBody>
                  <a:tcPr anchor="ctr" marT="19050" marB="19050" marL="50800" marR="50800">
                    <a:solidFill>
                      <a:srgbClr val="0E2841"/>
                    </a:solidFill>
                  </a:tcPr>
                </a:tc>
                <a:tc>
                  <a:txBody>
                    <a:bodyPr wrap="square"/>
                    <a:lstStyle/>
                    <a:p>
                      <a:pPr algn="ctr"/>
                      <a:r>
                        <a:rPr sz="969" b="1">
                          <a:solidFill>
                            <a:srgbClr val="FFFFFF"/>
                          </a:solidFill>
                          <a:latin typeface="Arial"/>
                        </a:rPr>
                        <a:t>CTQ / CTS</a:t>
                      </a:r>
                    </a:p>
                  </a:txBody>
                  <a:tcPr anchor="ctr" marT="19050" marB="19050" marL="50800" marR="50800">
                    <a:solidFill>
                      <a:srgbClr val="0E2841"/>
                    </a:solidFill>
                  </a:tcPr>
                </a:tc>
                <a:tc>
                  <a:txBody>
                    <a:bodyPr wrap="square"/>
                    <a:lstStyle/>
                    <a:p>
                      <a:pPr algn="ctr"/>
                      <a:r>
                        <a:rPr sz="969" b="1">
                          <a:solidFill>
                            <a:srgbClr val="FFFFFF"/>
                          </a:solidFill>
                          <a:latin typeface="Arial"/>
                        </a:rPr>
                        <a:t>V&amp;V &amp; Chủ trì</a:t>
                      </a:r>
                    </a:p>
                  </a:txBody>
                  <a:tcPr anchor="ctr" marT="19050" marB="19050" marL="50800" marR="50800">
                    <a:solidFill>
                      <a:srgbClr val="0E2841"/>
                    </a:solidFill>
                  </a:tcPr>
                </a:tc>
              </a:tr>
              <a:tr h="624953">
                <a:tc>
                  <a:txBody>
                    <a:bodyPr wrap="square"/>
                    <a:lstStyle/>
                    <a:p>
                      <a:pPr algn="ctr"/>
                      <a:r>
                        <a:rPr sz="860" i="0" b="1">
                          <a:solidFill>
                            <a:srgbClr val="0E2841"/>
                          </a:solidFill>
                          <a:latin typeface="Arial"/>
                        </a:rPr>
                        <a:t>SRS-FUNC-01</a:t>
                      </a:r>
                    </a:p>
                  </a:txBody>
                  <a:tcPr anchor="ctr" marT="19050" marB="19050" marL="50800" marR="50800">
                    <a:solidFill>
                      <a:srgbClr val="FDEDEC"/>
                    </a:solidFill>
                  </a:tcPr>
                </a:tc>
                <a:tc>
                  <a:txBody>
                    <a:bodyPr wrap="square"/>
                    <a:lstStyle/>
                    <a:p>
                      <a:pPr algn="l"/>
                      <a:r>
                        <a:rPr sz="860" i="0" b="1">
                          <a:solidFill>
                            <a:srgbClr val="1B1B1B"/>
                          </a:solidFill>
                          <a:latin typeface="Arial"/>
                        </a:rPr>
                        <a:t>Khi nhận lệnh chạy Tiến/Lùi, hệ truyền động </a:t>
                      </a:r>
                      <a:r>
                        <a:rPr sz="860" i="0" b="1">
                          <a:solidFill>
                            <a:srgbClr val="0E2841"/>
                          </a:solidFill>
                          <a:latin typeface="Arial"/>
                        </a:rPr>
                        <a:t>PHẢI</a:t>
                      </a:r>
                      <a:r>
                        <a:rPr sz="860" i="0" b="1">
                          <a:solidFill>
                            <a:srgbClr val="1B1B1B"/>
                          </a:solidFill>
                          <a:latin typeface="Arial"/>
                        </a:rPr>
                        <a:t> điều khiển xe con di chuyển 2 chiều bằng nghịch lưu mà không đảo pha công-tắc-tơ; khi có lệnh đảo chiều lúc </a:t>
                      </a:r>
                      <a:r>
                        <a:rPr sz="860" i="0" b="1">
                          <a:solidFill>
                            <a:srgbClr val="0E2841"/>
                          </a:solidFill>
                          <a:latin typeface="Arial"/>
                        </a:rPr>
                        <a:t>v ≠ 0</a:t>
                      </a:r>
                      <a:r>
                        <a:rPr sz="860" i="0" b="1">
                          <a:solidFill>
                            <a:srgbClr val="1B1B1B"/>
                          </a:solidFill>
                          <a:latin typeface="Arial"/>
                        </a:rPr>
                        <a:t>, </a:t>
                      </a:r>
                      <a:r>
                        <a:rPr sz="860" i="0" b="1">
                          <a:solidFill>
                            <a:srgbClr val="0E2841"/>
                          </a:solidFill>
                          <a:latin typeface="Arial"/>
                        </a:rPr>
                        <a:t>PHẢI</a:t>
                      </a:r>
                      <a:r>
                        <a:rPr sz="860" i="0" b="1">
                          <a:solidFill>
                            <a:srgbClr val="1B1B1B"/>
                          </a:solidFill>
                          <a:latin typeface="Arial"/>
                        </a:rPr>
                        <a:t> giảm tốc về </a:t>
                      </a:r>
                      <a:r>
                        <a:rPr sz="860" i="0" b="1">
                          <a:solidFill>
                            <a:srgbClr val="0E2841"/>
                          </a:solidFill>
                          <a:latin typeface="Arial"/>
                        </a:rPr>
                        <a:t>|v_xe| = 0 m/s</a:t>
                      </a:r>
                      <a:r>
                        <a:rPr sz="860" i="0" b="1">
                          <a:solidFill>
                            <a:srgbClr val="1B1B1B"/>
                          </a:solidFill>
                          <a:latin typeface="Arial"/>
                        </a:rPr>
                        <a:t> trước khi đổi dấu mô-men.</a:t>
                      </a:r>
                    </a:p>
                  </a:txBody>
                  <a:tcPr anchor="ctr" marT="19050" marB="19050" marL="50800" marR="50800">
                    <a:solidFill>
                      <a:srgbClr val="FDEDEC"/>
                    </a:solidFill>
                  </a:tcPr>
                </a:tc>
                <a:tc>
                  <a:txBody>
                    <a:bodyPr wrap="square"/>
                    <a:lstStyle/>
                    <a:p>
                      <a:pPr algn="l"/>
                      <a:r>
                        <a:rPr sz="860" i="0" b="1">
                          <a:solidFill>
                            <a:srgbClr val="1B1B1B"/>
                          </a:solidFill>
                          <a:latin typeface="Arial"/>
                        </a:rPr>
                        <a:t>Ngăn dòng xung kích gấp 8÷10 lần dòng định mức và tránh mẻ bánh răng hộp số khi đảo chiều đột ngột.</a:t>
                      </a:r>
                    </a:p>
                  </a:txBody>
                  <a:tcPr anchor="ctr" marT="19050" marB="19050" marL="50800" marR="50800">
                    <a:solidFill>
                      <a:srgbClr val="FDEDEC"/>
                    </a:solidFill>
                  </a:tcPr>
                </a:tc>
                <a:tc>
                  <a:txBody>
                    <a:bodyPr wrap="square"/>
                    <a:lstStyle/>
                    <a:p>
                      <a:pPr algn="l"/>
                      <a:r>
                        <a:rPr sz="860" i="0" b="1">
                          <a:solidFill>
                            <a:srgbClr val="C00000"/>
                          </a:solidFill>
                          <a:latin typeface="Arial"/>
                        </a:rPr>
                        <a:t>CTS-01</a:t>
                      </a:r>
                    </a:p>
                  </a:txBody>
                  <a:tcPr anchor="ctr" marT="19050" marB="19050" marL="50800" marR="50800">
                    <a:solidFill>
                      <a:srgbClr val="FDEDEC"/>
                    </a:solidFill>
                  </a:tcPr>
                </a:tc>
                <a:tc>
                  <a:txBody>
                    <a:bodyPr wrap="square"/>
                    <a:lstStyle/>
                    <a:p>
                      <a:pPr algn="l"/>
                      <a:r>
                        <a:rPr sz="860" i="0" b="1">
                          <a:solidFill>
                            <a:srgbClr val="0E2841"/>
                          </a:solidFill>
                          <a:latin typeface="Arial"/>
                        </a:rPr>
                        <a:t>DVP-L0-01</a:t>
                      </a:r>
                      <a:r>
                        <a:rPr sz="860" i="0" b="1">
                          <a:solidFill>
                            <a:srgbClr val="1B1B1B"/>
                          </a:solidFill>
                          <a:latin typeface="Arial"/>
                        </a:rPr>
                        <a:t> (S, I)
</a:t>
                      </a:r>
                      <a:r>
                        <a:rPr sz="860" i="0" b="1">
                          <a:solidFill>
                            <a:srgbClr val="0E2841"/>
                          </a:solidFill>
                          <a:latin typeface="Arial"/>
                        </a:rPr>
                        <a:t>Control Lead</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SRS-FUNC-02</a:t>
                      </a:r>
                    </a:p>
                  </a:txBody>
                  <a:tcPr anchor="ctr" marT="19050" marB="19050" marL="50800" marR="50800">
                    <a:solidFill>
                      <a:srgbClr val="F8F9FA"/>
                    </a:solidFill>
                  </a:tcPr>
                </a:tc>
                <a:tc>
                  <a:txBody>
                    <a:bodyPr wrap="square"/>
                    <a:lstStyle/>
                    <a:p>
                      <a:pPr algn="l"/>
                      <a:r>
                        <a:rPr sz="860" i="0" b="0">
                          <a:solidFill>
                            <a:srgbClr val="1B1B1B"/>
                          </a:solidFill>
                          <a:latin typeface="Arial"/>
                        </a:rPr>
                        <a:t>Khi chuyển đổi giữa cấp chạy chính (</a:t>
                      </a:r>
                      <a:r>
                        <a:rPr sz="860" i="0" b="1">
                          <a:solidFill>
                            <a:srgbClr val="0E2841"/>
                          </a:solidFill>
                          <a:latin typeface="Arial"/>
                        </a:rPr>
                        <a:t>0.12 m/s</a:t>
                      </a:r>
                      <a:r>
                        <a:rPr sz="860" i="0" b="0">
                          <a:solidFill>
                            <a:srgbClr val="1B1B1B"/>
                          </a:solidFill>
                          <a:latin typeface="Arial"/>
                        </a:rPr>
                        <a:t>) và cấp tốc độ bò (</a:t>
                      </a:r>
                      <a:r>
                        <a:rPr sz="860" i="0" b="1">
                          <a:solidFill>
                            <a:srgbClr val="0E2841"/>
                          </a:solidFill>
                          <a:latin typeface="Arial"/>
                        </a:rPr>
                        <a:t>0.030÷0.036 m/s</a:t>
                      </a:r>
                      <a:r>
                        <a:rPr sz="860" i="0" b="0">
                          <a:solidFill>
                            <a:srgbClr val="1B1B1B"/>
                          </a:solidFill>
                          <a:latin typeface="Arial"/>
                        </a:rPr>
                        <a:t>), bộ điều khiển </a:t>
                      </a:r>
                      <a:r>
                        <a:rPr sz="860" i="0" b="1">
                          <a:solidFill>
                            <a:srgbClr val="0E2841"/>
                          </a:solidFill>
                          <a:latin typeface="Arial"/>
                        </a:rPr>
                        <a:t>PHẢI</a:t>
                      </a:r>
                      <a:r>
                        <a:rPr sz="860" i="0" b="0">
                          <a:solidFill>
                            <a:srgbClr val="1B1B1B"/>
                          </a:solidFill>
                          <a:latin typeface="Arial"/>
                        </a:rPr>
                        <a:t> nội suy quỹ đạo vận tốc liên tục với </a:t>
                      </a:r>
                      <a:r>
                        <a:rPr sz="860" i="0" b="1">
                          <a:solidFill>
                            <a:srgbClr val="0E2841"/>
                          </a:solidFill>
                          <a:latin typeface="Arial"/>
                        </a:rPr>
                        <a:t>|a(t)| ≤ 0.50 m/s²</a:t>
                      </a:r>
                      <a:r>
                        <a:rPr sz="860" i="0" b="0">
                          <a:solidFill>
                            <a:srgbClr val="1B1B1B"/>
                          </a:solidFill>
                          <a:latin typeface="Arial"/>
                        </a:rPr>
                        <a:t>, không gây bước nhảy vận tốc.</a:t>
                      </a:r>
                    </a:p>
                  </a:txBody>
                  <a:tcPr anchor="ctr" marT="19050" marB="19050" marL="50800" marR="50800">
                    <a:solidFill>
                      <a:srgbClr val="F8F9FA"/>
                    </a:solidFill>
                  </a:tcPr>
                </a:tc>
                <a:tc>
                  <a:txBody>
                    <a:bodyPr wrap="square"/>
                    <a:lstStyle/>
                    <a:p>
                      <a:pPr algn="l"/>
                      <a:r>
                        <a:rPr sz="860" i="0" b="0">
                          <a:solidFill>
                            <a:srgbClr val="1B1B1B"/>
                          </a:solidFill>
                          <a:latin typeface="Arial"/>
                        </a:rPr>
                        <a:t>Giúp người vận hành giảm tốc mượt khi đưa tải </a:t>
                      </a:r>
                      <a:r>
                        <a:rPr sz="860" i="0" b="1">
                          <a:solidFill>
                            <a:srgbClr val="0E2841"/>
                          </a:solidFill>
                          <a:latin typeface="Arial"/>
                        </a:rPr>
                        <a:t>12,222 kg</a:t>
                      </a:r>
                      <a:r>
                        <a:rPr sz="860" i="0" b="0">
                          <a:solidFill>
                            <a:srgbClr val="1B1B1B"/>
                          </a:solidFill>
                          <a:latin typeface="Arial"/>
                        </a:rPr>
                        <a:t> vào vùng lắp ghép chính xác.</a:t>
                      </a:r>
                    </a:p>
                  </a:txBody>
                  <a:tcPr anchor="ctr" marT="19050" marB="19050" marL="50800" marR="50800">
                    <a:solidFill>
                      <a:srgbClr val="F8F9FA"/>
                    </a:solidFill>
                  </a:tcPr>
                </a:tc>
                <a:tc>
                  <a:txBody>
                    <a:bodyPr wrap="square"/>
                    <a:lstStyle/>
                    <a:p>
                      <a:pPr algn="l"/>
                      <a:r>
                        <a:rPr sz="860" i="0" b="1">
                          <a:solidFill>
                            <a:srgbClr val="0E2841"/>
                          </a:solidFill>
                          <a:latin typeface="Arial"/>
                        </a:rPr>
                        <a:t>CTQ-03</a:t>
                      </a:r>
                      <a:r>
                        <a:rPr sz="860" i="0" b="0">
                          <a:solidFill>
                            <a:srgbClr val="1B1B1B"/>
                          </a:solidFill>
                          <a:latin typeface="Arial"/>
                        </a:rPr>
                        <a:t>
</a:t>
                      </a:r>
                      <a:r>
                        <a:rPr sz="860" i="0" b="1">
                          <a:solidFill>
                            <a:srgbClr val="0E2841"/>
                          </a:solidFill>
                          <a:latin typeface="Arial"/>
                        </a:rPr>
                        <a:t>CTQ-04</a:t>
                      </a:r>
                    </a:p>
                  </a:txBody>
                  <a:tcPr anchor="ctr" marT="19050" marB="19050" marL="50800" marR="50800">
                    <a:solidFill>
                      <a:srgbClr val="F8F9FA"/>
                    </a:solidFill>
                  </a:tcPr>
                </a:tc>
                <a:tc>
                  <a:txBody>
                    <a:bodyPr wrap="square"/>
                    <a:lstStyle/>
                    <a:p>
                      <a:pPr algn="l"/>
                      <a:r>
                        <a:rPr sz="860" i="0" b="1">
                          <a:solidFill>
                            <a:srgbClr val="0E2841"/>
                          </a:solidFill>
                          <a:latin typeface="Arial"/>
                        </a:rPr>
                        <a:t>DVP-L0-02</a:t>
                      </a:r>
                      <a:r>
                        <a:rPr sz="860" i="0" b="0">
                          <a:solidFill>
                            <a:srgbClr val="1B1B1B"/>
                          </a:solidFill>
                          <a:latin typeface="Arial"/>
                        </a:rPr>
                        <a:t> (S)
</a:t>
                      </a:r>
                      <a:r>
                        <a:rPr sz="860" i="0" b="1">
                          <a:solidFill>
                            <a:srgbClr val="0E2841"/>
                          </a:solidFill>
                          <a:latin typeface="Arial"/>
                        </a:rPr>
                        <a:t>Control Lead</a:t>
                      </a:r>
                    </a:p>
                  </a:txBody>
                  <a:tcPr anchor="ctr" marT="19050" marB="19050" marL="50800" marR="50800">
                    <a:solidFill>
                      <a:srgbClr val="F8F9FA"/>
                    </a:solidFill>
                  </a:tcPr>
                </a:tc>
              </a:tr>
              <a:tr h="624953">
                <a:tc>
                  <a:txBody>
                    <a:bodyPr wrap="square"/>
                    <a:lstStyle/>
                    <a:p>
                      <a:pPr algn="ctr"/>
                      <a:r>
                        <a:rPr sz="860" i="0" b="1">
                          <a:solidFill>
                            <a:srgbClr val="0E2841"/>
                          </a:solidFill>
                          <a:latin typeface="Arial"/>
                        </a:rPr>
                        <a:t>SRS-FUNC-03</a:t>
                      </a:r>
                    </a:p>
                  </a:txBody>
                  <a:tcPr anchor="ctr" marT="19050" marB="19050" marL="50800" marR="50800">
                    <a:solidFill>
                      <a:srgbClr val="FDEDEC"/>
                    </a:solidFill>
                  </a:tcPr>
                </a:tc>
                <a:tc>
                  <a:txBody>
                    <a:bodyPr wrap="square"/>
                    <a:lstStyle/>
                    <a:p>
                      <a:pPr algn="l"/>
                      <a:r>
                        <a:rPr sz="860" i="0" b="1">
                          <a:solidFill>
                            <a:srgbClr val="1B1B1B"/>
                          </a:solidFill>
                          <a:latin typeface="Arial"/>
                        </a:rPr>
                        <a:t>Khi nhận lệnh dừng chủ động, hệ thống </a:t>
                      </a:r>
                      <a:r>
                        <a:rPr sz="860" i="0" b="1">
                          <a:solidFill>
                            <a:srgbClr val="0E2841"/>
                          </a:solidFill>
                          <a:latin typeface="Arial"/>
                        </a:rPr>
                        <a:t>PHẢI</a:t>
                      </a:r>
                      <a:r>
                        <a:rPr sz="860" i="0" b="1">
                          <a:solidFill>
                            <a:srgbClr val="1B1B1B"/>
                          </a:solidFill>
                          <a:latin typeface="Arial"/>
                        </a:rPr>
                        <a:t> thực thi trình tự </a:t>
                      </a:r>
                      <a:r>
                        <a:rPr sz="860" i="0" b="1">
                          <a:solidFill>
                            <a:srgbClr val="0E2841"/>
                          </a:solidFill>
                          <a:latin typeface="Arial"/>
                        </a:rPr>
                        <a:t>Stop Category 1 (IEC 60204-1)</a:t>
                      </a:r>
                      <a:r>
                        <a:rPr sz="860" i="0" b="1">
                          <a:solidFill>
                            <a:srgbClr val="1B1B1B"/>
                          </a:solidFill>
                          <a:latin typeface="Arial"/>
                        </a:rPr>
                        <a:t>: hãm điện từ theo S-Curve (</a:t>
                      </a:r>
                      <a:r>
                        <a:rPr sz="860" i="0" b="1">
                          <a:solidFill>
                            <a:srgbClr val="0E2841"/>
                          </a:solidFill>
                          <a:latin typeface="Arial"/>
                        </a:rPr>
                        <a:t>|a| ≤ 0.50 m/s²</a:t>
                      </a:r>
                      <a:r>
                        <a:rPr sz="860" i="0" b="1">
                          <a:solidFill>
                            <a:srgbClr val="1B1B1B"/>
                          </a:solidFill>
                          <a:latin typeface="Arial"/>
                        </a:rPr>
                        <a:t>) đưa tốc độ về </a:t>
                      </a:r>
                      <a:r>
                        <a:rPr sz="860" i="0" b="1">
                          <a:solidFill>
                            <a:srgbClr val="0E2841"/>
                          </a:solidFill>
                          <a:latin typeface="Arial"/>
                        </a:rPr>
                        <a:t>≈ 0 m/s</a:t>
                      </a:r>
                      <a:r>
                        <a:rPr sz="860" i="0" b="1">
                          <a:solidFill>
                            <a:srgbClr val="1B1B1B"/>
                          </a:solidFill>
                          <a:latin typeface="Arial"/>
                        </a:rPr>
                        <a:t> rồi mới cắt điện đóng phanh cơ.</a:t>
                      </a:r>
                    </a:p>
                  </a:txBody>
                  <a:tcPr anchor="ctr" marT="19050" marB="19050" marL="50800" marR="50800">
                    <a:solidFill>
                      <a:srgbClr val="FDEDEC"/>
                    </a:solidFill>
                  </a:tcPr>
                </a:tc>
                <a:tc>
                  <a:txBody>
                    <a:bodyPr wrap="square"/>
                    <a:lstStyle/>
                    <a:p>
                      <a:pPr algn="l"/>
                      <a:r>
                        <a:rPr sz="860" i="0" b="1">
                          <a:solidFill>
                            <a:srgbClr val="1B1B1B"/>
                          </a:solidFill>
                          <a:latin typeface="Arial"/>
                        </a:rPr>
                        <a:t>Tránh dùng phanh cơ khí hãm động năng khối lượng </a:t>
                      </a:r>
                      <a:r>
                        <a:rPr sz="860" i="0" b="1">
                          <a:solidFill>
                            <a:srgbClr val="0E2841"/>
                          </a:solidFill>
                          <a:latin typeface="Arial"/>
                        </a:rPr>
                        <a:t>14,244 kg</a:t>
                      </a:r>
                      <a:r>
                        <a:rPr sz="860" i="0" b="1">
                          <a:solidFill>
                            <a:srgbClr val="1B1B1B"/>
                          </a:solidFill>
                          <a:latin typeface="Arial"/>
                        </a:rPr>
                        <a:t> gây cháy má phanh và giật lắc cáp.</a:t>
                      </a:r>
                    </a:p>
                  </a:txBody>
                  <a:tcPr anchor="ctr" marT="19050" marB="19050" marL="50800" marR="50800">
                    <a:solidFill>
                      <a:srgbClr val="FDEDEC"/>
                    </a:solidFill>
                  </a:tcPr>
                </a:tc>
                <a:tc>
                  <a:txBody>
                    <a:bodyPr wrap="square"/>
                    <a:lstStyle/>
                    <a:p>
                      <a:pPr algn="l"/>
                      <a:r>
                        <a:rPr sz="860" i="0" b="1">
                          <a:solidFill>
                            <a:srgbClr val="C00000"/>
                          </a:solidFill>
                          <a:latin typeface="Arial"/>
                        </a:rPr>
                        <a:t>CTS-02</a:t>
                      </a:r>
                      <a:r>
                        <a:rPr sz="860" i="0" b="1">
                          <a:solidFill>
                            <a:srgbClr val="1B1B1B"/>
                          </a:solidFill>
                          <a:latin typeface="Arial"/>
                        </a:rPr>
                        <a:t>
</a:t>
                      </a:r>
                      <a:r>
                        <a:rPr sz="860" i="0" b="1">
                          <a:solidFill>
                            <a:srgbClr val="0E2841"/>
                          </a:solidFill>
                          <a:latin typeface="Arial"/>
                        </a:rPr>
                        <a:t>CTQ-04</a:t>
                      </a:r>
                    </a:p>
                  </a:txBody>
                  <a:tcPr anchor="ctr" marT="19050" marB="19050" marL="50800" marR="50800">
                    <a:solidFill>
                      <a:srgbClr val="FDEDEC"/>
                    </a:solidFill>
                  </a:tcPr>
                </a:tc>
                <a:tc>
                  <a:txBody>
                    <a:bodyPr wrap="square"/>
                    <a:lstStyle/>
                    <a:p>
                      <a:pPr algn="l"/>
                      <a:r>
                        <a:rPr sz="860" i="0" b="1">
                          <a:solidFill>
                            <a:srgbClr val="0E2841"/>
                          </a:solidFill>
                          <a:latin typeface="Arial"/>
                        </a:rPr>
                        <a:t>DVP-L0-03</a:t>
                      </a:r>
                      <a:r>
                        <a:rPr sz="860" i="0" b="1">
                          <a:solidFill>
                            <a:srgbClr val="1B1B1B"/>
                          </a:solidFill>
                          <a:latin typeface="Arial"/>
                        </a:rPr>
                        <a:t> (S, I)
</a:t>
                      </a:r>
                      <a:r>
                        <a:rPr sz="860" i="0" b="1">
                          <a:solidFill>
                            <a:srgbClr val="0E2841"/>
                          </a:solidFill>
                          <a:latin typeface="Arial"/>
                        </a:rPr>
                        <a:t>Control Lead</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SRS-FUNC-04</a:t>
                      </a:r>
                    </a:p>
                  </a:txBody>
                  <a:tcPr anchor="ctr" marT="19050" marB="19050" marL="50800" marR="50800">
                    <a:solidFill>
                      <a:srgbClr val="FDEDEC"/>
                    </a:solidFill>
                  </a:tcPr>
                </a:tc>
                <a:tc>
                  <a:txBody>
                    <a:bodyPr wrap="square"/>
                    <a:lstStyle/>
                    <a:p>
                      <a:pPr algn="l"/>
                      <a:r>
                        <a:rPr sz="860" i="0" b="1">
                          <a:solidFill>
                            <a:srgbClr val="1B1B1B"/>
                          </a:solidFill>
                          <a:latin typeface="Arial"/>
                        </a:rPr>
                        <a:t>Khi khởi động hoặc trước khi đóng phanh tại điểm dừng, hệ thống </a:t>
                      </a:r>
                      <a:r>
                        <a:rPr sz="860" i="0" b="1">
                          <a:solidFill>
                            <a:srgbClr val="0E2841"/>
                          </a:solidFill>
                          <a:latin typeface="Arial"/>
                        </a:rPr>
                        <a:t>PHẢI</a:t>
                      </a:r>
                      <a:r>
                        <a:rPr sz="860" i="0" b="1">
                          <a:solidFill>
                            <a:srgbClr val="1B1B1B"/>
                          </a:solidFill>
                          <a:latin typeface="Arial"/>
                        </a:rPr>
                        <a:t> thiết lập từ thông và duy trì mô-men giữ </a:t>
                      </a:r>
                      <a:r>
                        <a:rPr sz="860" i="0" b="1">
                          <a:solidFill>
                            <a:srgbClr val="196B24"/>
                          </a:solidFill>
                          <a:latin typeface="Arial"/>
                        </a:rPr>
                        <a:t>M_hold ∈ [100%; 150%] M_đm</a:t>
                      </a:r>
                      <a:r>
                        <a:rPr sz="860" i="0" b="1">
                          <a:solidFill>
                            <a:srgbClr val="1B1B1B"/>
                          </a:solidFill>
                          <a:latin typeface="Arial"/>
                        </a:rPr>
                        <a:t> tại </a:t>
                      </a:r>
                      <a:r>
                        <a:rPr sz="860" i="0" b="1">
                          <a:solidFill>
                            <a:srgbClr val="0E2841"/>
                          </a:solidFill>
                          <a:latin typeface="Arial"/>
                        </a:rPr>
                        <a:t>0 rpm</a:t>
                      </a:r>
                      <a:r>
                        <a:rPr sz="860" i="0" b="1">
                          <a:solidFill>
                            <a:srgbClr val="1B1B1B"/>
                          </a:solidFill>
                          <a:latin typeface="Arial"/>
                        </a:rPr>
                        <a:t> đồng bộ phanh từ, đảm bảo </a:t>
                      </a:r>
                      <a:r>
                        <a:rPr sz="860" i="0" b="1">
                          <a:solidFill>
                            <a:srgbClr val="0E2841"/>
                          </a:solidFill>
                          <a:latin typeface="Arial"/>
                        </a:rPr>
                        <a:t>Δx_trôi = 0 mm</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Bù đắp thời gian trễ cơ khí (50÷150 ms) của phanh điện từ, chống trôi hoặc giật tải tại tốc độ 0.</a:t>
                      </a:r>
                    </a:p>
                  </a:txBody>
                  <a:tcPr anchor="ctr" marT="19050" marB="19050" marL="50800" marR="50800">
                    <a:solidFill>
                      <a:srgbClr val="FDEDEC"/>
                    </a:solidFill>
                  </a:tcPr>
                </a:tc>
                <a:tc>
                  <a:txBody>
                    <a:bodyPr wrap="square"/>
                    <a:lstStyle/>
                    <a:p>
                      <a:pPr algn="l"/>
                      <a:r>
                        <a:rPr sz="860" i="0" b="1">
                          <a:solidFill>
                            <a:srgbClr val="0E2841"/>
                          </a:solidFill>
                          <a:latin typeface="Arial"/>
                        </a:rPr>
                        <a:t>CTQ-06</a:t>
                      </a:r>
                      <a:r>
                        <a:rPr sz="860" i="0" b="1">
                          <a:solidFill>
                            <a:srgbClr val="1B1B1B"/>
                          </a:solidFill>
                          <a:latin typeface="Arial"/>
                        </a:rPr>
                        <a:t>
</a:t>
                      </a:r>
                      <a:r>
                        <a:rPr sz="860" i="0" b="1">
                          <a:solidFill>
                            <a:srgbClr val="C00000"/>
                          </a:solidFill>
                          <a:latin typeface="Arial"/>
                        </a:rPr>
                        <a:t>CTS-03</a:t>
                      </a:r>
                    </a:p>
                  </a:txBody>
                  <a:tcPr anchor="ctr" marT="19050" marB="19050" marL="50800" marR="50800">
                    <a:solidFill>
                      <a:srgbClr val="FDEDEC"/>
                    </a:solidFill>
                  </a:tcPr>
                </a:tc>
                <a:tc>
                  <a:txBody>
                    <a:bodyPr wrap="square"/>
                    <a:lstStyle/>
                    <a:p>
                      <a:pPr algn="l"/>
                      <a:r>
                        <a:rPr sz="860" i="0" b="1">
                          <a:solidFill>
                            <a:srgbClr val="0E2841"/>
                          </a:solidFill>
                          <a:latin typeface="Arial"/>
                        </a:rPr>
                        <a:t>DVP-L0-04</a:t>
                      </a:r>
                      <a:r>
                        <a:rPr sz="860" i="0" b="1">
                          <a:solidFill>
                            <a:srgbClr val="1B1B1B"/>
                          </a:solidFill>
                          <a:latin typeface="Arial"/>
                        </a:rPr>
                        <a:t> (S, A)
</a:t>
                      </a:r>
                      <a:r>
                        <a:rPr sz="860" i="0" b="1">
                          <a:solidFill>
                            <a:srgbClr val="0E2841"/>
                          </a:solidFill>
                          <a:latin typeface="Arial"/>
                        </a:rPr>
                        <a:t>Drive + Control</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SRS-FUNC-05</a:t>
                      </a:r>
                    </a:p>
                  </a:txBody>
                  <a:tcPr anchor="ctr" marT="19050" marB="19050" marL="50800" marR="50800">
                    <a:solidFill>
                      <a:srgbClr val="FFFFFF"/>
                    </a:solidFill>
                  </a:tcPr>
                </a:tc>
                <a:tc>
                  <a:txBody>
                    <a:bodyPr wrap="square"/>
                    <a:lstStyle/>
                    <a:p>
                      <a:pPr algn="l"/>
                      <a:r>
                        <a:rPr sz="860" i="0" b="0">
                          <a:solidFill>
                            <a:srgbClr val="1B1B1B"/>
                          </a:solidFill>
                          <a:latin typeface="Arial"/>
                        </a:rPr>
                        <a:t>Hệ truyền động </a:t>
                      </a:r>
                      <a:r>
                        <a:rPr sz="860" i="0" b="1">
                          <a:solidFill>
                            <a:srgbClr val="0E2841"/>
                          </a:solidFill>
                          <a:latin typeface="Arial"/>
                        </a:rPr>
                        <a:t>PHẢI</a:t>
                      </a:r>
                      <a:r>
                        <a:rPr sz="860" i="0" b="0">
                          <a:solidFill>
                            <a:srgbClr val="1B1B1B"/>
                          </a:solidFill>
                          <a:latin typeface="Arial"/>
                        </a:rPr>
                        <a:t> sử dụng cấu trúc </a:t>
                      </a:r>
                      <a:r>
                        <a:rPr sz="860" i="0" b="1">
                          <a:solidFill>
                            <a:srgbClr val="0E2841"/>
                          </a:solidFill>
                          <a:latin typeface="Arial"/>
                        </a:rPr>
                        <a:t>Vector FOC vòng kín có Encoder</a:t>
                      </a:r>
                      <a:r>
                        <a:rPr sz="860" i="0" b="0">
                          <a:solidFill>
                            <a:srgbClr val="1B1B1B"/>
                          </a:solidFill>
                          <a:latin typeface="Arial"/>
                        </a:rPr>
                        <a:t>, tách độc lập kênh dòng từ hóa (</a:t>
                      </a:r>
                      <a:r>
                        <a:rPr sz="860" i="0" b="1">
                          <a:solidFill>
                            <a:srgbClr val="0E2841"/>
                          </a:solidFill>
                          <a:latin typeface="Arial"/>
                        </a:rPr>
                        <a:t>i_sd</a:t>
                      </a:r>
                      <a:r>
                        <a:rPr sz="860" i="0" b="0">
                          <a:solidFill>
                            <a:srgbClr val="1B1B1B"/>
                          </a:solidFill>
                          <a:latin typeface="Arial"/>
                        </a:rPr>
                        <a:t>) và kênh dòng sinh mô-men (</a:t>
                      </a:r>
                      <a:r>
                        <a:rPr sz="860" i="0" b="1">
                          <a:solidFill>
                            <a:srgbClr val="0E2841"/>
                          </a:solidFill>
                          <a:latin typeface="Arial"/>
                        </a:rPr>
                        <a:t>i_sq</a:t>
                      </a:r>
                      <a:r>
                        <a:rPr sz="860" i="0" b="0">
                          <a:solidFill>
                            <a:srgbClr val="1B1B1B"/>
                          </a:solidFill>
                          <a:latin typeface="Arial"/>
                        </a:rPr>
                        <a:t>) trên toàn dải tốc độ từ </a:t>
                      </a:r>
                      <a:r>
                        <a:rPr sz="860" i="0" b="1">
                          <a:solidFill>
                            <a:srgbClr val="0E2841"/>
                          </a:solidFill>
                          <a:latin typeface="Arial"/>
                        </a:rPr>
                        <a:t>0 rpm</a:t>
                      </a:r>
                      <a:r>
                        <a:rPr sz="860" i="0" b="0">
                          <a:solidFill>
                            <a:srgbClr val="1B1B1B"/>
                          </a:solidFill>
                          <a:latin typeface="Arial"/>
                        </a:rPr>
                        <a:t> đến định mức.</a:t>
                      </a:r>
                    </a:p>
                  </a:txBody>
                  <a:tcPr anchor="ctr" marT="19050" marB="19050" marL="50800" marR="50800">
                    <a:solidFill>
                      <a:srgbClr val="FFFFFF"/>
                    </a:solidFill>
                  </a:tcPr>
                </a:tc>
                <a:tc>
                  <a:txBody>
                    <a:bodyPr wrap="square"/>
                    <a:lstStyle/>
                    <a:p>
                      <a:pPr algn="l"/>
                      <a:r>
                        <a:rPr sz="860" i="0" b="0">
                          <a:solidFill>
                            <a:srgbClr val="1B1B1B"/>
                          </a:solidFill>
                          <a:latin typeface="Arial"/>
                        </a:rPr>
                        <a:t>Luật V/f vòng hở bị sụt mô-men ở tần số thấp (&lt; 3÷5 Hz), không thể giữ tải ở 0 rpm và chạy bò ổn định.</a:t>
                      </a:r>
                    </a:p>
                  </a:txBody>
                  <a:tcPr anchor="ctr" marT="19050" marB="19050" marL="50800" marR="50800">
                    <a:solidFill>
                      <a:srgbClr val="FFFFFF"/>
                    </a:solidFill>
                  </a:tcPr>
                </a:tc>
                <a:tc>
                  <a:txBody>
                    <a:bodyPr wrap="square"/>
                    <a:lstStyle/>
                    <a:p>
                      <a:pPr algn="l"/>
                      <a:r>
                        <a:rPr sz="860" i="0" b="1">
                          <a:solidFill>
                            <a:srgbClr val="0E2841"/>
                          </a:solidFill>
                          <a:latin typeface="Arial"/>
                        </a:rPr>
                        <a:t>CTQ-01..03</a:t>
                      </a:r>
                      <a:r>
                        <a:rPr sz="860" i="0" b="0">
                          <a:solidFill>
                            <a:srgbClr val="1B1B1B"/>
                          </a:solidFill>
                          <a:latin typeface="Arial"/>
                        </a:rPr>
                        <a:t>
</a:t>
                      </a:r>
                      <a:r>
                        <a:rPr sz="860" i="0" b="1">
                          <a:solidFill>
                            <a:srgbClr val="0E2841"/>
                          </a:solidFill>
                          <a:latin typeface="Arial"/>
                        </a:rPr>
                        <a:t>CTQ-06</a:t>
                      </a:r>
                    </a:p>
                  </a:txBody>
                  <a:tcPr anchor="ctr" marT="19050" marB="19050" marL="50800" marR="50800">
                    <a:solidFill>
                      <a:srgbClr val="FFFFFF"/>
                    </a:solidFill>
                  </a:tcPr>
                </a:tc>
                <a:tc>
                  <a:txBody>
                    <a:bodyPr wrap="square"/>
                    <a:lstStyle/>
                    <a:p>
                      <a:pPr algn="l"/>
                      <a:r>
                        <a:rPr sz="860" i="0" b="1">
                          <a:solidFill>
                            <a:srgbClr val="0E2841"/>
                          </a:solidFill>
                          <a:latin typeface="Arial"/>
                        </a:rPr>
                        <a:t>DVP-L0-05</a:t>
                      </a:r>
                      <a:r>
                        <a:rPr sz="860" i="0" b="0">
                          <a:solidFill>
                            <a:srgbClr val="1B1B1B"/>
                          </a:solidFill>
                          <a:latin typeface="Arial"/>
                        </a:rPr>
                        <a:t> (I, S)
</a:t>
                      </a:r>
                      <a:r>
                        <a:rPr sz="860" i="0" b="1">
                          <a:solidFill>
                            <a:srgbClr val="0E2841"/>
                          </a:solidFill>
                          <a:latin typeface="Arial"/>
                        </a:rPr>
                        <a:t>Control Lead</a:t>
                      </a:r>
                    </a:p>
                  </a:txBody>
                  <a:tcPr anchor="ctr" marT="19050" marB="19050" marL="50800" marR="50800">
                    <a:solidFill>
                      <a:srgbClr val="FFFFFF"/>
                    </a:solidFill>
                  </a:tcPr>
                </a:tc>
              </a:tr>
              <a:tr h="624953">
                <a:tc>
                  <a:txBody>
                    <a:bodyPr wrap="square"/>
                    <a:lstStyle/>
                    <a:p>
                      <a:pPr algn="ctr"/>
                      <a:r>
                        <a:rPr sz="860" i="0" b="1">
                          <a:solidFill>
                            <a:srgbClr val="0E2841"/>
                          </a:solidFill>
                          <a:latin typeface="Arial"/>
                        </a:rPr>
                        <a:t>SRS-FUNC-06</a:t>
                      </a:r>
                    </a:p>
                  </a:txBody>
                  <a:tcPr anchor="ctr" marT="19050" marB="19050" marL="50800" marR="50800">
                    <a:solidFill>
                      <a:srgbClr val="FDEDEC"/>
                    </a:solidFill>
                  </a:tcPr>
                </a:tc>
                <a:tc>
                  <a:txBody>
                    <a:bodyPr wrap="square"/>
                    <a:lstStyle/>
                    <a:p>
                      <a:pPr algn="l"/>
                      <a:r>
                        <a:rPr sz="860" i="0" b="1">
                          <a:solidFill>
                            <a:srgbClr val="1B1B1B"/>
                          </a:solidFill>
                          <a:latin typeface="Arial"/>
                        </a:rPr>
                        <a:t>Khi hãm giảm tốc hoặc đảo chiều ở </a:t>
                      </a:r>
                      <a:r>
                        <a:rPr sz="860" i="0" b="1">
                          <a:solidFill>
                            <a:srgbClr val="0E2841"/>
                          </a:solidFill>
                          <a:latin typeface="Arial"/>
                        </a:rPr>
                        <a:t>góc phần tư Q2 và Q4</a:t>
                      </a:r>
                      <a:r>
                        <a:rPr sz="860" i="0" b="1">
                          <a:solidFill>
                            <a:srgbClr val="1B1B1B"/>
                          </a:solidFill>
                          <a:latin typeface="Arial"/>
                        </a:rPr>
                        <a:t>, biến tần </a:t>
                      </a:r>
                      <a:r>
                        <a:rPr sz="860" i="0" b="1">
                          <a:solidFill>
                            <a:srgbClr val="0E2841"/>
                          </a:solidFill>
                          <a:latin typeface="Arial"/>
                        </a:rPr>
                        <a:t>PHẢI</a:t>
                      </a:r>
                      <a:r>
                        <a:rPr sz="860" i="0" b="1">
                          <a:solidFill>
                            <a:srgbClr val="1B1B1B"/>
                          </a:solidFill>
                          <a:latin typeface="Arial"/>
                        </a:rPr>
                        <a:t> kích hoạt </a:t>
                      </a:r>
                      <a:r>
                        <a:rPr sz="860" i="0" b="1">
                          <a:solidFill>
                            <a:srgbClr val="0E2841"/>
                          </a:solidFill>
                          <a:latin typeface="Arial"/>
                        </a:rPr>
                        <a:t>Braking Chopper + điện trở xả R_h</a:t>
                      </a:r>
                      <a:r>
                        <a:rPr sz="860" i="0" b="1">
                          <a:solidFill>
                            <a:srgbClr val="1B1B1B"/>
                          </a:solidFill>
                          <a:latin typeface="Arial"/>
                        </a:rPr>
                        <a:t> để tiêu tán năng lượng tái sinh, giữ điện áp </a:t>
                      </a:r>
                      <a:r>
                        <a:rPr sz="860" i="0" b="1">
                          <a:solidFill>
                            <a:srgbClr val="0E2841"/>
                          </a:solidFill>
                          <a:latin typeface="Arial"/>
                        </a:rPr>
                        <a:t>U_dc(t) &lt; 780 V DC</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Động năng của </a:t>
                      </a:r>
                      <a:r>
                        <a:rPr sz="860" i="0" b="1">
                          <a:solidFill>
                            <a:srgbClr val="0E2841"/>
                          </a:solidFill>
                          <a:latin typeface="Arial"/>
                        </a:rPr>
                        <a:t>14,244 kg</a:t>
                      </a:r>
                      <a:r>
                        <a:rPr sz="860" i="0" b="1">
                          <a:solidFill>
                            <a:srgbClr val="1B1B1B"/>
                          </a:solidFill>
                          <a:latin typeface="Arial"/>
                        </a:rPr>
                        <a:t> trả về DC-link sẽ làm vọt áp vượt 800V DC gây nổ tụ hoặc Trip OV nếu thiếu R_h.</a:t>
                      </a:r>
                    </a:p>
                  </a:txBody>
                  <a:tcPr anchor="ctr" marT="19050" marB="19050" marL="50800" marR="50800">
                    <a:solidFill>
                      <a:srgbClr val="FDEDEC"/>
                    </a:solidFill>
                  </a:tcPr>
                </a:tc>
                <a:tc>
                  <a:txBody>
                    <a:bodyPr wrap="square"/>
                    <a:lstStyle/>
                    <a:p>
                      <a:pPr algn="l"/>
                      <a:r>
                        <a:rPr sz="860" i="0" b="1">
                          <a:solidFill>
                            <a:srgbClr val="0E2841"/>
                          </a:solidFill>
                          <a:latin typeface="Arial"/>
                        </a:rPr>
                        <a:t>CTQ-07</a:t>
                      </a:r>
                      <a:r>
                        <a:rPr sz="860" i="0" b="1">
                          <a:solidFill>
                            <a:srgbClr val="1B1B1B"/>
                          </a:solidFill>
                          <a:latin typeface="Arial"/>
                        </a:rPr>
                        <a:t>
</a:t>
                      </a:r>
                      <a:r>
                        <a:rPr sz="860" i="0" b="1">
                          <a:solidFill>
                            <a:srgbClr val="C00000"/>
                          </a:solidFill>
                          <a:latin typeface="Arial"/>
                        </a:rPr>
                        <a:t>CTS-04</a:t>
                      </a:r>
                    </a:p>
                  </a:txBody>
                  <a:tcPr anchor="ctr" marT="19050" marB="19050" marL="50800" marR="50800">
                    <a:solidFill>
                      <a:srgbClr val="FDEDEC"/>
                    </a:solidFill>
                  </a:tcPr>
                </a:tc>
                <a:tc>
                  <a:txBody>
                    <a:bodyPr wrap="square"/>
                    <a:lstStyle/>
                    <a:p>
                      <a:pPr algn="l"/>
                      <a:r>
                        <a:rPr sz="860" i="0" b="1">
                          <a:solidFill>
                            <a:srgbClr val="0E2841"/>
                          </a:solidFill>
                          <a:latin typeface="Arial"/>
                        </a:rPr>
                        <a:t>DVP-L0-06</a:t>
                      </a:r>
                      <a:r>
                        <a:rPr sz="860" i="0" b="1">
                          <a:solidFill>
                            <a:srgbClr val="1B1B1B"/>
                          </a:solidFill>
                          <a:latin typeface="Arial"/>
                        </a:rPr>
                        <a:t> (A, S)
</a:t>
                      </a:r>
                      <a:r>
                        <a:rPr sz="860" i="0" b="1">
                          <a:solidFill>
                            <a:srgbClr val="0E2841"/>
                          </a:solidFill>
                          <a:latin typeface="Arial"/>
                        </a:rPr>
                        <a:t>Drive Lead</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SRS-FUNC-07</a:t>
                      </a:r>
                    </a:p>
                  </a:txBody>
                  <a:tcPr anchor="ctr" marT="19050" marB="19050" marL="50800" marR="50800">
                    <a:solidFill>
                      <a:srgbClr val="FFFFFF"/>
                    </a:solidFill>
                  </a:tcPr>
                </a:tc>
                <a:tc>
                  <a:txBody>
                    <a:bodyPr wrap="square"/>
                    <a:lstStyle/>
                    <a:p>
                      <a:pPr algn="l"/>
                      <a:r>
                        <a:rPr sz="860" i="0" b="0">
                          <a:solidFill>
                            <a:srgbClr val="1B1B1B"/>
                          </a:solidFill>
                          <a:latin typeface="Arial"/>
                        </a:rPr>
                        <a:t>Bộ điều khiển </a:t>
                      </a:r>
                      <a:r>
                        <a:rPr sz="860" i="0" b="1">
                          <a:solidFill>
                            <a:srgbClr val="0E2841"/>
                          </a:solidFill>
                          <a:latin typeface="Arial"/>
                        </a:rPr>
                        <a:t>PHẢI</a:t>
                      </a:r>
                      <a:r>
                        <a:rPr sz="860" i="0" b="0">
                          <a:solidFill>
                            <a:srgbClr val="1B1B1B"/>
                          </a:solidFill>
                          <a:latin typeface="Arial"/>
                        </a:rPr>
                        <a:t> tích hợp khối quy hoạch quỹ đạo </a:t>
                      </a:r>
                      <a:r>
                        <a:rPr sz="860" i="0" b="1">
                          <a:solidFill>
                            <a:srgbClr val="0E2841"/>
                          </a:solidFill>
                          <a:latin typeface="Arial"/>
                        </a:rPr>
                        <a:t>S-Curve 7 pha</a:t>
                      </a:r>
                      <a:r>
                        <a:rPr sz="860" i="0" b="0">
                          <a:solidFill>
                            <a:srgbClr val="1B1B1B"/>
                          </a:solidFill>
                          <a:latin typeface="Arial"/>
                        </a:rPr>
                        <a:t> để biến thiên gia tốc tuyến tính theo thời gian với đạo hàm bậc hai </a:t>
                      </a:r>
                      <a:r>
                        <a:rPr sz="860" i="0" b="1">
                          <a:solidFill>
                            <a:srgbClr val="0E2841"/>
                          </a:solidFill>
                          <a:latin typeface="Arial"/>
                        </a:rPr>
                        <a:t>|ρ(t)| = |da/dt| ≤ 2.00 m/s³</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Triệt tiêu xung lực đạo hàm bậc cao (Jerk → ∞ của ramp hình thang), ngăn kích thích cộng hưởng con lắc cáp </a:t>
                      </a:r>
                      <a:r>
                        <a:rPr sz="860" i="0" b="1">
                          <a:solidFill>
                            <a:srgbClr val="0E2841"/>
                          </a:solidFill>
                          <a:latin typeface="Arial"/>
                        </a:rPr>
                        <a:t>h = 12 m</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1">
                          <a:solidFill>
                            <a:srgbClr val="0E2841"/>
                          </a:solidFill>
                          <a:latin typeface="Arial"/>
                        </a:rPr>
                        <a:t>CTQ-05</a:t>
                      </a:r>
                      <a:r>
                        <a:rPr sz="860" i="0" b="0">
                          <a:solidFill>
                            <a:srgbClr val="1B1B1B"/>
                          </a:solidFill>
                          <a:latin typeface="Arial"/>
                        </a:rPr>
                        <a:t>
</a:t>
                      </a:r>
                      <a:r>
                        <a:rPr sz="860" i="0" b="1">
                          <a:solidFill>
                            <a:srgbClr val="C00000"/>
                          </a:solidFill>
                          <a:latin typeface="Arial"/>
                        </a:rPr>
                        <a:t>CTS-05</a:t>
                      </a:r>
                    </a:p>
                  </a:txBody>
                  <a:tcPr anchor="ctr" marT="19050" marB="19050" marL="50800" marR="50800">
                    <a:solidFill>
                      <a:srgbClr val="FFFFFF"/>
                    </a:solidFill>
                  </a:tcPr>
                </a:tc>
                <a:tc>
                  <a:txBody>
                    <a:bodyPr wrap="square"/>
                    <a:lstStyle/>
                    <a:p>
                      <a:pPr algn="l"/>
                      <a:r>
                        <a:rPr sz="860" i="0" b="1">
                          <a:solidFill>
                            <a:srgbClr val="0E2841"/>
                          </a:solidFill>
                          <a:latin typeface="Arial"/>
                        </a:rPr>
                        <a:t>DVP-L0-07</a:t>
                      </a:r>
                      <a:r>
                        <a:rPr sz="860" i="0" b="0">
                          <a:solidFill>
                            <a:srgbClr val="1B1B1B"/>
                          </a:solidFill>
                          <a:latin typeface="Arial"/>
                        </a:rPr>
                        <a:t> (A, S)
</a:t>
                      </a:r>
                      <a:r>
                        <a:rPr sz="860" i="0" b="1">
                          <a:solidFill>
                            <a:srgbClr val="0E2841"/>
                          </a:solidFill>
                          <a:latin typeface="Arial"/>
                        </a:rPr>
                        <a:t>Control Lead</a:t>
                      </a:r>
                    </a:p>
                  </a:txBody>
                  <a:tcPr anchor="ctr" marT="19050" marB="19050" marL="50800" marR="50800">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B1-2] BẢNG ĐẶC TẢ CHI TIẾT 7 YÊU CẦU HIỆU NĂNG (SRS-PERM-01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Toàn văn phát biểu nguyên tử, dung sai định lượng theo bộ số </a:t>
            </a:r>
            <a:r>
              <a:rPr sz="1350" i="0" b="1">
                <a:solidFill>
                  <a:srgbClr val="0E2841"/>
                </a:solidFill>
                <a:latin typeface="Arial"/>
              </a:rPr>
              <a:t>x = 2</a:t>
            </a:r>
            <a:r>
              <a:rPr sz="1350" i="0" b="1">
                <a:solidFill>
                  <a:srgbClr val="C00000"/>
                </a:solidFill>
                <a:latin typeface="Arial"/>
              </a:rPr>
              <a:t> (</a:t>
            </a:r>
            <a:r>
              <a:rPr sz="1350" i="0" b="1">
                <a:solidFill>
                  <a:srgbClr val="0E2841"/>
                </a:solidFill>
                <a:latin typeface="Arial"/>
              </a:rPr>
              <a:t>Q = 12,222 kg</a:t>
            </a:r>
            <a:r>
              <a:rPr sz="1350" i="0" b="1">
                <a:solidFill>
                  <a:srgbClr val="C00000"/>
                </a:solidFill>
                <a:latin typeface="Arial"/>
              </a:rPr>
              <a:t>) và phân công kiểm chứng</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B1-2 — Full Metadata Table for SRS-PERM-01..07 | Backup B1-2 (18/23)</a:t>
            </a:r>
          </a:p>
        </p:txBody>
      </p:sp>
      <p:graphicFrame>
        <p:nvGraphicFramePr>
          <p:cNvPr id="5" name="Table 4"/>
          <p:cNvGraphicFramePr>
            <a:graphicFrameLocks noGrp="1"/>
          </p:cNvGraphicFramePr>
          <p:nvPr/>
        </p:nvGraphicFramePr>
        <p:xfrm>
          <a:off x="310896" y="1234440"/>
          <a:ext cx="11567160" cy="4667279"/>
        </p:xfrm>
        <a:graphic>
          <a:graphicData uri="http://schemas.openxmlformats.org/drawingml/2006/table">
            <a:tbl>
              <a:tblPr firstRow="1" bandRow="1">
                <a:tableStyleId>{5C22544A-7EE6-4342-B048-85BDC9FD1C3A}</a:tableStyleId>
              </a:tblPr>
              <a:tblGrid>
                <a:gridCol w="1188720"/>
                <a:gridCol w="4800600"/>
                <a:gridCol w="3017520"/>
                <a:gridCol w="1051560"/>
                <a:gridCol w="1508760"/>
              </a:tblGrid>
              <a:tr h="292608">
                <a:tc>
                  <a:txBody>
                    <a:bodyPr wrap="square"/>
                    <a:lstStyle/>
                    <a:p>
                      <a:pPr algn="ctr"/>
                      <a:r>
                        <a:rPr sz="969" b="1">
                          <a:solidFill>
                            <a:srgbClr val="FFFFFF"/>
                          </a:solidFill>
                          <a:latin typeface="Arial"/>
                        </a:rPr>
                        <a:t>Mã SRS</a:t>
                      </a:r>
                    </a:p>
                  </a:txBody>
                  <a:tcPr anchor="ctr" marT="19050" marB="19050" marL="50800" marR="50800">
                    <a:solidFill>
                      <a:srgbClr val="0E2841"/>
                    </a:solidFill>
                  </a:tcPr>
                </a:tc>
                <a:tc>
                  <a:txBody>
                    <a:bodyPr wrap="square"/>
                    <a:lstStyle/>
                    <a:p>
                      <a:pPr algn="ctr"/>
                      <a:r>
                        <a:rPr sz="969" b="1">
                          <a:solidFill>
                            <a:srgbClr val="FFFFFF"/>
                          </a:solidFill>
                          <a:latin typeface="Arial"/>
                        </a:rPr>
                        <a:t>Phát biểu Yêu cầu Nguyên tử Đầy đủ ('PHẢI / SHALL' — Mục 4.2 SRS)</a:t>
                      </a:r>
                    </a:p>
                  </a:txBody>
                  <a:tcPr anchor="ctr" marT="19050" marB="19050" marL="50800" marR="50800">
                    <a:solidFill>
                      <a:srgbClr val="0E2841"/>
                    </a:solidFill>
                  </a:tcPr>
                </a:tc>
                <a:tc>
                  <a:txBody>
                    <a:bodyPr wrap="square"/>
                    <a:lstStyle/>
                    <a:p>
                      <a:pPr algn="ctr"/>
                      <a:r>
                        <a:rPr sz="969" b="1">
                          <a:solidFill>
                            <a:srgbClr val="FFFFFF"/>
                          </a:solidFill>
                          <a:latin typeface="Arial"/>
                        </a:rPr>
                        <a:t>Lý giải Kỹ thuật (Rationale — Đề x = 2)</a:t>
                      </a:r>
                    </a:p>
                  </a:txBody>
                  <a:tcPr anchor="ctr" marT="19050" marB="19050" marL="50800" marR="50800">
                    <a:solidFill>
                      <a:srgbClr val="0E2841"/>
                    </a:solidFill>
                  </a:tcPr>
                </a:tc>
                <a:tc>
                  <a:txBody>
                    <a:bodyPr wrap="square"/>
                    <a:lstStyle/>
                    <a:p>
                      <a:pPr algn="ctr"/>
                      <a:r>
                        <a:rPr sz="969" b="1">
                          <a:solidFill>
                            <a:srgbClr val="FFFFFF"/>
                          </a:solidFill>
                          <a:latin typeface="Arial"/>
                        </a:rPr>
                        <a:t>CTQ / CTS</a:t>
                      </a:r>
                    </a:p>
                  </a:txBody>
                  <a:tcPr anchor="ctr" marT="19050" marB="19050" marL="50800" marR="50800">
                    <a:solidFill>
                      <a:srgbClr val="0E2841"/>
                    </a:solidFill>
                  </a:tcPr>
                </a:tc>
                <a:tc>
                  <a:txBody>
                    <a:bodyPr wrap="square"/>
                    <a:lstStyle/>
                    <a:p>
                      <a:pPr algn="ctr"/>
                      <a:r>
                        <a:rPr sz="969" b="1">
                          <a:solidFill>
                            <a:srgbClr val="FFFFFF"/>
                          </a:solidFill>
                          <a:latin typeface="Arial"/>
                        </a:rPr>
                        <a:t>V&amp;V &amp; Chủ trì</a:t>
                      </a:r>
                    </a:p>
                  </a:txBody>
                  <a:tcPr anchor="ctr" marT="19050" marB="19050" marL="50800" marR="50800">
                    <a:solidFill>
                      <a:srgbClr val="0E2841"/>
                    </a:solidFill>
                  </a:tcPr>
                </a:tc>
              </a:tr>
              <a:tr h="624953">
                <a:tc>
                  <a:txBody>
                    <a:bodyPr wrap="square"/>
                    <a:lstStyle/>
                    <a:p>
                      <a:pPr algn="ctr"/>
                      <a:r>
                        <a:rPr sz="860" i="0" b="1">
                          <a:solidFill>
                            <a:srgbClr val="0E2841"/>
                          </a:solidFill>
                          <a:latin typeface="Arial"/>
                        </a:rPr>
                        <a:t>SRS-PERM-01</a:t>
                      </a:r>
                    </a:p>
                  </a:txBody>
                  <a:tcPr anchor="ctr" marT="19050" marB="19050" marL="50800" marR="50800">
                    <a:solidFill>
                      <a:srgbClr val="FEF9E7"/>
                    </a:solidFill>
                  </a:tcPr>
                </a:tc>
                <a:tc>
                  <a:txBody>
                    <a:bodyPr wrap="square"/>
                    <a:lstStyle/>
                    <a:p>
                      <a:pPr algn="l"/>
                      <a:r>
                        <a:rPr sz="860" i="0" b="1">
                          <a:solidFill>
                            <a:srgbClr val="1B1B1B"/>
                          </a:solidFill>
                          <a:latin typeface="Arial"/>
                        </a:rPr>
                        <a:t>Ở chế độ chạy chính (</a:t>
                      </a:r>
                      <a:r>
                        <a:rPr sz="860" i="0" b="1">
                          <a:solidFill>
                            <a:srgbClr val="0E2841"/>
                          </a:solidFill>
                          <a:latin typeface="Arial"/>
                        </a:rPr>
                        <a:t>v_max = 0.12 m/s</a:t>
                      </a:r>
                      <a:r>
                        <a:rPr sz="860" i="0" b="1">
                          <a:solidFill>
                            <a:srgbClr val="1B1B1B"/>
                          </a:solidFill>
                          <a:latin typeface="Arial"/>
                        </a:rPr>
                        <a:t>) với tải trọng bất kỳ từ </a:t>
                      </a:r>
                      <a:r>
                        <a:rPr sz="860" i="0" b="1">
                          <a:solidFill>
                            <a:srgbClr val="0E2841"/>
                          </a:solidFill>
                          <a:latin typeface="Arial"/>
                        </a:rPr>
                        <a:t>0 ÷ 12,222 kg</a:t>
                      </a:r>
                      <a:r>
                        <a:rPr sz="860" i="0" b="1">
                          <a:solidFill>
                            <a:srgbClr val="1B1B1B"/>
                          </a:solidFill>
                          <a:latin typeface="Arial"/>
                        </a:rPr>
                        <a:t>, hệ </a:t>
                      </a:r>
                      <a:r>
                        <a:rPr sz="860" i="0" b="1">
                          <a:solidFill>
                            <a:srgbClr val="0E2841"/>
                          </a:solidFill>
                          <a:latin typeface="Arial"/>
                        </a:rPr>
                        <a:t>PHẢI</a:t>
                      </a:r>
                      <a:r>
                        <a:rPr sz="860" i="0" b="1">
                          <a:solidFill>
                            <a:srgbClr val="1B1B1B"/>
                          </a:solidFill>
                          <a:latin typeface="Arial"/>
                        </a:rPr>
                        <a:t> đạt sai số tốc độ xác lập </a:t>
                      </a:r>
                      <a:r>
                        <a:rPr sz="860" i="0" b="1">
                          <a:solidFill>
                            <a:srgbClr val="0E2841"/>
                          </a:solidFill>
                          <a:latin typeface="Arial"/>
                        </a:rPr>
                        <a:t>e_xl ≤ 5.0%</a:t>
                      </a:r>
                      <a:r>
                        <a:rPr sz="860" i="0" b="1">
                          <a:solidFill>
                            <a:srgbClr val="1B1B1B"/>
                          </a:solidFill>
                          <a:latin typeface="Arial"/>
                        </a:rPr>
                        <a:t> (</a:t>
                      </a:r>
                      <a:r>
                        <a:rPr sz="860" i="0" b="1">
                          <a:solidFill>
                            <a:srgbClr val="0E2841"/>
                          </a:solidFill>
                          <a:latin typeface="Arial"/>
                        </a:rPr>
                        <a:t>0.114 ÷ 0.126 m/s</a:t>
                      </a:r>
                      <a:r>
                        <a:rPr sz="860" i="0" b="1">
                          <a:solidFill>
                            <a:srgbClr val="1B1B1B"/>
                          </a:solidFill>
                          <a:latin typeface="Arial"/>
                        </a:rPr>
                        <a:t>) và độ quá điều chỉnh </a:t>
                      </a:r>
                      <a:r>
                        <a:rPr sz="860" i="0" b="1">
                          <a:solidFill>
                            <a:srgbClr val="0E2841"/>
                          </a:solidFill>
                          <a:latin typeface="Arial"/>
                        </a:rPr>
                        <a:t>M_p ≤ 10.0%</a:t>
                      </a:r>
                      <a:r>
                        <a:rPr sz="860" i="0" b="1">
                          <a:solidFill>
                            <a:srgbClr val="1B1B1B"/>
                          </a:solidFill>
                          <a:latin typeface="Arial"/>
                        </a:rPr>
                        <a:t> (</a:t>
                      </a:r>
                      <a:r>
                        <a:rPr sz="860" i="0" b="1">
                          <a:solidFill>
                            <a:srgbClr val="0E2841"/>
                          </a:solidFill>
                          <a:latin typeface="Arial"/>
                        </a:rPr>
                        <a:t>v_peak ≤ 0.132 m/s</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Đảm bảo năng suất vận chuyển đồng đều và không vượt ngưỡng tốc độ an toàn khi tải thay đổi </a:t>
                      </a:r>
                      <a:r>
                        <a:rPr sz="860" i="0" b="1">
                          <a:solidFill>
                            <a:srgbClr val="0E2841"/>
                          </a:solidFill>
                          <a:latin typeface="Arial"/>
                        </a:rPr>
                        <a:t>7.04 lần</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0E2841"/>
                          </a:solidFill>
                          <a:latin typeface="Arial"/>
                        </a:rPr>
                        <a:t>CTQ-01</a:t>
                      </a:r>
                      <a:r>
                        <a:rPr sz="860" i="0" b="1">
                          <a:solidFill>
                            <a:srgbClr val="1B1B1B"/>
                          </a:solidFill>
                          <a:latin typeface="Arial"/>
                        </a:rPr>
                        <a:t>
</a:t>
                      </a:r>
                      <a:r>
                        <a:rPr sz="860" i="0" b="1">
                          <a:solidFill>
                            <a:srgbClr val="0E2841"/>
                          </a:solidFill>
                          <a:latin typeface="Arial"/>
                        </a:rPr>
                        <a:t>CTQ-02</a:t>
                      </a:r>
                    </a:p>
                  </a:txBody>
                  <a:tcPr anchor="ctr" marT="19050" marB="19050" marL="50800" marR="50800">
                    <a:solidFill>
                      <a:srgbClr val="FEF9E7"/>
                    </a:solidFill>
                  </a:tcPr>
                </a:tc>
                <a:tc>
                  <a:txBody>
                    <a:bodyPr wrap="square"/>
                    <a:lstStyle/>
                    <a:p>
                      <a:pPr algn="l"/>
                      <a:r>
                        <a:rPr sz="860" i="0" b="1">
                          <a:solidFill>
                            <a:srgbClr val="0E2841"/>
                          </a:solidFill>
                          <a:latin typeface="Arial"/>
                        </a:rPr>
                        <a:t>DVP-L0-08</a:t>
                      </a:r>
                      <a:r>
                        <a:rPr sz="860" i="0" b="1">
                          <a:solidFill>
                            <a:srgbClr val="1B1B1B"/>
                          </a:solidFill>
                          <a:latin typeface="Arial"/>
                        </a:rPr>
                        <a:t> (S)
</a:t>
                      </a:r>
                      <a:r>
                        <a:rPr sz="860" i="0" b="1">
                          <a:solidFill>
                            <a:srgbClr val="0E2841"/>
                          </a:solidFill>
                          <a:latin typeface="Arial"/>
                        </a:rPr>
                        <a:t>Control Lead</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SRS-PERM-02</a:t>
                      </a:r>
                    </a:p>
                  </a:txBody>
                  <a:tcPr anchor="ctr" marT="19050" marB="19050" marL="50800" marR="50800">
                    <a:solidFill>
                      <a:srgbClr val="F8F9FA"/>
                    </a:solidFill>
                  </a:tcPr>
                </a:tc>
                <a:tc>
                  <a:txBody>
                    <a:bodyPr wrap="square"/>
                    <a:lstStyle/>
                    <a:p>
                      <a:pPr algn="l"/>
                      <a:r>
                        <a:rPr sz="860" i="0" b="0">
                          <a:solidFill>
                            <a:srgbClr val="1B1B1B"/>
                          </a:solidFill>
                          <a:latin typeface="Arial"/>
                        </a:rPr>
                        <a:t>Hệ thống </a:t>
                      </a:r>
                      <a:r>
                        <a:rPr sz="860" i="0" b="1">
                          <a:solidFill>
                            <a:srgbClr val="0E2841"/>
                          </a:solidFill>
                          <a:latin typeface="Arial"/>
                        </a:rPr>
                        <a:t>PHẢI</a:t>
                      </a:r>
                      <a:r>
                        <a:rPr sz="860" i="0" b="0">
                          <a:solidFill>
                            <a:srgbClr val="1B1B1B"/>
                          </a:solidFill>
                          <a:latin typeface="Arial"/>
                        </a:rPr>
                        <a:t> vận hành ổn định tại cấp tốc độ bò </a:t>
                      </a:r>
                      <a:r>
                        <a:rPr sz="860" i="0" b="1">
                          <a:solidFill>
                            <a:srgbClr val="0E2841"/>
                          </a:solidFill>
                          <a:latin typeface="Arial"/>
                        </a:rPr>
                        <a:t>v_creep ∈ [0.030; 0.036] m/s</a:t>
                      </a:r>
                      <a:r>
                        <a:rPr sz="860" i="0" b="0">
                          <a:solidFill>
                            <a:srgbClr val="1B1B1B"/>
                          </a:solidFill>
                          <a:latin typeface="Arial"/>
                        </a:rPr>
                        <a:t> (</a:t>
                      </a:r>
                      <a:r>
                        <a:rPr sz="860" i="0" b="1">
                          <a:solidFill>
                            <a:srgbClr val="0E2841"/>
                          </a:solidFill>
                          <a:latin typeface="Arial"/>
                        </a:rPr>
                        <a:t>25%÷30% v_max</a:t>
                      </a:r>
                      <a:r>
                        <a:rPr sz="860" i="0" b="0">
                          <a:solidFill>
                            <a:srgbClr val="1B1B1B"/>
                          </a:solidFill>
                          <a:latin typeface="Arial"/>
                        </a:rPr>
                        <a:t>) với sai số xác lập </a:t>
                      </a:r>
                      <a:r>
                        <a:rPr sz="860" i="0" b="1">
                          <a:solidFill>
                            <a:srgbClr val="0E2841"/>
                          </a:solidFill>
                          <a:latin typeface="Arial"/>
                        </a:rPr>
                        <a:t>≤ ±5.0%</a:t>
                      </a:r>
                      <a:r>
                        <a:rPr sz="860" i="0" b="0">
                          <a:solidFill>
                            <a:srgbClr val="1B1B1B"/>
                          </a:solidFill>
                          <a:latin typeface="Arial"/>
                        </a:rPr>
                        <a:t>, đảm bảo dải điều chỉnh tốc độ tối thiểu </a:t>
                      </a:r>
                      <a:r>
                        <a:rPr sz="860" i="0" b="1">
                          <a:solidFill>
                            <a:srgbClr val="0E2841"/>
                          </a:solidFill>
                          <a:latin typeface="Arial"/>
                        </a:rPr>
                        <a:t>D = v_max/v_min ≥ 10:1</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Phục vụ định vị chính xác tải nặng </a:t>
                      </a:r>
                      <a:r>
                        <a:rPr sz="860" i="0" b="1">
                          <a:solidFill>
                            <a:srgbClr val="0E2841"/>
                          </a:solidFill>
                          <a:latin typeface="Arial"/>
                        </a:rPr>
                        <a:t>12.2 tấn</a:t>
                      </a:r>
                      <a:r>
                        <a:rPr sz="860" i="0" b="0">
                          <a:solidFill>
                            <a:srgbClr val="1B1B1B"/>
                          </a:solidFill>
                          <a:latin typeface="Arial"/>
                        </a:rPr>
                        <a:t> mà không xảy ra hiện tượng bò giật cục (Stick-Slip).</a:t>
                      </a:r>
                    </a:p>
                  </a:txBody>
                  <a:tcPr anchor="ctr" marT="19050" marB="19050" marL="50800" marR="50800">
                    <a:solidFill>
                      <a:srgbClr val="F8F9FA"/>
                    </a:solidFill>
                  </a:tcPr>
                </a:tc>
                <a:tc>
                  <a:txBody>
                    <a:bodyPr wrap="square"/>
                    <a:lstStyle/>
                    <a:p>
                      <a:pPr algn="l"/>
                      <a:r>
                        <a:rPr sz="860" i="0" b="1">
                          <a:solidFill>
                            <a:srgbClr val="0E2841"/>
                          </a:solidFill>
                          <a:latin typeface="Arial"/>
                        </a:rPr>
                        <a:t>CTQ-03</a:t>
                      </a:r>
                    </a:p>
                  </a:txBody>
                  <a:tcPr anchor="ctr" marT="19050" marB="19050" marL="50800" marR="50800">
                    <a:solidFill>
                      <a:srgbClr val="F8F9FA"/>
                    </a:solidFill>
                  </a:tcPr>
                </a:tc>
                <a:tc>
                  <a:txBody>
                    <a:bodyPr wrap="square"/>
                    <a:lstStyle/>
                    <a:p>
                      <a:pPr algn="l"/>
                      <a:r>
                        <a:rPr sz="860" i="0" b="1">
                          <a:solidFill>
                            <a:srgbClr val="0E2841"/>
                          </a:solidFill>
                          <a:latin typeface="Arial"/>
                        </a:rPr>
                        <a:t>DVP-L0-09</a:t>
                      </a:r>
                      <a:r>
                        <a:rPr sz="860" i="0" b="0">
                          <a:solidFill>
                            <a:srgbClr val="1B1B1B"/>
                          </a:solidFill>
                          <a:latin typeface="Arial"/>
                        </a:rPr>
                        <a:t> (S)
</a:t>
                      </a:r>
                      <a:r>
                        <a:rPr sz="860" i="0" b="1">
                          <a:solidFill>
                            <a:srgbClr val="0E2841"/>
                          </a:solidFill>
                          <a:latin typeface="Arial"/>
                        </a:rPr>
                        <a:t>Control Lead</a:t>
                      </a:r>
                    </a:p>
                  </a:txBody>
                  <a:tcPr anchor="ctr" marT="19050" marB="19050" marL="50800" marR="50800">
                    <a:solidFill>
                      <a:srgbClr val="F8F9FA"/>
                    </a:solidFill>
                  </a:tcPr>
                </a:tc>
              </a:tr>
              <a:tr h="624953">
                <a:tc>
                  <a:txBody>
                    <a:bodyPr wrap="square"/>
                    <a:lstStyle/>
                    <a:p>
                      <a:pPr algn="ctr"/>
                      <a:r>
                        <a:rPr sz="860" i="0" b="1">
                          <a:solidFill>
                            <a:srgbClr val="0E2841"/>
                          </a:solidFill>
                          <a:latin typeface="Arial"/>
                        </a:rPr>
                        <a:t>SRS-PERM-03</a:t>
                      </a:r>
                    </a:p>
                  </a:txBody>
                  <a:tcPr anchor="ctr" marT="19050" marB="19050" marL="50800" marR="50800">
                    <a:solidFill>
                      <a:srgbClr val="FDEDEC"/>
                    </a:solidFill>
                  </a:tcPr>
                </a:tc>
                <a:tc>
                  <a:txBody>
                    <a:bodyPr wrap="square"/>
                    <a:lstStyle/>
                    <a:p>
                      <a:pPr algn="l"/>
                      <a:r>
                        <a:rPr sz="860" i="0" b="1">
                          <a:solidFill>
                            <a:srgbClr val="1B1B1B"/>
                          </a:solidFill>
                          <a:latin typeface="Arial"/>
                        </a:rPr>
                        <a:t>Trong mọi quá trình quá độ, hệ </a:t>
                      </a:r>
                      <a:r>
                        <a:rPr sz="860" i="0" b="1">
                          <a:solidFill>
                            <a:srgbClr val="0E2841"/>
                          </a:solidFill>
                          <a:latin typeface="Arial"/>
                        </a:rPr>
                        <a:t>PHẢI</a:t>
                      </a:r>
                      <a:r>
                        <a:rPr sz="860" i="0" b="1">
                          <a:solidFill>
                            <a:srgbClr val="1B1B1B"/>
                          </a:solidFill>
                          <a:latin typeface="Arial"/>
                        </a:rPr>
                        <a:t> giới hạn gia tốc dài </a:t>
                      </a:r>
                      <a:r>
                        <a:rPr sz="860" i="0" b="1">
                          <a:solidFill>
                            <a:srgbClr val="0E2841"/>
                          </a:solidFill>
                          <a:latin typeface="Arial"/>
                        </a:rPr>
                        <a:t>|a(t)| ≤ 0.50 m/s²</a:t>
                      </a:r>
                      <a:r>
                        <a:rPr sz="860" i="0" b="1">
                          <a:solidFill>
                            <a:srgbClr val="1B1B1B"/>
                          </a:solidFill>
                          <a:latin typeface="Arial"/>
                        </a:rPr>
                        <a:t> và độ giật </a:t>
                      </a:r>
                      <a:r>
                        <a:rPr sz="860" i="0" b="1">
                          <a:solidFill>
                            <a:srgbClr val="0E2841"/>
                          </a:solidFill>
                          <a:latin typeface="Arial"/>
                        </a:rPr>
                        <a:t>|ρ(t)| ≤ 2.00 m/s³</a:t>
                      </a:r>
                      <a:r>
                        <a:rPr sz="860" i="0" b="1">
                          <a:solidFill>
                            <a:srgbClr val="1B1B1B"/>
                          </a:solidFill>
                          <a:latin typeface="Arial"/>
                        </a:rPr>
                        <a:t> (</a:t>
                      </a:r>
                      <a:r>
                        <a:rPr sz="860" i="0" b="1">
                          <a:solidFill>
                            <a:srgbClr val="0E2841"/>
                          </a:solidFill>
                          <a:latin typeface="Arial"/>
                        </a:rPr>
                        <a:t>t_j ≥ 0.25 s</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Bảo đảm hệ số an toàn chống trượt bánh xe </a:t>
                      </a:r>
                      <a:r>
                        <a:rPr sz="860" i="0" b="1">
                          <a:solidFill>
                            <a:srgbClr val="0E2841"/>
                          </a:solidFill>
                          <a:latin typeface="Arial"/>
                        </a:rPr>
                        <a:t>k_bám = μg/a_max = 3.92 &gt;&gt; 1</a:t>
                      </a:r>
                      <a:r>
                        <a:rPr sz="860" i="0" b="1">
                          <a:solidFill>
                            <a:srgbClr val="1B1B1B"/>
                          </a:solidFill>
                          <a:latin typeface="Arial"/>
                        </a:rPr>
                        <a:t> và góc lệch cáp tĩnh </a:t>
                      </a:r>
                      <a:r>
                        <a:rPr sz="860" i="0" b="1">
                          <a:solidFill>
                            <a:srgbClr val="0E2841"/>
                          </a:solidFill>
                          <a:latin typeface="Arial"/>
                        </a:rPr>
                        <a:t>θ_0 ≤ 2.92°</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0E2841"/>
                          </a:solidFill>
                          <a:latin typeface="Arial"/>
                        </a:rPr>
                        <a:t>CTQ-04, 05</a:t>
                      </a:r>
                      <a:r>
                        <a:rPr sz="860" i="0" b="1">
                          <a:solidFill>
                            <a:srgbClr val="1B1B1B"/>
                          </a:solidFill>
                          <a:latin typeface="Arial"/>
                        </a:rPr>
                        <a:t>
</a:t>
                      </a:r>
                      <a:r>
                        <a:rPr sz="860" i="0" b="1">
                          <a:solidFill>
                            <a:srgbClr val="C00000"/>
                          </a:solidFill>
                          <a:latin typeface="Arial"/>
                        </a:rPr>
                        <a:t>CTS-05</a:t>
                      </a:r>
                    </a:p>
                  </a:txBody>
                  <a:tcPr anchor="ctr" marT="19050" marB="19050" marL="50800" marR="50800">
                    <a:solidFill>
                      <a:srgbClr val="FDEDEC"/>
                    </a:solidFill>
                  </a:tcPr>
                </a:tc>
                <a:tc>
                  <a:txBody>
                    <a:bodyPr wrap="square"/>
                    <a:lstStyle/>
                    <a:p>
                      <a:pPr algn="l"/>
                      <a:r>
                        <a:rPr sz="860" i="0" b="1">
                          <a:solidFill>
                            <a:srgbClr val="0E2841"/>
                          </a:solidFill>
                          <a:latin typeface="Arial"/>
                        </a:rPr>
                        <a:t>DVP-L0-10</a:t>
                      </a:r>
                      <a:r>
                        <a:rPr sz="860" i="0" b="1">
                          <a:solidFill>
                            <a:srgbClr val="1B1B1B"/>
                          </a:solidFill>
                          <a:latin typeface="Arial"/>
                        </a:rPr>
                        <a:t> (A, S)
</a:t>
                      </a:r>
                      <a:r>
                        <a:rPr sz="860" i="0" b="1">
                          <a:solidFill>
                            <a:srgbClr val="0E2841"/>
                          </a:solidFill>
                          <a:latin typeface="Arial"/>
                        </a:rPr>
                        <a:t>Control + Mech</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SRS-PERM-04</a:t>
                      </a:r>
                    </a:p>
                  </a:txBody>
                  <a:tcPr anchor="ctr" marT="19050" marB="19050" marL="50800" marR="50800">
                    <a:solidFill>
                      <a:srgbClr val="FEF9E7"/>
                    </a:solidFill>
                  </a:tcPr>
                </a:tc>
                <a:tc>
                  <a:txBody>
                    <a:bodyPr wrap="square"/>
                    <a:lstStyle/>
                    <a:p>
                      <a:pPr algn="l"/>
                      <a:r>
                        <a:rPr sz="860" i="0" b="1">
                          <a:solidFill>
                            <a:srgbClr val="1B1B1B"/>
                          </a:solidFill>
                          <a:latin typeface="Arial"/>
                        </a:rPr>
                        <a:t>Ở chế độ làm việc lặp ngắn hạn </a:t>
                      </a:r>
                      <a:r>
                        <a:rPr sz="860" i="0" b="1">
                          <a:solidFill>
                            <a:srgbClr val="0E2841"/>
                          </a:solidFill>
                          <a:latin typeface="Arial"/>
                        </a:rPr>
                        <a:t>S3-40%</a:t>
                      </a:r>
                      <a:r>
                        <a:rPr sz="860" i="0" b="1">
                          <a:solidFill>
                            <a:srgbClr val="1B1B1B"/>
                          </a:solidFill>
                          <a:latin typeface="Arial"/>
                        </a:rPr>
                        <a:t> và nhiệt độ môi trường </a:t>
                      </a:r>
                      <a:r>
                        <a:rPr sz="860" i="0" b="1">
                          <a:solidFill>
                            <a:srgbClr val="0E2841"/>
                          </a:solidFill>
                          <a:latin typeface="Arial"/>
                        </a:rPr>
                        <a:t>40°C</a:t>
                      </a:r>
                      <a:r>
                        <a:rPr sz="860" i="0" b="1">
                          <a:solidFill>
                            <a:srgbClr val="1B1B1B"/>
                          </a:solidFill>
                          <a:latin typeface="Arial"/>
                        </a:rPr>
                        <a:t>, công suất định mức động cơ </a:t>
                      </a:r>
                      <a:r>
                        <a:rPr sz="860" i="0" b="1">
                          <a:solidFill>
                            <a:srgbClr val="0E2841"/>
                          </a:solidFill>
                          <a:latin typeface="Arial"/>
                        </a:rPr>
                        <a:t>PHẢI</a:t>
                      </a:r>
                      <a:r>
                        <a:rPr sz="860" i="0" b="1">
                          <a:solidFill>
                            <a:srgbClr val="1B1B1B"/>
                          </a:solidFill>
                          <a:latin typeface="Arial"/>
                        </a:rPr>
                        <a:t> thỏa mãn hệ số dự trữ nhiệt </a:t>
                      </a:r>
                      <a:r>
                        <a:rPr sz="860" i="0" b="1">
                          <a:solidFill>
                            <a:srgbClr val="0E2841"/>
                          </a:solidFill>
                          <a:latin typeface="Arial"/>
                        </a:rPr>
                        <a:t>k_dt = P_đm / P_eq,S340% ∈ [1.20; 1.50]</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Đủ khả năng chịu nhiệt dài hạn ở 40°C khi điện trở rô-to tăng 25%, đồng thời không chọn dư công suất gây lãng phí.</a:t>
                      </a:r>
                    </a:p>
                  </a:txBody>
                  <a:tcPr anchor="ctr" marT="19050" marB="19050" marL="50800" marR="50800">
                    <a:solidFill>
                      <a:srgbClr val="FEF9E7"/>
                    </a:solidFill>
                  </a:tcPr>
                </a:tc>
                <a:tc>
                  <a:txBody>
                    <a:bodyPr wrap="square"/>
                    <a:lstStyle/>
                    <a:p>
                      <a:pPr algn="l"/>
                      <a:r>
                        <a:rPr sz="860" i="0" b="1">
                          <a:solidFill>
                            <a:srgbClr val="0E2841"/>
                          </a:solidFill>
                          <a:latin typeface="Arial"/>
                        </a:rPr>
                        <a:t>CTQ-08</a:t>
                      </a:r>
                    </a:p>
                  </a:txBody>
                  <a:tcPr anchor="ctr" marT="19050" marB="19050" marL="50800" marR="50800">
                    <a:solidFill>
                      <a:srgbClr val="FEF9E7"/>
                    </a:solidFill>
                  </a:tcPr>
                </a:tc>
                <a:tc>
                  <a:txBody>
                    <a:bodyPr wrap="square"/>
                    <a:lstStyle/>
                    <a:p>
                      <a:pPr algn="l"/>
                      <a:r>
                        <a:rPr sz="860" i="0" b="1">
                          <a:solidFill>
                            <a:srgbClr val="0E2841"/>
                          </a:solidFill>
                          <a:latin typeface="Arial"/>
                        </a:rPr>
                        <a:t>DVP-L0-11</a:t>
                      </a:r>
                      <a:r>
                        <a:rPr sz="860" i="0" b="1">
                          <a:solidFill>
                            <a:srgbClr val="1B1B1B"/>
                          </a:solidFill>
                          <a:latin typeface="Arial"/>
                        </a:rPr>
                        <a:t> (A, S)
</a:t>
                      </a:r>
                      <a:r>
                        <a:rPr sz="860" i="0" b="1">
                          <a:solidFill>
                            <a:srgbClr val="0E2841"/>
                          </a:solidFill>
                          <a:latin typeface="Arial"/>
                        </a:rPr>
                        <a:t>Drive Lead</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SRS-PERM-05</a:t>
                      </a:r>
                    </a:p>
                  </a:txBody>
                  <a:tcPr anchor="ctr" marT="19050" marB="19050" marL="50800" marR="50800">
                    <a:solidFill>
                      <a:srgbClr val="FEF9E7"/>
                    </a:solidFill>
                  </a:tcPr>
                </a:tc>
                <a:tc>
                  <a:txBody>
                    <a:bodyPr wrap="square"/>
                    <a:lstStyle/>
                    <a:p>
                      <a:pPr algn="l"/>
                      <a:r>
                        <a:rPr sz="860" i="0" b="1">
                          <a:solidFill>
                            <a:srgbClr val="1B1B1B"/>
                          </a:solidFill>
                          <a:latin typeface="Arial"/>
                        </a:rPr>
                        <a:t>Tổ hợp Động cơ - Biến tần </a:t>
                      </a:r>
                      <a:r>
                        <a:rPr sz="860" i="0" b="1">
                          <a:solidFill>
                            <a:srgbClr val="0E2841"/>
                          </a:solidFill>
                          <a:latin typeface="Arial"/>
                        </a:rPr>
                        <a:t>PHẢI</a:t>
                      </a:r>
                      <a:r>
                        <a:rPr sz="860" i="0" b="1">
                          <a:solidFill>
                            <a:srgbClr val="1B1B1B"/>
                          </a:solidFill>
                          <a:latin typeface="Arial"/>
                        </a:rPr>
                        <a:t> có khả năng quá tải mô-men ngắn hạn </a:t>
                      </a:r>
                      <a:r>
                        <a:rPr sz="860" i="0" b="1">
                          <a:solidFill>
                            <a:srgbClr val="0E2841"/>
                          </a:solidFill>
                          <a:latin typeface="Arial"/>
                        </a:rPr>
                        <a:t>λ_max = M_max / M_đm ≥ 2.0</a:t>
                      </a:r>
                      <a:r>
                        <a:rPr sz="860" i="0" b="1">
                          <a:solidFill>
                            <a:srgbClr val="1B1B1B"/>
                          </a:solidFill>
                          <a:latin typeface="Arial"/>
                        </a:rPr>
                        <a:t>, lớn hơn ít nhất </a:t>
                      </a:r>
                      <a:r>
                        <a:rPr sz="860" i="0" b="1">
                          <a:solidFill>
                            <a:srgbClr val="0E2841"/>
                          </a:solidFill>
                          <a:latin typeface="Arial"/>
                        </a:rPr>
                        <a:t>1.25 lần</a:t>
                      </a:r>
                      <a:r>
                        <a:rPr sz="860" i="0" b="1">
                          <a:solidFill>
                            <a:srgbClr val="1B1B1B"/>
                          </a:solidFill>
                          <a:latin typeface="Arial"/>
                        </a:rPr>
                        <a:t> mô-men cực đại yêu cầu khi gia tốc đầy tải </a:t>
                      </a:r>
                      <a:r>
                        <a:rPr sz="860" i="0" b="1">
                          <a:solidFill>
                            <a:srgbClr val="0E2841"/>
                          </a:solidFill>
                          <a:latin typeface="Arial"/>
                        </a:rPr>
                        <a:t>14,244 kg</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Đảm bảo động cơ không bị lật tốc (Stall) khi vừa thắng lực cản tĩnh </a:t>
                      </a:r>
                      <a:r>
                        <a:rPr sz="860" i="0" b="1">
                          <a:solidFill>
                            <a:srgbClr val="0E2841"/>
                          </a:solidFill>
                          <a:latin typeface="Arial"/>
                        </a:rPr>
                        <a:t>27,947 N</a:t>
                      </a:r>
                      <a:r>
                        <a:rPr sz="860" i="0" b="1">
                          <a:solidFill>
                            <a:srgbClr val="1B1B1B"/>
                          </a:solidFill>
                          <a:latin typeface="Arial"/>
                        </a:rPr>
                        <a:t> vừa gia tốc và chịu lực kéo ngang của cáp.</a:t>
                      </a:r>
                    </a:p>
                  </a:txBody>
                  <a:tcPr anchor="ctr" marT="19050" marB="19050" marL="50800" marR="50800">
                    <a:solidFill>
                      <a:srgbClr val="FEF9E7"/>
                    </a:solidFill>
                  </a:tcPr>
                </a:tc>
                <a:tc>
                  <a:txBody>
                    <a:bodyPr wrap="square"/>
                    <a:lstStyle/>
                    <a:p>
                      <a:pPr algn="l"/>
                      <a:r>
                        <a:rPr sz="860" i="0" b="1">
                          <a:solidFill>
                            <a:srgbClr val="0E2841"/>
                          </a:solidFill>
                          <a:latin typeface="Arial"/>
                        </a:rPr>
                        <a:t>CTQ-08</a:t>
                      </a:r>
                    </a:p>
                  </a:txBody>
                  <a:tcPr anchor="ctr" marT="19050" marB="19050" marL="50800" marR="50800">
                    <a:solidFill>
                      <a:srgbClr val="FEF9E7"/>
                    </a:solidFill>
                  </a:tcPr>
                </a:tc>
                <a:tc>
                  <a:txBody>
                    <a:bodyPr wrap="square"/>
                    <a:lstStyle/>
                    <a:p>
                      <a:pPr algn="l"/>
                      <a:r>
                        <a:rPr sz="860" i="0" b="1">
                          <a:solidFill>
                            <a:srgbClr val="0E2841"/>
                          </a:solidFill>
                          <a:latin typeface="Arial"/>
                        </a:rPr>
                        <a:t>DVP-L0-12</a:t>
                      </a:r>
                      <a:r>
                        <a:rPr sz="860" i="0" b="1">
                          <a:solidFill>
                            <a:srgbClr val="1B1B1B"/>
                          </a:solidFill>
                          <a:latin typeface="Arial"/>
                        </a:rPr>
                        <a:t> (A, S)
</a:t>
                      </a:r>
                      <a:r>
                        <a:rPr sz="860" i="0" b="1">
                          <a:solidFill>
                            <a:srgbClr val="0E2841"/>
                          </a:solidFill>
                          <a:latin typeface="Arial"/>
                        </a:rPr>
                        <a:t>Drive + Mech</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SRS-PERM-06</a:t>
                      </a:r>
                    </a:p>
                  </a:txBody>
                  <a:tcPr anchor="ctr" marT="19050" marB="19050" marL="50800" marR="50800">
                    <a:solidFill>
                      <a:srgbClr val="F8F9FA"/>
                    </a:solidFill>
                  </a:tcPr>
                </a:tc>
                <a:tc>
                  <a:txBody>
                    <a:bodyPr wrap="square"/>
                    <a:lstStyle/>
                    <a:p>
                      <a:pPr algn="l"/>
                      <a:r>
                        <a:rPr sz="860" i="0" b="0">
                          <a:solidFill>
                            <a:srgbClr val="1B1B1B"/>
                          </a:solidFill>
                          <a:latin typeface="Arial"/>
                        </a:rPr>
                        <a:t>Khi điện áp lưới dao động trong dải </a:t>
                      </a:r>
                      <a:r>
                        <a:rPr sz="860" i="0" b="1">
                          <a:solidFill>
                            <a:srgbClr val="0E2841"/>
                          </a:solidFill>
                          <a:latin typeface="Arial"/>
                        </a:rPr>
                        <a:t>380 V ± 10% (342 V ÷ 418 V AC), 50 Hz ± 2%</a:t>
                      </a:r>
                      <a:r>
                        <a:rPr sz="860" i="0" b="0">
                          <a:solidFill>
                            <a:srgbClr val="1B1B1B"/>
                          </a:solidFill>
                          <a:latin typeface="Arial"/>
                        </a:rPr>
                        <a:t>, hệ thống </a:t>
                      </a:r>
                      <a:r>
                        <a:rPr sz="860" i="0" b="1">
                          <a:solidFill>
                            <a:srgbClr val="0E2841"/>
                          </a:solidFill>
                          <a:latin typeface="Arial"/>
                        </a:rPr>
                        <a:t>PHẢI</a:t>
                      </a:r>
                      <a:r>
                        <a:rPr sz="860" i="0" b="0">
                          <a:solidFill>
                            <a:srgbClr val="1B1B1B"/>
                          </a:solidFill>
                          <a:latin typeface="Arial"/>
                        </a:rPr>
                        <a:t> làm việc liên tục không cắt lỗi và giữ sai số tốc độ </a:t>
                      </a:r>
                      <a:r>
                        <a:rPr sz="860" i="0" b="1">
                          <a:solidFill>
                            <a:srgbClr val="0E2841"/>
                          </a:solidFill>
                          <a:latin typeface="Arial"/>
                        </a:rPr>
                        <a:t>e_xl ≤ 5.0%</a:t>
                      </a:r>
                      <a:r>
                        <a:rPr sz="860" i="0" b="0">
                          <a:solidFill>
                            <a:srgbClr val="1B1B1B"/>
                          </a:solidFill>
                          <a:latin typeface="Arial"/>
                        </a:rPr>
                        <a:t> tại mức áp thấp </a:t>
                      </a:r>
                      <a:r>
                        <a:rPr sz="860" i="0" b="1">
                          <a:solidFill>
                            <a:srgbClr val="0E2841"/>
                          </a:solidFill>
                          <a:latin typeface="Arial"/>
                        </a:rPr>
                        <a:t>342 V AC</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Lưới điện nhà máy công nghiệp nặng thường xuyên sụt áp khi các cơ cấu nâng hạ công suất lớn khởi động đồng thời.</a:t>
                      </a:r>
                    </a:p>
                  </a:txBody>
                  <a:tcPr anchor="ctr" marT="19050" marB="19050" marL="50800" marR="50800">
                    <a:solidFill>
                      <a:srgbClr val="F8F9FA"/>
                    </a:solidFill>
                  </a:tcPr>
                </a:tc>
                <a:tc>
                  <a:txBody>
                    <a:bodyPr wrap="square"/>
                    <a:lstStyle/>
                    <a:p>
                      <a:pPr algn="l"/>
                      <a:r>
                        <a:rPr sz="860" i="0" b="1">
                          <a:solidFill>
                            <a:srgbClr val="0E2841"/>
                          </a:solidFill>
                          <a:latin typeface="Arial"/>
                        </a:rPr>
                        <a:t>CTQ-01</a:t>
                      </a:r>
                      <a:r>
                        <a:rPr sz="860" i="0" b="0">
                          <a:solidFill>
                            <a:srgbClr val="1B1B1B"/>
                          </a:solidFill>
                          <a:latin typeface="Arial"/>
                        </a:rPr>
                        <a:t>
(bền vững)</a:t>
                      </a:r>
                    </a:p>
                  </a:txBody>
                  <a:tcPr anchor="ctr" marT="19050" marB="19050" marL="50800" marR="50800">
                    <a:solidFill>
                      <a:srgbClr val="F8F9FA"/>
                    </a:solidFill>
                  </a:tcPr>
                </a:tc>
                <a:tc>
                  <a:txBody>
                    <a:bodyPr wrap="square"/>
                    <a:lstStyle/>
                    <a:p>
                      <a:pPr algn="l"/>
                      <a:r>
                        <a:rPr sz="860" i="0" b="1">
                          <a:solidFill>
                            <a:srgbClr val="0E2841"/>
                          </a:solidFill>
                          <a:latin typeface="Arial"/>
                        </a:rPr>
                        <a:t>DVP-L0-13</a:t>
                      </a:r>
                      <a:r>
                        <a:rPr sz="860" i="0" b="0">
                          <a:solidFill>
                            <a:srgbClr val="1B1B1B"/>
                          </a:solidFill>
                          <a:latin typeface="Arial"/>
                        </a:rPr>
                        <a:t> (A, S)
</a:t>
                      </a:r>
                      <a:r>
                        <a:rPr sz="860" i="0" b="1">
                          <a:solidFill>
                            <a:srgbClr val="0E2841"/>
                          </a:solidFill>
                          <a:latin typeface="Arial"/>
                        </a:rPr>
                        <a:t>Drive Lead</a:t>
                      </a:r>
                    </a:p>
                  </a:txBody>
                  <a:tcPr anchor="ctr" marT="19050" marB="19050" marL="50800" marR="50800">
                    <a:solidFill>
                      <a:srgbClr val="F8F9FA"/>
                    </a:solidFill>
                  </a:tcPr>
                </a:tc>
              </a:tr>
              <a:tr h="624953">
                <a:tc>
                  <a:txBody>
                    <a:bodyPr wrap="square"/>
                    <a:lstStyle/>
                    <a:p>
                      <a:pPr algn="ctr"/>
                      <a:r>
                        <a:rPr sz="860" i="0" b="1">
                          <a:solidFill>
                            <a:srgbClr val="0E2841"/>
                          </a:solidFill>
                          <a:latin typeface="Arial"/>
                        </a:rPr>
                        <a:t>SRS-PERM-07</a:t>
                      </a:r>
                    </a:p>
                  </a:txBody>
                  <a:tcPr anchor="ctr" marT="19050" marB="19050" marL="50800" marR="50800">
                    <a:solidFill>
                      <a:srgbClr val="FFFFFF"/>
                    </a:solidFill>
                  </a:tcPr>
                </a:tc>
                <a:tc>
                  <a:txBody>
                    <a:bodyPr wrap="square"/>
                    <a:lstStyle/>
                    <a:p>
                      <a:pPr algn="l"/>
                      <a:r>
                        <a:rPr sz="860" i="0" b="0">
                          <a:solidFill>
                            <a:srgbClr val="1B1B1B"/>
                          </a:solidFill>
                          <a:latin typeface="Arial"/>
                        </a:rPr>
                        <a:t>Chuỗi truyền động cơ khí </a:t>
                      </a:r>
                      <a:r>
                        <a:rPr sz="860" i="0" b="1">
                          <a:solidFill>
                            <a:srgbClr val="0E2841"/>
                          </a:solidFill>
                          <a:latin typeface="Arial"/>
                        </a:rPr>
                        <a:t>PHẢI</a:t>
                      </a:r>
                      <a:r>
                        <a:rPr sz="860" i="0" b="0">
                          <a:solidFill>
                            <a:srgbClr val="1B1B1B"/>
                          </a:solidFill>
                          <a:latin typeface="Arial"/>
                        </a:rPr>
                        <a:t> tương thích với bánh xe </a:t>
                      </a:r>
                      <a:r>
                        <a:rPr sz="860" i="0" b="1">
                          <a:solidFill>
                            <a:srgbClr val="0E2841"/>
                          </a:solidFill>
                          <a:latin typeface="Arial"/>
                        </a:rPr>
                        <a:t>d = 0.25 m</a:t>
                      </a:r>
                      <a:r>
                        <a:rPr sz="860" i="0" b="0">
                          <a:solidFill>
                            <a:srgbClr val="1B1B1B"/>
                          </a:solidFill>
                          <a:latin typeface="Arial"/>
                        </a:rPr>
                        <a:t> (</a:t>
                      </a:r>
                      <a:r>
                        <a:rPr sz="860" i="0" b="1">
                          <a:solidFill>
                            <a:srgbClr val="0E2841"/>
                          </a:solidFill>
                          <a:latin typeface="Arial"/>
                        </a:rPr>
                        <a:t>ω_bx = 0.96 rad/s ≈ 9.17 rpm</a:t>
                      </a:r>
                      <a:r>
                        <a:rPr sz="860" i="0" b="0">
                          <a:solidFill>
                            <a:srgbClr val="1B1B1B"/>
                          </a:solidFill>
                          <a:latin typeface="Arial"/>
                        </a:rPr>
                        <a:t> tại </a:t>
                      </a:r>
                      <a:r>
                        <a:rPr sz="860" i="0" b="1">
                          <a:solidFill>
                            <a:srgbClr val="0E2841"/>
                          </a:solidFill>
                          <a:latin typeface="Arial"/>
                        </a:rPr>
                        <a:t>0.12 m/s</a:t>
                      </a:r>
                      <a:r>
                        <a:rPr sz="860" i="0" b="0">
                          <a:solidFill>
                            <a:srgbClr val="1B1B1B"/>
                          </a:solidFill>
                          <a:latin typeface="Arial"/>
                        </a:rPr>
                        <a:t>), hiệu suất </a:t>
                      </a:r>
                      <a:r>
                        <a:rPr sz="860" i="0" b="1">
                          <a:solidFill>
                            <a:srgbClr val="0E2841"/>
                          </a:solidFill>
                          <a:latin typeface="Arial"/>
                        </a:rPr>
                        <a:t>η = 0.96</a:t>
                      </a:r>
                      <a:r>
                        <a:rPr sz="860" i="0" b="0">
                          <a:solidFill>
                            <a:srgbClr val="1B1B1B"/>
                          </a:solidFill>
                          <a:latin typeface="Arial"/>
                        </a:rPr>
                        <a:t> và tổng khối lượng dịch chuyển </a:t>
                      </a:r>
                      <a:r>
                        <a:rPr sz="860" i="0" b="1">
                          <a:solidFill>
                            <a:srgbClr val="0E2841"/>
                          </a:solidFill>
                          <a:latin typeface="Arial"/>
                        </a:rPr>
                        <a:t>2,022 ÷ 14,244 kg</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Khóa chặt giao diện cơ học đầu ra làm cơ sở tính chọn tỷ số truyền hộp giảm tốc và mô-men quy đổi về trục động cơ.</a:t>
                      </a:r>
                    </a:p>
                  </a:txBody>
                  <a:tcPr anchor="ctr" marT="19050" marB="19050" marL="50800" marR="50800">
                    <a:solidFill>
                      <a:srgbClr val="FFFFFF"/>
                    </a:solidFill>
                  </a:tcPr>
                </a:tc>
                <a:tc>
                  <a:txBody>
                    <a:bodyPr wrap="square"/>
                    <a:lstStyle/>
                    <a:p>
                      <a:pPr algn="l"/>
                      <a:r>
                        <a:rPr sz="860" i="0" b="1">
                          <a:solidFill>
                            <a:srgbClr val="0E2841"/>
                          </a:solidFill>
                          <a:latin typeface="Arial"/>
                        </a:rPr>
                        <a:t>CTQ-08</a:t>
                      </a:r>
                    </a:p>
                  </a:txBody>
                  <a:tcPr anchor="ctr" marT="19050" marB="19050" marL="50800" marR="50800">
                    <a:solidFill>
                      <a:srgbClr val="FFFFFF"/>
                    </a:solidFill>
                  </a:tcPr>
                </a:tc>
                <a:tc>
                  <a:txBody>
                    <a:bodyPr wrap="square"/>
                    <a:lstStyle/>
                    <a:p>
                      <a:pPr algn="l"/>
                      <a:r>
                        <a:rPr sz="860" i="0" b="1">
                          <a:solidFill>
                            <a:srgbClr val="0E2841"/>
                          </a:solidFill>
                          <a:latin typeface="Arial"/>
                        </a:rPr>
                        <a:t>DVP-L0-14</a:t>
                      </a:r>
                      <a:r>
                        <a:rPr sz="860" i="0" b="0">
                          <a:solidFill>
                            <a:srgbClr val="1B1B1B"/>
                          </a:solidFill>
                          <a:latin typeface="Arial"/>
                        </a:rPr>
                        <a:t> (A, I)
</a:t>
                      </a:r>
                      <a:r>
                        <a:rPr sz="860" i="0" b="1">
                          <a:solidFill>
                            <a:srgbClr val="0E2841"/>
                          </a:solidFill>
                          <a:latin typeface="Arial"/>
                        </a:rPr>
                        <a:t>Mech Lead</a:t>
                      </a:r>
                    </a:p>
                  </a:txBody>
                  <a:tcPr anchor="ctr" marT="19050" marB="19050" marL="50800" marR="50800">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B1-3] GIẢI TRÌNH 11 YÊU CẦU NGOÀI PHẠM VI (OUT-OF-SCOPE PRD)</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Minh bạch hóa lý do loại trừ </a:t>
            </a:r>
            <a:r>
              <a:rPr sz="1350" i="0" b="1">
                <a:solidFill>
                  <a:srgbClr val="0E2841"/>
                </a:solidFill>
                <a:latin typeface="Arial"/>
              </a:rPr>
              <a:t>11 hạng mục PRD phụ trợ</a:t>
            </a:r>
            <a:r>
              <a:rPr sz="1350" i="0" b="1">
                <a:solidFill>
                  <a:srgbClr val="C00000"/>
                </a:solidFill>
                <a:latin typeface="Arial"/>
              </a:rPr>
              <a:t> khỏi phạm vi đồ án môn học (Mục 3.3 báo cáo SRS)</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B1-3 — 11 Out-of-Scope PRD Justification | Backup B1-3 (19/23)</a:t>
            </a:r>
          </a:p>
        </p:txBody>
      </p:sp>
      <p:graphicFrame>
        <p:nvGraphicFramePr>
          <p:cNvPr id="5" name="Table 4"/>
          <p:cNvGraphicFramePr>
            <a:graphicFrameLocks noGrp="1"/>
          </p:cNvGraphicFramePr>
          <p:nvPr/>
        </p:nvGraphicFramePr>
        <p:xfrm>
          <a:off x="310896" y="1234440"/>
          <a:ext cx="11567160" cy="4667280"/>
        </p:xfrm>
        <a:graphic>
          <a:graphicData uri="http://schemas.openxmlformats.org/drawingml/2006/table">
            <a:tbl>
              <a:tblPr firstRow="1" bandRow="1">
                <a:tableStyleId>{5C22544A-7EE6-4342-B048-85BDC9FD1C3A}</a:tableStyleId>
              </a:tblPr>
              <a:tblGrid>
                <a:gridCol w="1965960"/>
                <a:gridCol w="1600200"/>
                <a:gridCol w="3794760"/>
                <a:gridCol w="4206240"/>
              </a:tblGrid>
              <a:tr h="292608">
                <a:tc>
                  <a:txBody>
                    <a:bodyPr wrap="square"/>
                    <a:lstStyle/>
                    <a:p>
                      <a:pPr algn="ctr"/>
                      <a:r>
                        <a:rPr sz="1000" b="1">
                          <a:solidFill>
                            <a:srgbClr val="FFFFFF"/>
                          </a:solidFill>
                          <a:latin typeface="Arial"/>
                        </a:rPr>
                        <a:t>Nhóm Danh mục</a:t>
                      </a:r>
                    </a:p>
                  </a:txBody>
                  <a:tcPr anchor="ctr" marT="19050" marB="19050" marL="50800" marR="50800">
                    <a:solidFill>
                      <a:srgbClr val="0E2841"/>
                    </a:solidFill>
                  </a:tcPr>
                </a:tc>
                <a:tc>
                  <a:txBody>
                    <a:bodyPr wrap="square"/>
                    <a:lstStyle/>
                    <a:p>
                      <a:pPr algn="ctr"/>
                      <a:r>
                        <a:rPr sz="1000" b="1">
                          <a:solidFill>
                            <a:srgbClr val="FFFFFF"/>
                          </a:solidFill>
                          <a:latin typeface="Arial"/>
                        </a:rPr>
                        <a:t>Mã PRD Ngoài phạm vi</a:t>
                      </a:r>
                    </a:p>
                  </a:txBody>
                  <a:tcPr anchor="ctr" marT="19050" marB="19050" marL="50800" marR="50800">
                    <a:solidFill>
                      <a:srgbClr val="0E2841"/>
                    </a:solidFill>
                  </a:tcPr>
                </a:tc>
                <a:tc>
                  <a:txBody>
                    <a:bodyPr wrap="square"/>
                    <a:lstStyle/>
                    <a:p>
                      <a:pPr algn="ctr"/>
                      <a:r>
                        <a:rPr sz="1000" b="1">
                          <a:solidFill>
                            <a:srgbClr val="FFFFFF"/>
                          </a:solidFill>
                          <a:latin typeface="Arial"/>
                        </a:rPr>
                        <a:t>Nội dung Hạng mục trong Thực tế Công nghiệp</a:t>
                      </a:r>
                    </a:p>
                  </a:txBody>
                  <a:tcPr anchor="ctr" marT="19050" marB="19050" marL="50800" marR="50800">
                    <a:solidFill>
                      <a:srgbClr val="0E2841"/>
                    </a:solidFill>
                  </a:tcPr>
                </a:tc>
                <a:tc>
                  <a:txBody>
                    <a:bodyPr wrap="square"/>
                    <a:lstStyle/>
                    <a:p>
                      <a:pPr algn="ctr"/>
                      <a:r>
                        <a:rPr sz="1000" b="1">
                          <a:solidFill>
                            <a:srgbClr val="FFFFFF"/>
                          </a:solidFill>
                          <a:latin typeface="Arial"/>
                        </a:rPr>
                        <a:t>Lý do Loại trừ khỏi Phạm vi Đồ án Mô phỏng &amp; Cách Xử lý Biên</a:t>
                      </a:r>
                    </a:p>
                  </a:txBody>
                  <a:tcPr anchor="ctr" marT="19050" marB="19050" marL="50800" marR="50800">
                    <a:solidFill>
                      <a:srgbClr val="0E2841"/>
                    </a:solidFill>
                  </a:tcPr>
                </a:tc>
              </a:tr>
              <a:tr h="1093668">
                <a:tc>
                  <a:txBody>
                    <a:bodyPr wrap="square"/>
                    <a:lstStyle/>
                    <a:p>
                      <a:pPr algn="ctr"/>
                      <a:r>
                        <a:rPr sz="890" i="0" b="1">
                          <a:solidFill>
                            <a:srgbClr val="0E2841"/>
                          </a:solidFill>
                          <a:latin typeface="Arial"/>
                        </a:rPr>
                        <a:t>1. An toàn Phần cứng</a:t>
                      </a:r>
                      <a:r>
                        <a:rPr sz="890" i="0" b="1">
                          <a:solidFill>
                            <a:srgbClr val="C00000"/>
                          </a:solidFill>
                          <a:latin typeface="Arial"/>
                        </a:rPr>
                        <a:t>
(Hardware Safety)</a:t>
                      </a:r>
                    </a:p>
                  </a:txBody>
                  <a:tcPr anchor="ctr" marT="19050" marB="19050" marL="50800" marR="50800">
                    <a:solidFill>
                      <a:srgbClr val="FDEDEC"/>
                    </a:solidFill>
                  </a:tcPr>
                </a:tc>
                <a:tc>
                  <a:txBody>
                    <a:bodyPr wrap="square"/>
                    <a:lstStyle/>
                    <a:p>
                      <a:pPr algn="l"/>
                      <a:r>
                        <a:rPr sz="890" i="0" b="1">
                          <a:solidFill>
                            <a:srgbClr val="0E2841"/>
                          </a:solidFill>
                          <a:latin typeface="Arial"/>
                        </a:rPr>
                        <a:t>PRD-SAFE-01</a:t>
                      </a:r>
                      <a:r>
                        <a:rPr sz="890" i="0" b="1">
                          <a:solidFill>
                            <a:srgbClr val="1B1B1B"/>
                          </a:solidFill>
                          <a:latin typeface="Arial"/>
                        </a:rPr>
                        <a:t>
</a:t>
                      </a:r>
                      <a:r>
                        <a:rPr sz="890" i="0" b="1">
                          <a:solidFill>
                            <a:srgbClr val="0E2841"/>
                          </a:solidFill>
                          <a:latin typeface="Arial"/>
                        </a:rPr>
                        <a:t>PRD-SAFE-02</a:t>
                      </a:r>
                      <a:r>
                        <a:rPr sz="890" i="0" b="1">
                          <a:solidFill>
                            <a:srgbClr val="1B1B1B"/>
                          </a:solidFill>
                          <a:latin typeface="Arial"/>
                        </a:rPr>
                        <a:t>
</a:t>
                      </a:r>
                      <a:r>
                        <a:rPr sz="890" i="0" b="1">
                          <a:solidFill>
                            <a:srgbClr val="0E2841"/>
                          </a:solidFill>
                          <a:latin typeface="Arial"/>
                        </a:rPr>
                        <a:t>PRD-SAFE-03</a:t>
                      </a:r>
                      <a:r>
                        <a:rPr sz="890" i="0" b="1">
                          <a:solidFill>
                            <a:srgbClr val="1B1B1B"/>
                          </a:solidFill>
                          <a:latin typeface="Arial"/>
                        </a:rPr>
                        <a:t>
</a:t>
                      </a:r>
                      <a:r>
                        <a:rPr sz="890" i="0" b="1">
                          <a:solidFill>
                            <a:srgbClr val="0E2841"/>
                          </a:solidFill>
                          <a:latin typeface="Arial"/>
                        </a:rPr>
                        <a:t>PRD-SAFE-04</a:t>
                      </a:r>
                    </a:p>
                  </a:txBody>
                  <a:tcPr anchor="ctr" marT="19050" marB="19050" marL="50800" marR="50800">
                    <a:solidFill>
                      <a:srgbClr val="FDEDEC"/>
                    </a:solidFill>
                  </a:tcPr>
                </a:tc>
                <a:tc>
                  <a:txBody>
                    <a:bodyPr wrap="square"/>
                    <a:lstStyle/>
                    <a:p>
                      <a:pPr algn="l"/>
                      <a:r>
                        <a:rPr sz="890" i="0" b="1">
                          <a:solidFill>
                            <a:srgbClr val="1B1B1B"/>
                          </a:solidFill>
                          <a:latin typeface="Arial"/>
                        </a:rPr>
                        <a:t>• Công tắc hành trình giới hạn đầu dầm &amp; giảm chấn cao su.
• Rơ-le an toàn phần cứng (Safety Relay SIL2/PLd) cắt nguồn.
• Bảo vệ ngắn mạch bằng Aptomat (MCCB) &amp; cầu chì tác động nhanh.
• Cảm biến cân tải quá tải cơ khí đặt trên móc treo.</a:t>
                      </a:r>
                    </a:p>
                  </a:txBody>
                  <a:tcPr anchor="ctr" marT="19050" marB="19050" marL="50800" marR="50800">
                    <a:solidFill>
                      <a:srgbClr val="FDEDEC"/>
                    </a:solidFill>
                  </a:tcPr>
                </a:tc>
                <a:tc>
                  <a:txBody>
                    <a:bodyPr wrap="square"/>
                    <a:lstStyle/>
                    <a:p>
                      <a:pPr algn="l"/>
                      <a:r>
                        <a:rPr sz="890" i="0" b="1">
                          <a:solidFill>
                            <a:srgbClr val="1B1B1B"/>
                          </a:solidFill>
                          <a:latin typeface="Arial"/>
                        </a:rPr>
                        <a:t>• Thuộc bài toán </a:t>
                      </a:r>
                      <a:r>
                        <a:rPr sz="890" i="0" b="1">
                          <a:solidFill>
                            <a:srgbClr val="0E2841"/>
                          </a:solidFill>
                          <a:latin typeface="Arial"/>
                        </a:rPr>
                        <a:t>thiết kế tủ điện hạ thế &amp; trang bị điện công nghiệp</a:t>
                      </a:r>
                      <a:r>
                        <a:rPr sz="890" i="0" b="1">
                          <a:solidFill>
                            <a:srgbClr val="1B1B1B"/>
                          </a:solidFill>
                          <a:latin typeface="Arial"/>
                        </a:rPr>
                        <a:t>, không nằm trong phương trình vi phân hệ truyền động.
• Phần </a:t>
                      </a:r>
                      <a:r>
                        <a:rPr sz="890" i="0" b="1">
                          <a:solidFill>
                            <a:srgbClr val="0E2841"/>
                          </a:solidFill>
                          <a:latin typeface="Arial"/>
                        </a:rPr>
                        <a:t>bảo vệ động lực học tương ứng đã được giữ lại trong phạm vi</a:t>
                      </a:r>
                      <a:r>
                        <a:rPr sz="890" i="0" b="1">
                          <a:solidFill>
                            <a:srgbClr val="1B1B1B"/>
                          </a:solidFill>
                          <a:latin typeface="Arial"/>
                        </a:rPr>
                        <a:t> qua </a:t>
                      </a:r>
                      <a:r>
                        <a:rPr sz="890" i="0" b="1">
                          <a:solidFill>
                            <a:srgbClr val="C00000"/>
                          </a:solidFill>
                          <a:latin typeface="Arial"/>
                        </a:rPr>
                        <a:t>CTS-01..05</a:t>
                      </a:r>
                      <a:r>
                        <a:rPr sz="890" i="0" b="1">
                          <a:solidFill>
                            <a:srgbClr val="1B1B1B"/>
                          </a:solidFill>
                          <a:latin typeface="Arial"/>
                        </a:rPr>
                        <a:t> (</a:t>
                      </a:r>
                      <a:r>
                        <a:rPr sz="890" i="0" b="1">
                          <a:solidFill>
                            <a:srgbClr val="0E2841"/>
                          </a:solidFill>
                          <a:latin typeface="Arial"/>
                        </a:rPr>
                        <a:t>SRS-FUNC-01, 03, 04, 06</a:t>
                      </a:r>
                      <a:r>
                        <a:rPr sz="890" i="0" b="1">
                          <a:solidFill>
                            <a:srgbClr val="1B1B1B"/>
                          </a:solidFill>
                          <a:latin typeface="Arial"/>
                        </a:rPr>
                        <a:t>).</a:t>
                      </a:r>
                    </a:p>
                  </a:txBody>
                  <a:tcPr anchor="ctr" marT="19050" marB="19050" marL="50800" marR="50800">
                    <a:solidFill>
                      <a:srgbClr val="FDEDEC"/>
                    </a:solidFill>
                  </a:tcPr>
                </a:tc>
              </a:tr>
              <a:tr h="1093668">
                <a:tc>
                  <a:txBody>
                    <a:bodyPr wrap="square"/>
                    <a:lstStyle/>
                    <a:p>
                      <a:pPr algn="ctr"/>
                      <a:r>
                        <a:rPr sz="890" i="0" b="1">
                          <a:solidFill>
                            <a:srgbClr val="0E2841"/>
                          </a:solidFill>
                          <a:latin typeface="Arial"/>
                        </a:rPr>
                        <a:t>2. Giao diện Tủ bảng</a:t>
                      </a:r>
                      <a:r>
                        <a:rPr sz="890" i="0" b="1">
                          <a:solidFill>
                            <a:srgbClr val="0E2841"/>
                          </a:solidFill>
                          <a:latin typeface="Arial"/>
                        </a:rPr>
                        <a:t>
(Industrial Interfaces)</a:t>
                      </a:r>
                    </a:p>
                  </a:txBody>
                  <a:tcPr anchor="ctr" marT="19050" marB="19050" marL="50800" marR="50800">
                    <a:solidFill>
                      <a:srgbClr val="F8F9FA"/>
                    </a:solidFill>
                  </a:tcPr>
                </a:tc>
                <a:tc>
                  <a:txBody>
                    <a:bodyPr wrap="square"/>
                    <a:lstStyle/>
                    <a:p>
                      <a:pPr algn="l"/>
                      <a:r>
                        <a:rPr sz="890" i="0" b="1">
                          <a:solidFill>
                            <a:srgbClr val="0E2841"/>
                          </a:solidFill>
                          <a:latin typeface="Arial"/>
                        </a:rPr>
                        <a:t>PRD-INTF-01</a:t>
                      </a:r>
                      <a:r>
                        <a:rPr sz="890" i="0" b="0">
                          <a:solidFill>
                            <a:srgbClr val="1B1B1B"/>
                          </a:solidFill>
                          <a:latin typeface="Arial"/>
                        </a:rPr>
                        <a:t>
</a:t>
                      </a:r>
                      <a:r>
                        <a:rPr sz="890" i="0" b="1">
                          <a:solidFill>
                            <a:srgbClr val="0E2841"/>
                          </a:solidFill>
                          <a:latin typeface="Arial"/>
                        </a:rPr>
                        <a:t>PRD-INTF-02</a:t>
                      </a:r>
                      <a:r>
                        <a:rPr sz="890" i="0" b="0">
                          <a:solidFill>
                            <a:srgbClr val="1B1B1B"/>
                          </a:solidFill>
                          <a:latin typeface="Arial"/>
                        </a:rPr>
                        <a:t>
</a:t>
                      </a:r>
                      <a:r>
                        <a:rPr sz="890" i="0" b="1">
                          <a:solidFill>
                            <a:srgbClr val="0E2841"/>
                          </a:solidFill>
                          <a:latin typeface="Arial"/>
                        </a:rPr>
                        <a:t>PRD-INTF-03</a:t>
                      </a:r>
                    </a:p>
                  </a:txBody>
                  <a:tcPr anchor="ctr" marT="19050" marB="19050" marL="50800" marR="50800">
                    <a:solidFill>
                      <a:srgbClr val="F8F9FA"/>
                    </a:solidFill>
                  </a:tcPr>
                </a:tc>
                <a:tc>
                  <a:txBody>
                    <a:bodyPr wrap="square"/>
                    <a:lstStyle/>
                    <a:p>
                      <a:pPr algn="l"/>
                      <a:r>
                        <a:rPr sz="890" i="0" b="0">
                          <a:solidFill>
                            <a:srgbClr val="1B1B1B"/>
                          </a:solidFill>
                          <a:latin typeface="Arial"/>
                        </a:rPr>
                        <a:t>• Giao thức truyền thông công nghiệp (PROFINET / Modbus TCP).
• Sơ đồ đấu nối cầu đấu dây (Terminal Block) và cáp động lực.
• Đèn báo trạng thái, còi cảnh báo và màn hình HMI tại cabin.</a:t>
                      </a:r>
                    </a:p>
                  </a:txBody>
                  <a:tcPr anchor="ctr" marT="19050" marB="19050" marL="50800" marR="50800">
                    <a:solidFill>
                      <a:srgbClr val="F8F9FA"/>
                    </a:solidFill>
                  </a:tcPr>
                </a:tc>
                <a:tc>
                  <a:txBody>
                    <a:bodyPr wrap="square"/>
                    <a:lstStyle/>
                    <a:p>
                      <a:pPr algn="l"/>
                      <a:r>
                        <a:rPr sz="890" i="0" b="0">
                          <a:solidFill>
                            <a:srgbClr val="1B1B1B"/>
                          </a:solidFill>
                          <a:latin typeface="Arial"/>
                        </a:rPr>
                        <a:t>• Trong mô hình </a:t>
                      </a:r>
                      <a:r>
                        <a:rPr sz="890" i="0" b="1">
                          <a:solidFill>
                            <a:srgbClr val="0E2841"/>
                          </a:solidFill>
                          <a:latin typeface="Arial"/>
                        </a:rPr>
                        <a:t>Simulink</a:t>
                      </a:r>
                      <a:r>
                        <a:rPr sz="890" i="0" b="0">
                          <a:solidFill>
                            <a:srgbClr val="1B1B1B"/>
                          </a:solidFill>
                          <a:latin typeface="Arial"/>
                        </a:rPr>
                        <a:t>, giao diện lệnh được đại diện bởi </a:t>
                      </a:r>
                      <a:r>
                        <a:rPr sz="890" i="0" b="1">
                          <a:solidFill>
                            <a:srgbClr val="0E2841"/>
                          </a:solidFill>
                          <a:latin typeface="Arial"/>
                        </a:rPr>
                        <a:t>Khối phát lệnh chuẩn IF-02</a:t>
                      </a:r>
                      <a:r>
                        <a:rPr sz="890" i="0" b="0">
                          <a:solidFill>
                            <a:srgbClr val="1B1B1B"/>
                          </a:solidFill>
                          <a:latin typeface="Arial"/>
                        </a:rPr>
                        <a:t> (Speed Reference, Stop, Reversal) và phản hồi </a:t>
                      </a:r>
                      <a:r>
                        <a:rPr sz="890" i="0" b="1">
                          <a:solidFill>
                            <a:srgbClr val="0E2841"/>
                          </a:solidFill>
                          <a:latin typeface="Arial"/>
                        </a:rPr>
                        <a:t>Encoder IF-07</a:t>
                      </a:r>
                      <a:r>
                        <a:rPr sz="890" i="0" b="0">
                          <a:solidFill>
                            <a:srgbClr val="1B1B1B"/>
                          </a:solidFill>
                          <a:latin typeface="Arial"/>
                        </a:rPr>
                        <a:t>.</a:t>
                      </a:r>
                    </a:p>
                  </a:txBody>
                  <a:tcPr anchor="ctr" marT="19050" marB="19050" marL="50800" marR="50800">
                    <a:solidFill>
                      <a:srgbClr val="F8F9FA"/>
                    </a:solidFill>
                  </a:tcPr>
                </a:tc>
              </a:tr>
              <a:tr h="1093668">
                <a:tc>
                  <a:txBody>
                    <a:bodyPr wrap="square"/>
                    <a:lstStyle/>
                    <a:p>
                      <a:pPr algn="ctr"/>
                      <a:r>
                        <a:rPr sz="890" i="0" b="1">
                          <a:solidFill>
                            <a:srgbClr val="0E2841"/>
                          </a:solidFill>
                          <a:latin typeface="Arial"/>
                        </a:rPr>
                        <a:t>3. Vỏ tủ &amp; Môi trường</a:t>
                      </a:r>
                      <a:r>
                        <a:rPr sz="890" i="0" b="1">
                          <a:solidFill>
                            <a:srgbClr val="C00000"/>
                          </a:solidFill>
                          <a:latin typeface="Arial"/>
                        </a:rPr>
                        <a:t>
(Enclosure &amp; EMC)</a:t>
                      </a:r>
                    </a:p>
                  </a:txBody>
                  <a:tcPr anchor="ctr" marT="19050" marB="19050" marL="50800" marR="50800">
                    <a:solidFill>
                      <a:srgbClr val="FEF9E7"/>
                    </a:solidFill>
                  </a:tcPr>
                </a:tc>
                <a:tc>
                  <a:txBody>
                    <a:bodyPr wrap="square"/>
                    <a:lstStyle/>
                    <a:p>
                      <a:pPr algn="l"/>
                      <a:r>
                        <a:rPr sz="890" i="0" b="1">
                          <a:solidFill>
                            <a:srgbClr val="0E2841"/>
                          </a:solidFill>
                          <a:latin typeface="Arial"/>
                        </a:rPr>
                        <a:t>PRD-ENVI-01</a:t>
                      </a:r>
                      <a:r>
                        <a:rPr sz="890" i="0" b="1">
                          <a:solidFill>
                            <a:srgbClr val="1B1B1B"/>
                          </a:solidFill>
                          <a:latin typeface="Arial"/>
                        </a:rPr>
                        <a:t>
</a:t>
                      </a:r>
                      <a:r>
                        <a:rPr sz="890" i="0" b="1">
                          <a:solidFill>
                            <a:srgbClr val="0E2841"/>
                          </a:solidFill>
                          <a:latin typeface="Arial"/>
                        </a:rPr>
                        <a:t>PRD-ENVI-02</a:t>
                      </a:r>
                    </a:p>
                  </a:txBody>
                  <a:tcPr anchor="ctr" marT="19050" marB="19050" marL="50800" marR="50800">
                    <a:solidFill>
                      <a:srgbClr val="FEF9E7"/>
                    </a:solidFill>
                  </a:tcPr>
                </a:tc>
                <a:tc>
                  <a:txBody>
                    <a:bodyPr wrap="square"/>
                    <a:lstStyle/>
                    <a:p>
                      <a:pPr algn="l"/>
                      <a:r>
                        <a:rPr sz="890" i="0" b="1">
                          <a:solidFill>
                            <a:srgbClr val="1B1B1B"/>
                          </a:solidFill>
                          <a:latin typeface="Arial"/>
                        </a:rPr>
                        <a:t>• Cấp bảo vệ vỏ tủ điện và động cơ </a:t>
                      </a:r>
                      <a:r>
                        <a:rPr sz="890" i="0" b="1">
                          <a:solidFill>
                            <a:srgbClr val="0E2841"/>
                          </a:solidFill>
                          <a:latin typeface="Arial"/>
                        </a:rPr>
                        <a:t>IP54 / IP55</a:t>
                      </a:r>
                      <a:r>
                        <a:rPr sz="890" i="0" b="1">
                          <a:solidFill>
                            <a:srgbClr val="1B1B1B"/>
                          </a:solidFill>
                          <a:latin typeface="Arial"/>
                        </a:rPr>
                        <a:t> chống bụi ẩm.
• Bộ lọc nhiễu điện từ trường </a:t>
                      </a:r>
                      <a:r>
                        <a:rPr sz="890" i="0" b="1">
                          <a:solidFill>
                            <a:srgbClr val="0E2841"/>
                          </a:solidFill>
                          <a:latin typeface="Arial"/>
                        </a:rPr>
                        <a:t>EMC/EMI Filter</a:t>
                      </a:r>
                      <a:r>
                        <a:rPr sz="890" i="0" b="1">
                          <a:solidFill>
                            <a:srgbClr val="1B1B1B"/>
                          </a:solidFill>
                          <a:latin typeface="Arial"/>
                        </a:rPr>
                        <a:t> đầu vào biến tần.</a:t>
                      </a:r>
                    </a:p>
                  </a:txBody>
                  <a:tcPr anchor="ctr" marT="19050" marB="19050" marL="50800" marR="50800">
                    <a:solidFill>
                      <a:srgbClr val="FEF9E7"/>
                    </a:solidFill>
                  </a:tcPr>
                </a:tc>
                <a:tc>
                  <a:txBody>
                    <a:bodyPr wrap="square"/>
                    <a:lstStyle/>
                    <a:p>
                      <a:pPr algn="l"/>
                      <a:r>
                        <a:rPr sz="890" i="0" b="1">
                          <a:solidFill>
                            <a:srgbClr val="1B1B1B"/>
                          </a:solidFill>
                          <a:latin typeface="Arial"/>
                        </a:rPr>
                        <a:t>• Không mô phỏng trường điện từ cao tần hay xâm nhập bụi cơ học; tuy nhiên </a:t>
                      </a:r>
                      <a:r>
                        <a:rPr sz="890" i="0" b="1">
                          <a:solidFill>
                            <a:srgbClr val="0E2841"/>
                          </a:solidFill>
                          <a:latin typeface="Arial"/>
                        </a:rPr>
                        <a:t>tác động nhiệt độ môi trường 40°C và độ ẩm gây suy giảm ma sát ray đã được đưa vào Nhiễu N3, N4 của P-Diagram</a:t>
                      </a:r>
                      <a:r>
                        <a:rPr sz="890" i="0" b="1">
                          <a:solidFill>
                            <a:srgbClr val="1B1B1B"/>
                          </a:solidFill>
                          <a:latin typeface="Arial"/>
                        </a:rPr>
                        <a:t>.</a:t>
                      </a:r>
                    </a:p>
                  </a:txBody>
                  <a:tcPr anchor="ctr" marT="19050" marB="19050" marL="50800" marR="50800">
                    <a:solidFill>
                      <a:srgbClr val="FEF9E7"/>
                    </a:solidFill>
                  </a:tcPr>
                </a:tc>
              </a:tr>
              <a:tr h="1093668">
                <a:tc>
                  <a:txBody>
                    <a:bodyPr wrap="square"/>
                    <a:lstStyle/>
                    <a:p>
                      <a:pPr algn="ctr"/>
                      <a:r>
                        <a:rPr sz="890" i="0" b="1">
                          <a:solidFill>
                            <a:srgbClr val="0E2841"/>
                          </a:solidFill>
                          <a:latin typeface="Arial"/>
                        </a:rPr>
                        <a:t>4. Độ tin cậy Vật liệu</a:t>
                      </a:r>
                      <a:r>
                        <a:rPr sz="890" i="0" b="1">
                          <a:solidFill>
                            <a:srgbClr val="0E2841"/>
                          </a:solidFill>
                          <a:latin typeface="Arial"/>
                        </a:rPr>
                        <a:t>
(Mechanical Reliability)</a:t>
                      </a:r>
                    </a:p>
                  </a:txBody>
                  <a:tcPr anchor="ctr" marT="19050" marB="19050" marL="50800" marR="50800">
                    <a:solidFill>
                      <a:srgbClr val="F8F9FA"/>
                    </a:solidFill>
                  </a:tcPr>
                </a:tc>
                <a:tc>
                  <a:txBody>
                    <a:bodyPr wrap="square"/>
                    <a:lstStyle/>
                    <a:p>
                      <a:pPr algn="l"/>
                      <a:r>
                        <a:rPr sz="890" i="0" b="1">
                          <a:solidFill>
                            <a:srgbClr val="0E2841"/>
                          </a:solidFill>
                          <a:latin typeface="Arial"/>
                        </a:rPr>
                        <a:t>PRD-RELI-01</a:t>
                      </a:r>
                      <a:r>
                        <a:rPr sz="890" i="0" b="0">
                          <a:solidFill>
                            <a:srgbClr val="1B1B1B"/>
                          </a:solidFill>
                          <a:latin typeface="Arial"/>
                        </a:rPr>
                        <a:t>
</a:t>
                      </a:r>
                      <a:r>
                        <a:rPr sz="890" i="0" b="1">
                          <a:solidFill>
                            <a:srgbClr val="0E2841"/>
                          </a:solidFill>
                          <a:latin typeface="Arial"/>
                        </a:rPr>
                        <a:t>PRD-RELI-02</a:t>
                      </a:r>
                    </a:p>
                  </a:txBody>
                  <a:tcPr anchor="ctr" marT="19050" marB="19050" marL="50800" marR="50800">
                    <a:solidFill>
                      <a:srgbClr val="F8F9FA"/>
                    </a:solidFill>
                  </a:tcPr>
                </a:tc>
                <a:tc>
                  <a:txBody>
                    <a:bodyPr wrap="square"/>
                    <a:lstStyle/>
                    <a:p>
                      <a:pPr algn="l"/>
                      <a:r>
                        <a:rPr sz="890" i="0" b="0">
                          <a:solidFill>
                            <a:srgbClr val="1B1B1B"/>
                          </a:solidFill>
                          <a:latin typeface="Arial"/>
                        </a:rPr>
                        <a:t>• Tuổi thọ mỏi vòng bi </a:t>
                      </a:r>
                      <a:r>
                        <a:rPr sz="890" i="0" b="1">
                          <a:solidFill>
                            <a:srgbClr val="0E2841"/>
                          </a:solidFill>
                          <a:latin typeface="Arial"/>
                        </a:rPr>
                        <a:t>L_10h ≥ 25,000 giờ</a:t>
                      </a:r>
                      <a:r>
                        <a:rPr sz="890" i="0" b="0">
                          <a:solidFill>
                            <a:srgbClr val="1B1B1B"/>
                          </a:solidFill>
                          <a:latin typeface="Arial"/>
                        </a:rPr>
                        <a:t> và độ mòn bánh răng.
• Chu kỳ bảo dưỡng định kỳ thay dầu hộp số và má phanh cơ.</a:t>
                      </a:r>
                    </a:p>
                  </a:txBody>
                  <a:tcPr anchor="ctr" marT="19050" marB="19050" marL="50800" marR="50800">
                    <a:solidFill>
                      <a:srgbClr val="F8F9FA"/>
                    </a:solidFill>
                  </a:tcPr>
                </a:tc>
                <a:tc>
                  <a:txBody>
                    <a:bodyPr wrap="square"/>
                    <a:lstStyle/>
                    <a:p>
                      <a:pPr algn="l"/>
                      <a:r>
                        <a:rPr sz="890" i="0" b="0">
                          <a:solidFill>
                            <a:srgbClr val="1B1B1B"/>
                          </a:solidFill>
                          <a:latin typeface="Arial"/>
                        </a:rPr>
                        <a:t>• Thuộc môn học </a:t>
                      </a:r>
                      <a:r>
                        <a:rPr sz="890" i="0" b="1">
                          <a:solidFill>
                            <a:srgbClr val="0E2841"/>
                          </a:solidFill>
                          <a:latin typeface="Arial"/>
                        </a:rPr>
                        <a:t>Chi tiết máy</a:t>
                      </a:r>
                      <a:r>
                        <a:rPr sz="890" i="0" b="0">
                          <a:solidFill>
                            <a:srgbClr val="1B1B1B"/>
                          </a:solidFill>
                          <a:latin typeface="Arial"/>
                        </a:rPr>
                        <a:t>; trong đồ án này, hiệu suất truyền động cơ khí được quy chuẩn qua tham số </a:t>
                      </a:r>
                      <a:r>
                        <a:rPr sz="890" i="0" b="1">
                          <a:solidFill>
                            <a:srgbClr val="0E2841"/>
                          </a:solidFill>
                          <a:latin typeface="Arial"/>
                        </a:rPr>
                        <a:t>η = 0.96</a:t>
                      </a:r>
                      <a:r>
                        <a:rPr sz="890" i="0" b="0">
                          <a:solidFill>
                            <a:srgbClr val="1B1B1B"/>
                          </a:solidFill>
                          <a:latin typeface="Arial"/>
                        </a:rPr>
                        <a:t> (</a:t>
                      </a:r>
                      <a:r>
                        <a:rPr sz="890" i="0" b="1">
                          <a:solidFill>
                            <a:srgbClr val="0E2841"/>
                          </a:solidFill>
                          <a:latin typeface="Arial"/>
                        </a:rPr>
                        <a:t>SRS-PERM-07</a:t>
                      </a:r>
                      <a:r>
                        <a:rPr sz="890" i="0" b="0">
                          <a:solidFill>
                            <a:srgbClr val="1B1B1B"/>
                          </a:solidFill>
                          <a:latin typeface="Arial"/>
                        </a:rPr>
                        <a:t>) và giảm mài mòn má phanh nhờ </a:t>
                      </a:r>
                      <a:r>
                        <a:rPr sz="890" i="0" b="1">
                          <a:solidFill>
                            <a:srgbClr val="0E2841"/>
                          </a:solidFill>
                          <a:latin typeface="Arial"/>
                        </a:rPr>
                        <a:t>Stop Category 1 (SRS-FUNC-03)</a:t>
                      </a:r>
                      <a:r>
                        <a:rPr sz="890" i="0" b="0">
                          <a:solidFill>
                            <a:srgbClr val="1B1B1B"/>
                          </a:solidFill>
                          <a:latin typeface="Arial"/>
                        </a:rPr>
                        <a:t>.</a:t>
                      </a:r>
                    </a:p>
                  </a:txBody>
                  <a:tcPr anchor="ctr" marT="19050" marB="19050" marL="50800" marR="50800">
                    <a:solidFill>
                      <a:srgbClr val="F8F9FA"/>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B1-4] MA TRẬN TRUY VẾT NGƯỢC DMAIC CHI TIẾT — NHÓM FUNC (01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Truy vết 1-1 từng yêu cầu </a:t>
            </a:r>
            <a:r>
              <a:rPr sz="1350" i="0" b="1">
                <a:solidFill>
                  <a:srgbClr val="0E2841"/>
                </a:solidFill>
                <a:latin typeface="Arial"/>
              </a:rPr>
              <a:t>SRS-FUNC-01..07</a:t>
            </a:r>
            <a:r>
              <a:rPr sz="1350" i="0" b="1">
                <a:solidFill>
                  <a:srgbClr val="C00000"/>
                </a:solidFill>
                <a:latin typeface="Arial"/>
              </a:rPr>
              <a:t> ngược về </a:t>
            </a:r>
            <a:r>
              <a:rPr sz="1350" i="0" b="1">
                <a:solidFill>
                  <a:srgbClr val="0E2841"/>
                </a:solidFill>
                <a:latin typeface="Arial"/>
              </a:rPr>
              <a:t>HoQ EC ← PRD ← GAP ← P-Diagram ← RRM</a:t>
            </a:r>
            <a:r>
              <a:rPr sz="1350" i="0" b="1">
                <a:solidFill>
                  <a:srgbClr val="C00000"/>
                </a:solidFill>
                <a:latin typeface="Arial"/>
              </a:rPr>
              <a:t> và phân bổ </a:t>
            </a:r>
            <a:r>
              <a:rPr sz="1350" i="0" b="1">
                <a:solidFill>
                  <a:srgbClr val="0E2841"/>
                </a:solidFill>
                <a:latin typeface="Arial"/>
              </a:rPr>
              <a:t>SOW</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B1-4 — Atomic Backward DMAIC RTM (SRS-FUNC-01..07) | Backup B1-4 (20/23)</a:t>
            </a:r>
          </a:p>
        </p:txBody>
      </p:sp>
      <p:graphicFrame>
        <p:nvGraphicFramePr>
          <p:cNvPr id="5" name="Table 4"/>
          <p:cNvGraphicFramePr>
            <a:graphicFrameLocks noGrp="1"/>
          </p:cNvGraphicFramePr>
          <p:nvPr/>
        </p:nvGraphicFramePr>
        <p:xfrm>
          <a:off x="310896" y="1234440"/>
          <a:ext cx="11567160" cy="4667279"/>
        </p:xfrm>
        <a:graphic>
          <a:graphicData uri="http://schemas.openxmlformats.org/drawingml/2006/table">
            <a:tbl>
              <a:tblPr firstRow="1" bandRow="1">
                <a:tableStyleId>{5C22544A-7EE6-4342-B048-85BDC9FD1C3A}</a:tableStyleId>
              </a:tblPr>
              <a:tblGrid>
                <a:gridCol w="1234440"/>
                <a:gridCol w="1051560"/>
                <a:gridCol w="1051560"/>
                <a:gridCol w="2331720"/>
                <a:gridCol w="2194560"/>
                <a:gridCol w="1325880"/>
                <a:gridCol w="2377440"/>
              </a:tblGrid>
              <a:tr h="292608">
                <a:tc>
                  <a:txBody>
                    <a:bodyPr wrap="square"/>
                    <a:lstStyle/>
                    <a:p>
                      <a:pPr algn="ctr"/>
                      <a:r>
                        <a:rPr sz="969" b="1">
                          <a:solidFill>
                            <a:srgbClr val="FFFFFF"/>
                          </a:solidFill>
                          <a:latin typeface="Arial"/>
                        </a:rPr>
                        <a:t>Mã SRS</a:t>
                      </a:r>
                    </a:p>
                  </a:txBody>
                  <a:tcPr anchor="ctr" marT="19050" marB="19050" marL="50800" marR="50800">
                    <a:solidFill>
                      <a:srgbClr val="0E2841"/>
                    </a:solidFill>
                  </a:tcPr>
                </a:tc>
                <a:tc>
                  <a:txBody>
                    <a:bodyPr wrap="square"/>
                    <a:lstStyle/>
                    <a:p>
                      <a:pPr algn="ctr"/>
                      <a:r>
                        <a:rPr sz="969" b="1">
                          <a:solidFill>
                            <a:srgbClr val="FFFFFF"/>
                          </a:solidFill>
                          <a:latin typeface="Arial"/>
                        </a:rPr>
                        <a:t>← Cột HoQ EC</a:t>
                      </a:r>
                    </a:p>
                  </a:txBody>
                  <a:tcPr anchor="ctr" marT="19050" marB="19050" marL="50800" marR="50800">
                    <a:solidFill>
                      <a:srgbClr val="0E2841"/>
                    </a:solidFill>
                  </a:tcPr>
                </a:tc>
                <a:tc>
                  <a:txBody>
                    <a:bodyPr wrap="square"/>
                    <a:lstStyle/>
                    <a:p>
                      <a:pPr algn="ctr"/>
                      <a:r>
                        <a:rPr sz="969" b="1">
                          <a:solidFill>
                            <a:srgbClr val="FFFFFF"/>
                          </a:solidFill>
                          <a:latin typeface="Arial"/>
                        </a:rPr>
                        <a:t>← Mã PRD</a:t>
                      </a:r>
                    </a:p>
                  </a:txBody>
                  <a:tcPr anchor="ctr" marT="19050" marB="19050" marL="50800" marR="50800">
                    <a:solidFill>
                      <a:srgbClr val="0E2841"/>
                    </a:solidFill>
                  </a:tcPr>
                </a:tc>
                <a:tc>
                  <a:txBody>
                    <a:bodyPr wrap="square"/>
                    <a:lstStyle/>
                    <a:p>
                      <a:pPr algn="ctr"/>
                      <a:r>
                        <a:rPr sz="969" b="1">
                          <a:solidFill>
                            <a:srgbClr val="FFFFFF"/>
                          </a:solidFill>
                          <a:latin typeface="Arial"/>
                        </a:rPr>
                        <a:t>← Khoảng trống GAP</a:t>
                      </a:r>
                    </a:p>
                  </a:txBody>
                  <a:tcPr anchor="ctr" marT="19050" marB="19050" marL="50800" marR="50800">
                    <a:solidFill>
                      <a:srgbClr val="0E2841"/>
                    </a:solidFill>
                  </a:tcPr>
                </a:tc>
                <a:tc>
                  <a:txBody>
                    <a:bodyPr wrap="square"/>
                    <a:lstStyle/>
                    <a:p>
                      <a:pPr algn="ctr"/>
                      <a:r>
                        <a:rPr sz="969" b="1">
                          <a:solidFill>
                            <a:srgbClr val="FFFFFF"/>
                          </a:solidFill>
                          <a:latin typeface="Arial"/>
                        </a:rPr>
                        <a:t>← Phần tử P-Diagram</a:t>
                      </a:r>
                    </a:p>
                  </a:txBody>
                  <a:tcPr anchor="ctr" marT="19050" marB="19050" marL="50800" marR="50800">
                    <a:solidFill>
                      <a:srgbClr val="0E2841"/>
                    </a:solidFill>
                  </a:tcPr>
                </a:tc>
                <a:tc>
                  <a:txBody>
                    <a:bodyPr wrap="square"/>
                    <a:lstStyle/>
                    <a:p>
                      <a:pPr algn="ctr"/>
                      <a:r>
                        <a:rPr sz="969" b="1">
                          <a:solidFill>
                            <a:srgbClr val="FFFFFF"/>
                          </a:solidFill>
                          <a:latin typeface="Arial"/>
                        </a:rPr>
                        <a:t>← Rủi ro RRM</a:t>
                      </a:r>
                    </a:p>
                  </a:txBody>
                  <a:tcPr anchor="ctr" marT="19050" marB="19050" marL="50800" marR="50800">
                    <a:solidFill>
                      <a:srgbClr val="0E2841"/>
                    </a:solidFill>
                  </a:tcPr>
                </a:tc>
                <a:tc>
                  <a:txBody>
                    <a:bodyPr wrap="square"/>
                    <a:lstStyle/>
                    <a:p>
                      <a:pPr algn="ctr"/>
                      <a:r>
                        <a:rPr sz="969" b="1">
                          <a:solidFill>
                            <a:srgbClr val="FFFFFF"/>
                          </a:solidFill>
                          <a:latin typeface="Arial"/>
                        </a:rPr>
                        <a:t>→ Gói WBS Thực thi &amp; Chủ trì</a:t>
                      </a:r>
                    </a:p>
                  </a:txBody>
                  <a:tcPr anchor="ctr" marT="19050" marB="19050" marL="50800" marR="50800">
                    <a:solidFill>
                      <a:srgbClr val="0E2841"/>
                    </a:solidFill>
                  </a:tcPr>
                </a:tc>
              </a:tr>
              <a:tr h="624953">
                <a:tc>
                  <a:txBody>
                    <a:bodyPr wrap="square"/>
                    <a:lstStyle/>
                    <a:p>
                      <a:pPr algn="ctr"/>
                      <a:r>
                        <a:rPr sz="860" i="0" b="1">
                          <a:solidFill>
                            <a:srgbClr val="0E2841"/>
                          </a:solidFill>
                          <a:latin typeface="Arial"/>
                        </a:rPr>
                        <a:t>SRS-FUNC-01</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PRD-01</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GAP-01:</a:t>
                      </a:r>
                      <a:r>
                        <a:rPr sz="860" i="0" b="1">
                          <a:solidFill>
                            <a:srgbClr val="1B1B1B"/>
                          </a:solidFill>
                          <a:latin typeface="Arial"/>
                        </a:rPr>
                        <a:t> Đảo pha trực tiếp gây giật cơ khí &amp; hồ quang.</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CF1, CF3</a:t>
                      </a:r>
                      <a:r>
                        <a:rPr sz="860" i="0" b="1">
                          <a:solidFill>
                            <a:srgbClr val="1B1B1B"/>
                          </a:solidFill>
                          <a:latin typeface="Arial"/>
                        </a:rPr>
                        <a:t> kháng </a:t>
                      </a:r>
                      <a:r>
                        <a:rPr sz="860" i="0" b="1">
                          <a:solidFill>
                            <a:srgbClr val="0E2841"/>
                          </a:solidFill>
                          <a:latin typeface="Arial"/>
                        </a:rPr>
                        <a:t>N1</a:t>
                      </a:r>
                      <a:r>
                        <a:rPr sz="860" i="0" b="1">
                          <a:solidFill>
                            <a:srgbClr val="1B1B1B"/>
                          </a:solidFill>
                          <a:latin typeface="Arial"/>
                        </a:rPr>
                        <a:t>; chặn lỗi </a:t>
                      </a:r>
                      <a:r>
                        <a:rPr sz="860" i="0" b="1">
                          <a:solidFill>
                            <a:srgbClr val="C00000"/>
                          </a:solidFill>
                          <a:latin typeface="Arial"/>
                        </a:rPr>
                        <a:t>E1 (CTS-01)</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RRM-03</a:t>
                      </a:r>
                      <a:r>
                        <a:rPr sz="860" i="0" b="1">
                          <a:solidFill>
                            <a:srgbClr val="1B1B1B"/>
                          </a:solidFill>
                          <a:latin typeface="Arial"/>
                        </a:rPr>
                        <a:t>
(Sốc cơ khí)</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3.1</a:t>
                      </a:r>
                      <a:r>
                        <a:rPr sz="860" i="0" b="1">
                          <a:solidFill>
                            <a:srgbClr val="1B1B1B"/>
                          </a:solidFill>
                          <a:latin typeface="Arial"/>
                        </a:rPr>
                        <a:t> (Logic khóa liên động </a:t>
                      </a:r>
                      <a:r>
                        <a:rPr sz="860" i="0" b="1">
                          <a:solidFill>
                            <a:srgbClr val="0E2841"/>
                          </a:solidFill>
                          <a:latin typeface="Arial"/>
                        </a:rPr>
                        <a:t>v=0</a:t>
                      </a:r>
                      <a:r>
                        <a:rPr sz="860" i="0" b="1">
                          <a:solidFill>
                            <a:srgbClr val="1B1B1B"/>
                          </a:solidFill>
                          <a:latin typeface="Arial"/>
                        </a:rPr>
                        <a:t>), </a:t>
                      </a:r>
                      <a:r>
                        <a:rPr sz="860" i="0" b="1">
                          <a:solidFill>
                            <a:srgbClr val="0E2841"/>
                          </a:solidFill>
                          <a:latin typeface="Arial"/>
                        </a:rPr>
                        <a:t>WBS 4.1</a:t>
                      </a:r>
                      <a:r>
                        <a:rPr sz="860" i="0" b="1">
                          <a:solidFill>
                            <a:srgbClr val="1B1B1B"/>
                          </a:solidFill>
                          <a:latin typeface="Arial"/>
                        </a:rPr>
                        <a:t> (</a:t>
                      </a:r>
                      <a:r>
                        <a:rPr sz="860" i="0" b="1">
                          <a:solidFill>
                            <a:srgbClr val="0E2841"/>
                          </a:solidFill>
                          <a:latin typeface="Arial"/>
                        </a:rPr>
                        <a:t>Control Lead</a:t>
                      </a:r>
                      <a:r>
                        <a:rPr sz="86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EC-02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PRD-02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GAP-02:</a:t>
                      </a:r>
                      <a:r>
                        <a:rPr sz="860" i="0" b="0">
                          <a:solidFill>
                            <a:srgbClr val="1B1B1B"/>
                          </a:solidFill>
                          <a:latin typeface="Arial"/>
                        </a:rPr>
                        <a:t> Chuyển cấp tốc độ nhảy bậc gây dao động tải.</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CF1</a:t>
                      </a:r>
                      <a:r>
                        <a:rPr sz="860" i="0" b="0">
                          <a:solidFill>
                            <a:srgbClr val="1B1B1B"/>
                          </a:solidFill>
                          <a:latin typeface="Arial"/>
                        </a:rPr>
                        <a:t> (Nội suy mượt) kháng </a:t>
                      </a:r>
                      <a:r>
                        <a:rPr sz="860" i="0" b="1">
                          <a:solidFill>
                            <a:srgbClr val="0E2841"/>
                          </a:solidFill>
                          <a:latin typeface="Arial"/>
                        </a:rPr>
                        <a:t>N1</a:t>
                      </a:r>
                      <a:r>
                        <a:rPr sz="860" i="0" b="0">
                          <a:solidFill>
                            <a:srgbClr val="1B1B1B"/>
                          </a:solidFill>
                          <a:latin typeface="Arial"/>
                        </a:rPr>
                        <a:t>; đạt </a:t>
                      </a:r>
                      <a:r>
                        <a:rPr sz="860" i="0" b="1">
                          <a:solidFill>
                            <a:srgbClr val="0E2841"/>
                          </a:solidFill>
                          <a:latin typeface="Arial"/>
                        </a:rPr>
                        <a:t>CTQ-03, 04</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RRM-02</a:t>
                      </a:r>
                      <a:r>
                        <a:rPr sz="860" i="0" b="0">
                          <a:solidFill>
                            <a:srgbClr val="1B1B1B"/>
                          </a:solidFill>
                          <a:latin typeface="Arial"/>
                        </a:rPr>
                        <a:t>
(Lắc tải khi đổi tốc)</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WBS 3.1</a:t>
                      </a:r>
                      <a:r>
                        <a:rPr sz="860" i="0" b="0">
                          <a:solidFill>
                            <a:srgbClr val="1B1B1B"/>
                          </a:solidFill>
                          <a:latin typeface="Arial"/>
                        </a:rPr>
                        <a:t> (Bộ phát lệnh đa cấp), </a:t>
                      </a:r>
                      <a:r>
                        <a:rPr sz="860" i="0" b="1">
                          <a:solidFill>
                            <a:srgbClr val="0E2841"/>
                          </a:solidFill>
                          <a:latin typeface="Arial"/>
                        </a:rPr>
                        <a:t>WBS 4.2</a:t>
                      </a:r>
                      <a:r>
                        <a:rPr sz="860" i="0" b="0">
                          <a:solidFill>
                            <a:srgbClr val="1B1B1B"/>
                          </a:solidFill>
                          <a:latin typeface="Arial"/>
                        </a:rPr>
                        <a:t>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8F9FA"/>
                    </a:solidFill>
                  </a:tcPr>
                </a:tc>
              </a:tr>
              <a:tr h="624953">
                <a:tc>
                  <a:txBody>
                    <a:bodyPr wrap="square"/>
                    <a:lstStyle/>
                    <a:p>
                      <a:pPr algn="ctr"/>
                      <a:r>
                        <a:rPr sz="860" i="0" b="1">
                          <a:solidFill>
                            <a:srgbClr val="0E2841"/>
                          </a:solidFill>
                          <a:latin typeface="Arial"/>
                        </a:rPr>
                        <a:t>SRS-FUNC-03</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EC-04</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PRD-06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GAP-01:</a:t>
                      </a:r>
                      <a:r>
                        <a:rPr sz="860" i="0" b="1">
                          <a:solidFill>
                            <a:srgbClr val="1B1B1B"/>
                          </a:solidFill>
                          <a:latin typeface="Arial"/>
                        </a:rPr>
                        <a:t> Đóng phanh cơ khi đang chạy làm cháy phanh &amp; lắc cáp.</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CF1, CF3</a:t>
                      </a:r>
                      <a:r>
                        <a:rPr sz="860" i="0" b="1">
                          <a:solidFill>
                            <a:srgbClr val="1B1B1B"/>
                          </a:solidFill>
                          <a:latin typeface="Arial"/>
                        </a:rPr>
                        <a:t> kháng </a:t>
                      </a:r>
                      <a:r>
                        <a:rPr sz="860" i="0" b="1">
                          <a:solidFill>
                            <a:srgbClr val="0E2841"/>
                          </a:solidFill>
                          <a:latin typeface="Arial"/>
                        </a:rPr>
                        <a:t>N1</a:t>
                      </a:r>
                      <a:r>
                        <a:rPr sz="860" i="0" b="1">
                          <a:solidFill>
                            <a:srgbClr val="1B1B1B"/>
                          </a:solidFill>
                          <a:latin typeface="Arial"/>
                        </a:rPr>
                        <a:t>; chặn lỗi </a:t>
                      </a:r>
                      <a:r>
                        <a:rPr sz="860" i="0" b="1">
                          <a:solidFill>
                            <a:srgbClr val="C00000"/>
                          </a:solidFill>
                          <a:latin typeface="Arial"/>
                        </a:rPr>
                        <a:t>E1, E2 (CTS-02)</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RRM-02, 03</a:t>
                      </a:r>
                      <a:r>
                        <a:rPr sz="860" i="0" b="1">
                          <a:solidFill>
                            <a:srgbClr val="1B1B1B"/>
                          </a:solidFill>
                          <a:latin typeface="Arial"/>
                        </a:rPr>
                        <a:t>
(Mòn phanh &amp; lắc cáp)</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3.1</a:t>
                      </a:r>
                      <a:r>
                        <a:rPr sz="860" i="0" b="1">
                          <a:solidFill>
                            <a:srgbClr val="1B1B1B"/>
                          </a:solidFill>
                          <a:latin typeface="Arial"/>
                        </a:rPr>
                        <a:t> (Trình tự </a:t>
                      </a:r>
                      <a:r>
                        <a:rPr sz="860" i="0" b="1">
                          <a:solidFill>
                            <a:srgbClr val="0E2841"/>
                          </a:solidFill>
                          <a:latin typeface="Arial"/>
                        </a:rPr>
                        <a:t>Stop Cat. 1</a:t>
                      </a:r>
                      <a:r>
                        <a:rPr sz="860" i="0" b="1">
                          <a:solidFill>
                            <a:srgbClr val="1B1B1B"/>
                          </a:solidFill>
                          <a:latin typeface="Arial"/>
                        </a:rPr>
                        <a:t>), </a:t>
                      </a:r>
                      <a:r>
                        <a:rPr sz="860" i="0" b="1">
                          <a:solidFill>
                            <a:srgbClr val="0E2841"/>
                          </a:solidFill>
                          <a:latin typeface="Arial"/>
                        </a:rPr>
                        <a:t>WBS 4.1</a:t>
                      </a:r>
                      <a:r>
                        <a:rPr sz="860" i="0" b="1">
                          <a:solidFill>
                            <a:srgbClr val="1B1B1B"/>
                          </a:solidFill>
                          <a:latin typeface="Arial"/>
                        </a:rPr>
                        <a:t> (</a:t>
                      </a:r>
                      <a:r>
                        <a:rPr sz="860" i="0" b="1">
                          <a:solidFill>
                            <a:srgbClr val="0E2841"/>
                          </a:solidFill>
                          <a:latin typeface="Arial"/>
                        </a:rPr>
                        <a:t>Control Lead</a:t>
                      </a:r>
                      <a:r>
                        <a:rPr sz="86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SRS-FUNC-04</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PRD-04</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GAP-03:</a:t>
                      </a:r>
                      <a:r>
                        <a:rPr sz="860" i="0" b="1">
                          <a:solidFill>
                            <a:srgbClr val="1B1B1B"/>
                          </a:solidFill>
                          <a:latin typeface="Arial"/>
                        </a:rPr>
                        <a:t> Trôi tải ở 0 rpm trong 50÷150 ms trễ nhả phanh.</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CF3</a:t>
                      </a:r>
                      <a:r>
                        <a:rPr sz="860" i="0" b="1">
                          <a:solidFill>
                            <a:srgbClr val="1B1B1B"/>
                          </a:solidFill>
                          <a:latin typeface="Arial"/>
                        </a:rPr>
                        <a:t> (</a:t>
                      </a:r>
                      <a:r>
                        <a:rPr sz="860" i="0" b="1">
                          <a:solidFill>
                            <a:srgbClr val="0E2841"/>
                          </a:solidFill>
                          <a:latin typeface="Arial"/>
                        </a:rPr>
                        <a:t>100÷150% M_đm</a:t>
                      </a:r>
                      <a:r>
                        <a:rPr sz="860" i="0" b="1">
                          <a:solidFill>
                            <a:srgbClr val="1B1B1B"/>
                          </a:solidFill>
                          <a:latin typeface="Arial"/>
                        </a:rPr>
                        <a:t>) kháng </a:t>
                      </a:r>
                      <a:r>
                        <a:rPr sz="860" i="0" b="1">
                          <a:solidFill>
                            <a:srgbClr val="0E2841"/>
                          </a:solidFill>
                          <a:latin typeface="Arial"/>
                        </a:rPr>
                        <a:t>N1</a:t>
                      </a:r>
                      <a:r>
                        <a:rPr sz="860" i="0" b="1">
                          <a:solidFill>
                            <a:srgbClr val="1B1B1B"/>
                          </a:solidFill>
                          <a:latin typeface="Arial"/>
                        </a:rPr>
                        <a:t>; chặn </a:t>
                      </a:r>
                      <a:r>
                        <a:rPr sz="860" i="0" b="1">
                          <a:solidFill>
                            <a:srgbClr val="C00000"/>
                          </a:solidFill>
                          <a:latin typeface="Arial"/>
                        </a:rPr>
                        <a:t>E1 (CTS-03)</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RRM-03</a:t>
                      </a:r>
                      <a:r>
                        <a:rPr sz="860" i="0" b="1">
                          <a:solidFill>
                            <a:srgbClr val="1B1B1B"/>
                          </a:solidFill>
                          <a:latin typeface="Arial"/>
                        </a:rPr>
                        <a:t>
(Trôi/rơi tải 0 rpm)</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2.2</a:t>
                      </a:r>
                      <a:r>
                        <a:rPr sz="860" i="0" b="1">
                          <a:solidFill>
                            <a:srgbClr val="1B1B1B"/>
                          </a:solidFill>
                          <a:latin typeface="Arial"/>
                        </a:rPr>
                        <a:t> (Phanh từ), </a:t>
                      </a:r>
                      <a:r>
                        <a:rPr sz="860" i="0" b="1">
                          <a:solidFill>
                            <a:srgbClr val="0E2841"/>
                          </a:solidFill>
                          <a:latin typeface="Arial"/>
                        </a:rPr>
                        <a:t>WBS 3.2</a:t>
                      </a:r>
                      <a:r>
                        <a:rPr sz="860" i="0" b="1">
                          <a:solidFill>
                            <a:srgbClr val="1B1B1B"/>
                          </a:solidFill>
                          <a:latin typeface="Arial"/>
                        </a:rPr>
                        <a:t> (Bắt tay 0 rpm) (</a:t>
                      </a:r>
                      <a:r>
                        <a:rPr sz="860" i="0" b="1">
                          <a:solidFill>
                            <a:srgbClr val="0E2841"/>
                          </a:solidFill>
                          <a:latin typeface="Arial"/>
                        </a:rPr>
                        <a:t>Drive + Control</a:t>
                      </a:r>
                      <a:r>
                        <a:rPr sz="86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SRS-FUNC-05</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EC-01, 02</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PRD-02, 03</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GAP-02:</a:t>
                      </a:r>
                      <a:r>
                        <a:rPr sz="860" i="0" b="0">
                          <a:solidFill>
                            <a:srgbClr val="1B1B1B"/>
                          </a:solidFill>
                          <a:latin typeface="Arial"/>
                        </a:rPr>
                        <a:t> Luật V/f vòng hở không tách được từ thông và mô-men.</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CF2</a:t>
                      </a:r>
                      <a:r>
                        <a:rPr sz="860" i="0" b="0">
                          <a:solidFill>
                            <a:srgbClr val="1B1B1B"/>
                          </a:solidFill>
                          <a:latin typeface="Arial"/>
                        </a:rPr>
                        <a:t> (</a:t>
                      </a:r>
                      <a:r>
                        <a:rPr sz="860" i="0" b="1">
                          <a:solidFill>
                            <a:srgbClr val="0E2841"/>
                          </a:solidFill>
                          <a:latin typeface="Arial"/>
                        </a:rPr>
                        <a:t>RFOC + Encoder</a:t>
                      </a:r>
                      <a:r>
                        <a:rPr sz="860" i="0" b="0">
                          <a:solidFill>
                            <a:srgbClr val="1B1B1B"/>
                          </a:solidFill>
                          <a:latin typeface="Arial"/>
                        </a:rPr>
                        <a:t>) kháng </a:t>
                      </a:r>
                      <a:r>
                        <a:rPr sz="860" i="0" b="1">
                          <a:solidFill>
                            <a:srgbClr val="0E2841"/>
                          </a:solidFill>
                          <a:latin typeface="Arial"/>
                        </a:rPr>
                        <a:t>N1, N2, N4</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RRM-02, 03</a:t>
                      </a:r>
                      <a:r>
                        <a:rPr sz="860" i="0" b="0">
                          <a:solidFill>
                            <a:srgbClr val="1B1B1B"/>
                          </a:solidFill>
                          <a:latin typeface="Arial"/>
                        </a:rPr>
                        <a:t>
(Mất kiểm soát mô-men)</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WBS 2.2</a:t>
                      </a:r>
                      <a:r>
                        <a:rPr sz="860" i="0" b="0">
                          <a:solidFill>
                            <a:srgbClr val="1B1B1B"/>
                          </a:solidFill>
                          <a:latin typeface="Arial"/>
                        </a:rPr>
                        <a:t> (Chọn Encoder), </a:t>
                      </a:r>
                      <a:r>
                        <a:rPr sz="860" i="0" b="1">
                          <a:solidFill>
                            <a:srgbClr val="0E2841"/>
                          </a:solidFill>
                          <a:latin typeface="Arial"/>
                        </a:rPr>
                        <a:t>WBS 3.2</a:t>
                      </a:r>
                      <a:r>
                        <a:rPr sz="860" i="0" b="0">
                          <a:solidFill>
                            <a:srgbClr val="1B1B1B"/>
                          </a:solidFill>
                          <a:latin typeface="Arial"/>
                        </a:rPr>
                        <a:t> (Thiết kế FOC)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FFFFF"/>
                    </a:solidFill>
                  </a:tcPr>
                </a:tc>
              </a:tr>
              <a:tr h="624953">
                <a:tc>
                  <a:txBody>
                    <a:bodyPr wrap="square"/>
                    <a:lstStyle/>
                    <a:p>
                      <a:pPr algn="ctr"/>
                      <a:r>
                        <a:rPr sz="860" i="0" b="1">
                          <a:solidFill>
                            <a:srgbClr val="0E2841"/>
                          </a:solidFill>
                          <a:latin typeface="Arial"/>
                        </a:rPr>
                        <a:t>SRS-FUNC-06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EC-07</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PRD-05</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GAP-04:</a:t>
                      </a:r>
                      <a:r>
                        <a:rPr sz="860" i="0" b="1">
                          <a:solidFill>
                            <a:srgbClr val="1B1B1B"/>
                          </a:solidFill>
                          <a:latin typeface="Arial"/>
                        </a:rPr>
                        <a:t> Thiếu mạch xả năng lượng hãm tái sinh </a:t>
                      </a:r>
                      <a:r>
                        <a:rPr sz="860" i="0" b="1">
                          <a:solidFill>
                            <a:srgbClr val="0E2841"/>
                          </a:solidFill>
                          <a:latin typeface="Arial"/>
                        </a:rPr>
                        <a:t>14,244 kg</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CF4</a:t>
                      </a:r>
                      <a:r>
                        <a:rPr sz="860" i="0" b="1">
                          <a:solidFill>
                            <a:srgbClr val="1B1B1B"/>
                          </a:solidFill>
                          <a:latin typeface="Arial"/>
                        </a:rPr>
                        <a:t> (</a:t>
                      </a:r>
                      <a:r>
                        <a:rPr sz="860" i="0" b="1">
                          <a:solidFill>
                            <a:srgbClr val="0E2841"/>
                          </a:solidFill>
                          <a:latin typeface="Arial"/>
                        </a:rPr>
                        <a:t>Chopper + R_h</a:t>
                      </a:r>
                      <a:r>
                        <a:rPr sz="860" i="0" b="1">
                          <a:solidFill>
                            <a:srgbClr val="1B1B1B"/>
                          </a:solidFill>
                          <a:latin typeface="Arial"/>
                        </a:rPr>
                        <a:t>) kháng </a:t>
                      </a:r>
                      <a:r>
                        <a:rPr sz="860" i="0" b="1">
                          <a:solidFill>
                            <a:srgbClr val="0E2841"/>
                          </a:solidFill>
                          <a:latin typeface="Arial"/>
                        </a:rPr>
                        <a:t>N1, N2</a:t>
                      </a:r>
                      <a:r>
                        <a:rPr sz="860" i="0" b="1">
                          <a:solidFill>
                            <a:srgbClr val="1B1B1B"/>
                          </a:solidFill>
                          <a:latin typeface="Arial"/>
                        </a:rPr>
                        <a:t>; chặn </a:t>
                      </a:r>
                      <a:r>
                        <a:rPr sz="860" i="0" b="1">
                          <a:solidFill>
                            <a:srgbClr val="C00000"/>
                          </a:solidFill>
                          <a:latin typeface="Arial"/>
                        </a:rPr>
                        <a:t>E3 (CTS-04)</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RRM-04</a:t>
                      </a:r>
                      <a:r>
                        <a:rPr sz="860" i="0" b="1">
                          <a:solidFill>
                            <a:srgbClr val="1B1B1B"/>
                          </a:solidFill>
                          <a:latin typeface="Arial"/>
                        </a:rPr>
                        <a:t>
(Quá áp DC &gt; 800V)</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2.3</a:t>
                      </a:r>
                      <a:r>
                        <a:rPr sz="860" i="0" b="1">
                          <a:solidFill>
                            <a:srgbClr val="1B1B1B"/>
                          </a:solidFill>
                          <a:latin typeface="Arial"/>
                        </a:rPr>
                        <a:t> (Tính chọn </a:t>
                      </a:r>
                      <a:r>
                        <a:rPr sz="860" i="0" b="1">
                          <a:solidFill>
                            <a:srgbClr val="0E2841"/>
                          </a:solidFill>
                          <a:latin typeface="Arial"/>
                        </a:rPr>
                        <a:t>R_h</a:t>
                      </a:r>
                      <a:r>
                        <a:rPr sz="860" i="0" b="1">
                          <a:solidFill>
                            <a:srgbClr val="1B1B1B"/>
                          </a:solidFill>
                          <a:latin typeface="Arial"/>
                        </a:rPr>
                        <a:t>), </a:t>
                      </a:r>
                      <a:r>
                        <a:rPr sz="860" i="0" b="1">
                          <a:solidFill>
                            <a:srgbClr val="0E2841"/>
                          </a:solidFill>
                          <a:latin typeface="Arial"/>
                        </a:rPr>
                        <a:t>WBS 4.2</a:t>
                      </a:r>
                      <a:r>
                        <a:rPr sz="860" i="0" b="1">
                          <a:solidFill>
                            <a:srgbClr val="1B1B1B"/>
                          </a:solidFill>
                          <a:latin typeface="Arial"/>
                        </a:rPr>
                        <a:t> (</a:t>
                      </a:r>
                      <a:r>
                        <a:rPr sz="860" i="0" b="1">
                          <a:solidFill>
                            <a:srgbClr val="0E2841"/>
                          </a:solidFill>
                          <a:latin typeface="Arial"/>
                        </a:rPr>
                        <a:t>Drive Lead</a:t>
                      </a:r>
                      <a:r>
                        <a:rPr sz="86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SRS-FUNC-07</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EC-05</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PRD-06, 07</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GAP-05:</a:t>
                      </a:r>
                      <a:r>
                        <a:rPr sz="860" i="0" b="0">
                          <a:solidFill>
                            <a:srgbClr val="1B1B1B"/>
                          </a:solidFill>
                          <a:latin typeface="Arial"/>
                        </a:rPr>
                        <a:t> Ramp hình thang có đạo hàm bậc hai </a:t>
                      </a:r>
                      <a:r>
                        <a:rPr sz="860" i="0" b="1">
                          <a:solidFill>
                            <a:srgbClr val="0E2841"/>
                          </a:solidFill>
                          <a:latin typeface="Arial"/>
                        </a:rPr>
                        <a:t>ρ → ∞</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CF1</a:t>
                      </a:r>
                      <a:r>
                        <a:rPr sz="860" i="0" b="0">
                          <a:solidFill>
                            <a:srgbClr val="1B1B1B"/>
                          </a:solidFill>
                          <a:latin typeface="Arial"/>
                        </a:rPr>
                        <a:t> (</a:t>
                      </a:r>
                      <a:r>
                        <a:rPr sz="860" i="0" b="1">
                          <a:solidFill>
                            <a:srgbClr val="0E2841"/>
                          </a:solidFill>
                          <a:latin typeface="Arial"/>
                        </a:rPr>
                        <a:t>S-Curve 7 pha</a:t>
                      </a:r>
                      <a:r>
                        <a:rPr sz="860" i="0" b="0">
                          <a:solidFill>
                            <a:srgbClr val="1B1B1B"/>
                          </a:solidFill>
                          <a:latin typeface="Arial"/>
                        </a:rPr>
                        <a:t>) kháng </a:t>
                      </a:r>
                      <a:r>
                        <a:rPr sz="860" i="0" b="1">
                          <a:solidFill>
                            <a:srgbClr val="0E2841"/>
                          </a:solidFill>
                          <a:latin typeface="Arial"/>
                        </a:rPr>
                        <a:t>N1 (h=12m)</a:t>
                      </a:r>
                      <a:r>
                        <a:rPr sz="860" i="0" b="0">
                          <a:solidFill>
                            <a:srgbClr val="1B1B1B"/>
                          </a:solidFill>
                          <a:latin typeface="Arial"/>
                        </a:rPr>
                        <a:t>; chặn </a:t>
                      </a:r>
                      <a:r>
                        <a:rPr sz="860" i="0" b="1">
                          <a:solidFill>
                            <a:srgbClr val="C00000"/>
                          </a:solidFill>
                          <a:latin typeface="Arial"/>
                        </a:rPr>
                        <a:t>E2</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RRM-02, 05</a:t>
                      </a:r>
                      <a:r>
                        <a:rPr sz="860" i="0" b="0">
                          <a:solidFill>
                            <a:srgbClr val="1B1B1B"/>
                          </a:solidFill>
                          <a:latin typeface="Arial"/>
                        </a:rPr>
                        <a:t>
(Cộng hưởng con lắc)</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WBS 3.1</a:t>
                      </a:r>
                      <a:r>
                        <a:rPr sz="860" i="0" b="0">
                          <a:solidFill>
                            <a:srgbClr val="1B1B1B"/>
                          </a:solidFill>
                          <a:latin typeface="Arial"/>
                        </a:rPr>
                        <a:t> (Thuật toán S-Curve </a:t>
                      </a:r>
                      <a:r>
                        <a:rPr sz="860" i="0" b="1">
                          <a:solidFill>
                            <a:srgbClr val="0E2841"/>
                          </a:solidFill>
                          <a:latin typeface="Arial"/>
                        </a:rPr>
                        <a:t>t_j=0.25s</a:t>
                      </a:r>
                      <a:r>
                        <a:rPr sz="860" i="0" b="0">
                          <a:solidFill>
                            <a:srgbClr val="1B1B1B"/>
                          </a:solidFill>
                          <a:latin typeface="Arial"/>
                        </a:rPr>
                        <a:t>)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B1-5] MA TRẬN TRUY VẾT NGƯỢC DMAIC CHI TIẾT — NHÓM PERM (01 ÷ 07)</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Truy vết 1-1 từng yêu cầu </a:t>
            </a:r>
            <a:r>
              <a:rPr sz="1350" i="0" b="1">
                <a:solidFill>
                  <a:srgbClr val="0E2841"/>
                </a:solidFill>
                <a:latin typeface="Arial"/>
              </a:rPr>
              <a:t>SRS-PERM-01..07</a:t>
            </a:r>
            <a:r>
              <a:rPr sz="1350" i="0" b="1">
                <a:solidFill>
                  <a:srgbClr val="C00000"/>
                </a:solidFill>
                <a:latin typeface="Arial"/>
              </a:rPr>
              <a:t> ngược về </a:t>
            </a:r>
            <a:r>
              <a:rPr sz="1350" i="0" b="1">
                <a:solidFill>
                  <a:srgbClr val="0E2841"/>
                </a:solidFill>
                <a:latin typeface="Arial"/>
              </a:rPr>
              <a:t>HoQ EC ← PRD ← GAP ← P-Diagram ← RRM</a:t>
            </a:r>
            <a:r>
              <a:rPr sz="1350" i="0" b="1">
                <a:solidFill>
                  <a:srgbClr val="C00000"/>
                </a:solidFill>
                <a:latin typeface="Arial"/>
              </a:rPr>
              <a:t> và phân bổ </a:t>
            </a:r>
            <a:r>
              <a:rPr sz="1350" i="0" b="1">
                <a:solidFill>
                  <a:srgbClr val="0E2841"/>
                </a:solidFill>
                <a:latin typeface="Arial"/>
              </a:rPr>
              <a:t>SOW</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B1-5 — Atomic Backward DMAIC RTM (SRS-PERM-01..07) | Backup B1-5 (21/23)</a:t>
            </a:r>
          </a:p>
        </p:txBody>
      </p:sp>
      <p:graphicFrame>
        <p:nvGraphicFramePr>
          <p:cNvPr id="5" name="Table 4"/>
          <p:cNvGraphicFramePr>
            <a:graphicFrameLocks noGrp="1"/>
          </p:cNvGraphicFramePr>
          <p:nvPr/>
        </p:nvGraphicFramePr>
        <p:xfrm>
          <a:off x="310896" y="1234440"/>
          <a:ext cx="11567160" cy="4667279"/>
        </p:xfrm>
        <a:graphic>
          <a:graphicData uri="http://schemas.openxmlformats.org/drawingml/2006/table">
            <a:tbl>
              <a:tblPr firstRow="1" bandRow="1">
                <a:tableStyleId>{5C22544A-7EE6-4342-B048-85BDC9FD1C3A}</a:tableStyleId>
              </a:tblPr>
              <a:tblGrid>
                <a:gridCol w="1234440"/>
                <a:gridCol w="1051560"/>
                <a:gridCol w="1051560"/>
                <a:gridCol w="2331720"/>
                <a:gridCol w="2194560"/>
                <a:gridCol w="1325880"/>
                <a:gridCol w="2377440"/>
              </a:tblGrid>
              <a:tr h="292608">
                <a:tc>
                  <a:txBody>
                    <a:bodyPr wrap="square"/>
                    <a:lstStyle/>
                    <a:p>
                      <a:pPr algn="ctr"/>
                      <a:r>
                        <a:rPr sz="969" b="1">
                          <a:solidFill>
                            <a:srgbClr val="FFFFFF"/>
                          </a:solidFill>
                          <a:latin typeface="Arial"/>
                        </a:rPr>
                        <a:t>Mã SRS</a:t>
                      </a:r>
                    </a:p>
                  </a:txBody>
                  <a:tcPr anchor="ctr" marT="19050" marB="19050" marL="50800" marR="50800">
                    <a:solidFill>
                      <a:srgbClr val="0E2841"/>
                    </a:solidFill>
                  </a:tcPr>
                </a:tc>
                <a:tc>
                  <a:txBody>
                    <a:bodyPr wrap="square"/>
                    <a:lstStyle/>
                    <a:p>
                      <a:pPr algn="ctr"/>
                      <a:r>
                        <a:rPr sz="969" b="1">
                          <a:solidFill>
                            <a:srgbClr val="FFFFFF"/>
                          </a:solidFill>
                          <a:latin typeface="Arial"/>
                        </a:rPr>
                        <a:t>← Cột HoQ EC</a:t>
                      </a:r>
                    </a:p>
                  </a:txBody>
                  <a:tcPr anchor="ctr" marT="19050" marB="19050" marL="50800" marR="50800">
                    <a:solidFill>
                      <a:srgbClr val="0E2841"/>
                    </a:solidFill>
                  </a:tcPr>
                </a:tc>
                <a:tc>
                  <a:txBody>
                    <a:bodyPr wrap="square"/>
                    <a:lstStyle/>
                    <a:p>
                      <a:pPr algn="ctr"/>
                      <a:r>
                        <a:rPr sz="969" b="1">
                          <a:solidFill>
                            <a:srgbClr val="FFFFFF"/>
                          </a:solidFill>
                          <a:latin typeface="Arial"/>
                        </a:rPr>
                        <a:t>← Mã PRD</a:t>
                      </a:r>
                    </a:p>
                  </a:txBody>
                  <a:tcPr anchor="ctr" marT="19050" marB="19050" marL="50800" marR="50800">
                    <a:solidFill>
                      <a:srgbClr val="0E2841"/>
                    </a:solidFill>
                  </a:tcPr>
                </a:tc>
                <a:tc>
                  <a:txBody>
                    <a:bodyPr wrap="square"/>
                    <a:lstStyle/>
                    <a:p>
                      <a:pPr algn="ctr"/>
                      <a:r>
                        <a:rPr sz="969" b="1">
                          <a:solidFill>
                            <a:srgbClr val="FFFFFF"/>
                          </a:solidFill>
                          <a:latin typeface="Arial"/>
                        </a:rPr>
                        <a:t>← Khoảng trống GAP</a:t>
                      </a:r>
                    </a:p>
                  </a:txBody>
                  <a:tcPr anchor="ctr" marT="19050" marB="19050" marL="50800" marR="50800">
                    <a:solidFill>
                      <a:srgbClr val="0E2841"/>
                    </a:solidFill>
                  </a:tcPr>
                </a:tc>
                <a:tc>
                  <a:txBody>
                    <a:bodyPr wrap="square"/>
                    <a:lstStyle/>
                    <a:p>
                      <a:pPr algn="ctr"/>
                      <a:r>
                        <a:rPr sz="969" b="1">
                          <a:solidFill>
                            <a:srgbClr val="FFFFFF"/>
                          </a:solidFill>
                          <a:latin typeface="Arial"/>
                        </a:rPr>
                        <a:t>← Phần tử P-Diagram</a:t>
                      </a:r>
                    </a:p>
                  </a:txBody>
                  <a:tcPr anchor="ctr" marT="19050" marB="19050" marL="50800" marR="50800">
                    <a:solidFill>
                      <a:srgbClr val="0E2841"/>
                    </a:solidFill>
                  </a:tcPr>
                </a:tc>
                <a:tc>
                  <a:txBody>
                    <a:bodyPr wrap="square"/>
                    <a:lstStyle/>
                    <a:p>
                      <a:pPr algn="ctr"/>
                      <a:r>
                        <a:rPr sz="969" b="1">
                          <a:solidFill>
                            <a:srgbClr val="FFFFFF"/>
                          </a:solidFill>
                          <a:latin typeface="Arial"/>
                        </a:rPr>
                        <a:t>← Rủi ro RRM</a:t>
                      </a:r>
                    </a:p>
                  </a:txBody>
                  <a:tcPr anchor="ctr" marT="19050" marB="19050" marL="50800" marR="50800">
                    <a:solidFill>
                      <a:srgbClr val="0E2841"/>
                    </a:solidFill>
                  </a:tcPr>
                </a:tc>
                <a:tc>
                  <a:txBody>
                    <a:bodyPr wrap="square"/>
                    <a:lstStyle/>
                    <a:p>
                      <a:pPr algn="ctr"/>
                      <a:r>
                        <a:rPr sz="969" b="1">
                          <a:solidFill>
                            <a:srgbClr val="FFFFFF"/>
                          </a:solidFill>
                          <a:latin typeface="Arial"/>
                        </a:rPr>
                        <a:t>→ Gói WBS Thực thi &amp; Chủ trì</a:t>
                      </a:r>
                    </a:p>
                  </a:txBody>
                  <a:tcPr anchor="ctr" marT="19050" marB="19050" marL="50800" marR="50800">
                    <a:solidFill>
                      <a:srgbClr val="0E2841"/>
                    </a:solidFill>
                  </a:tcPr>
                </a:tc>
              </a:tr>
              <a:tr h="624953">
                <a:tc>
                  <a:txBody>
                    <a:bodyPr wrap="square"/>
                    <a:lstStyle/>
                    <a:p>
                      <a:pPr algn="ctr"/>
                      <a:r>
                        <a:rPr sz="860" i="0" b="1">
                          <a:solidFill>
                            <a:srgbClr val="0E2841"/>
                          </a:solidFill>
                          <a:latin typeface="Arial"/>
                        </a:rPr>
                        <a:t>SRS-PERM-01</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EC-01, 03</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PRD-03</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GAP-02:</a:t>
                      </a:r>
                      <a:r>
                        <a:rPr sz="860" i="0" b="1">
                          <a:solidFill>
                            <a:srgbClr val="1B1B1B"/>
                          </a:solidFill>
                          <a:latin typeface="Arial"/>
                        </a:rPr>
                        <a:t> Độ trượt tần số làm sai lệch tốc độ khi tải đổi </a:t>
                      </a:r>
                      <a:r>
                        <a:rPr sz="860" i="0" b="1">
                          <a:solidFill>
                            <a:srgbClr val="0E2841"/>
                          </a:solidFill>
                          <a:latin typeface="Arial"/>
                        </a:rPr>
                        <a:t>7.04×</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CF2</a:t>
                      </a:r>
                      <a:r>
                        <a:rPr sz="860" i="0" b="1">
                          <a:solidFill>
                            <a:srgbClr val="1B1B1B"/>
                          </a:solidFill>
                          <a:latin typeface="Arial"/>
                        </a:rPr>
                        <a:t> (PI tốc độ FOC) kháng </a:t>
                      </a:r>
                      <a:r>
                        <a:rPr sz="860" i="0" b="1">
                          <a:solidFill>
                            <a:srgbClr val="0E2841"/>
                          </a:solidFill>
                          <a:latin typeface="Arial"/>
                        </a:rPr>
                        <a:t>N1, N4</a:t>
                      </a:r>
                      <a:r>
                        <a:rPr sz="860" i="0" b="1">
                          <a:solidFill>
                            <a:srgbClr val="1B1B1B"/>
                          </a:solidFill>
                          <a:latin typeface="Arial"/>
                        </a:rPr>
                        <a:t>; đạt </a:t>
                      </a:r>
                      <a:r>
                        <a:rPr sz="860" i="0" b="1">
                          <a:solidFill>
                            <a:srgbClr val="0E2841"/>
                          </a:solidFill>
                          <a:latin typeface="Arial"/>
                        </a:rPr>
                        <a:t>CTQ-01, 02</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RRM-02</a:t>
                      </a:r>
                      <a:r>
                        <a:rPr sz="860" i="0" b="1">
                          <a:solidFill>
                            <a:srgbClr val="1B1B1B"/>
                          </a:solidFill>
                          <a:latin typeface="Arial"/>
                        </a:rPr>
                        <a:t>
(Vọt lố tốc độ &gt; 10%)</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WBS 3.2</a:t>
                      </a:r>
                      <a:r>
                        <a:rPr sz="860" i="0" b="1">
                          <a:solidFill>
                            <a:srgbClr val="1B1B1B"/>
                          </a:solidFill>
                          <a:latin typeface="Arial"/>
                        </a:rPr>
                        <a:t> (Tổng hợp bộ điều chỉnh PI tốc độ) (</a:t>
                      </a:r>
                      <a:r>
                        <a:rPr sz="860" i="0" b="1">
                          <a:solidFill>
                            <a:srgbClr val="0E2841"/>
                          </a:solidFill>
                          <a:latin typeface="Arial"/>
                        </a:rPr>
                        <a:t>Control Lead</a:t>
                      </a:r>
                      <a:r>
                        <a:rPr sz="86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EC-02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PRD-02</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GAP-02:</a:t>
                      </a:r>
                      <a:r>
                        <a:rPr sz="860" i="0" b="0">
                          <a:solidFill>
                            <a:srgbClr val="1B1B1B"/>
                          </a:solidFill>
                          <a:latin typeface="Arial"/>
                        </a:rPr>
                        <a:t> Không giữ được tốc độ bò </a:t>
                      </a:r>
                      <a:r>
                        <a:rPr sz="860" i="0" b="1">
                          <a:solidFill>
                            <a:srgbClr val="0E2841"/>
                          </a:solidFill>
                          <a:latin typeface="Arial"/>
                        </a:rPr>
                        <a:t>0.030÷0.036 m/s</a:t>
                      </a:r>
                      <a:r>
                        <a:rPr sz="860" i="0" b="0">
                          <a:solidFill>
                            <a:srgbClr val="1B1B1B"/>
                          </a:solidFill>
                          <a:latin typeface="Arial"/>
                        </a:rPr>
                        <a:t> khi đầy tải.</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CF2</a:t>
                      </a:r>
                      <a:r>
                        <a:rPr sz="860" i="0" b="0">
                          <a:solidFill>
                            <a:srgbClr val="1B1B1B"/>
                          </a:solidFill>
                          <a:latin typeface="Arial"/>
                        </a:rPr>
                        <a:t> (</a:t>
                      </a:r>
                      <a:r>
                        <a:rPr sz="860" i="0" b="1">
                          <a:solidFill>
                            <a:srgbClr val="0E2841"/>
                          </a:solidFill>
                          <a:latin typeface="Arial"/>
                        </a:rPr>
                        <a:t>D ≥ 10:1</a:t>
                      </a:r>
                      <a:r>
                        <a:rPr sz="860" i="0" b="0">
                          <a:solidFill>
                            <a:srgbClr val="1B1B1B"/>
                          </a:solidFill>
                          <a:latin typeface="Arial"/>
                        </a:rPr>
                        <a:t>) kháng </a:t>
                      </a:r>
                      <a:r>
                        <a:rPr sz="860" i="0" b="1">
                          <a:solidFill>
                            <a:srgbClr val="0E2841"/>
                          </a:solidFill>
                          <a:latin typeface="Arial"/>
                        </a:rPr>
                        <a:t>N1, N3</a:t>
                      </a:r>
                      <a:r>
                        <a:rPr sz="860" i="0" b="0">
                          <a:solidFill>
                            <a:srgbClr val="1B1B1B"/>
                          </a:solidFill>
                          <a:latin typeface="Arial"/>
                        </a:rPr>
                        <a:t>; đạt </a:t>
                      </a:r>
                      <a:r>
                        <a:rPr sz="860" i="0" b="1">
                          <a:solidFill>
                            <a:srgbClr val="0E2841"/>
                          </a:solidFill>
                          <a:latin typeface="Arial"/>
                        </a:rPr>
                        <a:t>CTQ-03</a:t>
                      </a:r>
                      <a:r>
                        <a:rPr sz="860" i="0" b="0">
                          <a:solidFill>
                            <a:srgbClr val="1B1B1B"/>
                          </a:solidFill>
                          <a:latin typeface="Arial"/>
                        </a:rPr>
                        <a:t>.</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C00000"/>
                          </a:solidFill>
                          <a:latin typeface="Arial"/>
                        </a:rPr>
                        <a:t>RRM-03</a:t>
                      </a:r>
                      <a:r>
                        <a:rPr sz="860" i="0" b="0">
                          <a:solidFill>
                            <a:srgbClr val="1B1B1B"/>
                          </a:solidFill>
                          <a:latin typeface="Arial"/>
                        </a:rPr>
                        <a:t>
(Giật cục ở tốc độ thấp)</a:t>
                      </a:r>
                    </a:p>
                  </a:txBody>
                  <a:tcPr anchor="ctr" marT="19050" marB="19050" marL="50800" marR="50800">
                    <a:solidFill>
                      <a:srgbClr val="F8F9FA"/>
                    </a:solidFill>
                  </a:tcPr>
                </a:tc>
                <a:tc>
                  <a:txBody>
                    <a:bodyPr wrap="square"/>
                    <a:lstStyle/>
                    <a:p>
                      <a:pPr algn="l"/>
                      <a:r>
                        <a:rPr sz="860" i="0" b="0">
                          <a:solidFill>
                            <a:srgbClr val="1B1B1B"/>
                          </a:solidFill>
                          <a:latin typeface="Arial"/>
                        </a:rPr>
                        <a:t>→ </a:t>
                      </a:r>
                      <a:r>
                        <a:rPr sz="860" i="0" b="1">
                          <a:solidFill>
                            <a:srgbClr val="0E2841"/>
                          </a:solidFill>
                          <a:latin typeface="Arial"/>
                        </a:rPr>
                        <a:t>WBS 3.2, 4.2</a:t>
                      </a:r>
                      <a:r>
                        <a:rPr sz="860" i="0" b="0">
                          <a:solidFill>
                            <a:srgbClr val="1B1B1B"/>
                          </a:solidFill>
                          <a:latin typeface="Arial"/>
                        </a:rPr>
                        <a:t> (Kiểm nghiệm vùng tốc độ bò Creep) (</a:t>
                      </a:r>
                      <a:r>
                        <a:rPr sz="860" i="0" b="1">
                          <a:solidFill>
                            <a:srgbClr val="0E2841"/>
                          </a:solidFill>
                          <a:latin typeface="Arial"/>
                        </a:rPr>
                        <a:t>Control Lead</a:t>
                      </a:r>
                      <a:r>
                        <a:rPr sz="860" i="0" b="0">
                          <a:solidFill>
                            <a:srgbClr val="1B1B1B"/>
                          </a:solidFill>
                          <a:latin typeface="Arial"/>
                        </a:rPr>
                        <a:t>)</a:t>
                      </a:r>
                    </a:p>
                  </a:txBody>
                  <a:tcPr anchor="ctr" marT="19050" marB="19050" marL="50800" marR="50800">
                    <a:solidFill>
                      <a:srgbClr val="F8F9FA"/>
                    </a:solidFill>
                  </a:tcPr>
                </a:tc>
              </a:tr>
              <a:tr h="624953">
                <a:tc>
                  <a:txBody>
                    <a:bodyPr wrap="square"/>
                    <a:lstStyle/>
                    <a:p>
                      <a:pPr algn="ctr"/>
                      <a:r>
                        <a:rPr sz="860" i="0" b="1">
                          <a:solidFill>
                            <a:srgbClr val="0E2841"/>
                          </a:solidFill>
                          <a:latin typeface="Arial"/>
                        </a:rPr>
                        <a:t>SRS-PERM-03</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EC-04, 05</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PRD-06</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GAP-05:</a:t>
                      </a:r>
                      <a:r>
                        <a:rPr sz="860" i="0" b="1">
                          <a:solidFill>
                            <a:srgbClr val="1B1B1B"/>
                          </a:solidFill>
                          <a:latin typeface="Arial"/>
                        </a:rPr>
                        <a:t> Thiếu giới hạn định lượng cho </a:t>
                      </a:r>
                      <a:r>
                        <a:rPr sz="860" i="0" b="1">
                          <a:solidFill>
                            <a:srgbClr val="0E2841"/>
                          </a:solidFill>
                          <a:latin typeface="Arial"/>
                        </a:rPr>
                        <a:t>|a| ≤ 0.5</a:t>
                      </a:r>
                      <a:r>
                        <a:rPr sz="860" i="0" b="1">
                          <a:solidFill>
                            <a:srgbClr val="1B1B1B"/>
                          </a:solidFill>
                          <a:latin typeface="Arial"/>
                        </a:rPr>
                        <a:t> và </a:t>
                      </a:r>
                      <a:r>
                        <a:rPr sz="860" i="0" b="1">
                          <a:solidFill>
                            <a:srgbClr val="0E2841"/>
                          </a:solidFill>
                          <a:latin typeface="Arial"/>
                        </a:rPr>
                        <a:t>|ρ| ≤ 2.0</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CF1</a:t>
                      </a:r>
                      <a:r>
                        <a:rPr sz="860" i="0" b="1">
                          <a:solidFill>
                            <a:srgbClr val="1B1B1B"/>
                          </a:solidFill>
                          <a:latin typeface="Arial"/>
                        </a:rPr>
                        <a:t> kháng </a:t>
                      </a:r>
                      <a:r>
                        <a:rPr sz="860" i="0" b="1">
                          <a:solidFill>
                            <a:srgbClr val="0E2841"/>
                          </a:solidFill>
                          <a:latin typeface="Arial"/>
                        </a:rPr>
                        <a:t>N1 (h=12m), N3 (μ=0.2)</a:t>
                      </a:r>
                      <a:r>
                        <a:rPr sz="860" i="0" b="1">
                          <a:solidFill>
                            <a:srgbClr val="1B1B1B"/>
                          </a:solidFill>
                          <a:latin typeface="Arial"/>
                        </a:rPr>
                        <a:t>; chặn </a:t>
                      </a:r>
                      <a:r>
                        <a:rPr sz="860" i="0" b="1">
                          <a:solidFill>
                            <a:srgbClr val="C00000"/>
                          </a:solidFill>
                          <a:latin typeface="Arial"/>
                        </a:rPr>
                        <a:t>E2 (CTS-05)</a:t>
                      </a:r>
                      <a:r>
                        <a:rPr sz="860" i="0" b="1">
                          <a:solidFill>
                            <a:srgbClr val="1B1B1B"/>
                          </a:solidFill>
                          <a:latin typeface="Arial"/>
                        </a:rPr>
                        <a:t>.</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C00000"/>
                          </a:solidFill>
                          <a:latin typeface="Arial"/>
                        </a:rPr>
                        <a:t>RRM-01</a:t>
                      </a:r>
                      <a:r>
                        <a:rPr sz="860" i="0" b="1">
                          <a:solidFill>
                            <a:srgbClr val="1B1B1B"/>
                          </a:solidFill>
                          <a:latin typeface="Arial"/>
                        </a:rPr>
                        <a:t> (Trượt bánh)
← </a:t>
                      </a:r>
                      <a:r>
                        <a:rPr sz="860" i="0" b="1">
                          <a:solidFill>
                            <a:srgbClr val="C00000"/>
                          </a:solidFill>
                          <a:latin typeface="Arial"/>
                        </a:rPr>
                        <a:t>RRM-02</a:t>
                      </a:r>
                      <a:r>
                        <a:rPr sz="860" i="0" b="1">
                          <a:solidFill>
                            <a:srgbClr val="1B1B1B"/>
                          </a:solidFill>
                          <a:latin typeface="Arial"/>
                        </a:rPr>
                        <a:t> (Lắc cáp)</a:t>
                      </a:r>
                    </a:p>
                  </a:txBody>
                  <a:tcPr anchor="ctr" marT="19050" marB="19050" marL="50800" marR="50800">
                    <a:solidFill>
                      <a:srgbClr val="FDEDEC"/>
                    </a:solidFill>
                  </a:tcPr>
                </a:tc>
                <a:tc>
                  <a:txBody>
                    <a:bodyPr wrap="square"/>
                    <a:lstStyle/>
                    <a:p>
                      <a:pPr algn="l"/>
                      <a:r>
                        <a:rPr sz="860" i="0" b="1">
                          <a:solidFill>
                            <a:srgbClr val="1B1B1B"/>
                          </a:solidFill>
                          <a:latin typeface="Arial"/>
                        </a:rPr>
                        <a:t>→ </a:t>
                      </a:r>
                      <a:r>
                        <a:rPr sz="860" i="0" b="1">
                          <a:solidFill>
                            <a:srgbClr val="0E2841"/>
                          </a:solidFill>
                          <a:latin typeface="Arial"/>
                        </a:rPr>
                        <a:t>WBS 2.1, 3.1, 4.1</a:t>
                      </a:r>
                      <a:r>
                        <a:rPr sz="860" i="0" b="1">
                          <a:solidFill>
                            <a:srgbClr val="1B1B1B"/>
                          </a:solidFill>
                          <a:latin typeface="Arial"/>
                        </a:rPr>
                        <a:t> (Tính </a:t>
                      </a:r>
                      <a:r>
                        <a:rPr sz="860" i="0" b="1">
                          <a:solidFill>
                            <a:srgbClr val="0E2841"/>
                          </a:solidFill>
                          <a:latin typeface="Arial"/>
                        </a:rPr>
                        <a:t>k_bám = 3.92</a:t>
                      </a:r>
                      <a:r>
                        <a:rPr sz="860" i="0" b="1">
                          <a:solidFill>
                            <a:srgbClr val="1B1B1B"/>
                          </a:solidFill>
                          <a:latin typeface="Arial"/>
                        </a:rPr>
                        <a:t> &amp; đo </a:t>
                      </a:r>
                      <a:r>
                        <a:rPr sz="860" i="0" b="1">
                          <a:solidFill>
                            <a:srgbClr val="0E2841"/>
                          </a:solidFill>
                          <a:latin typeface="Arial"/>
                        </a:rPr>
                        <a:t>a, ρ</a:t>
                      </a:r>
                      <a:r>
                        <a:rPr sz="860" i="0" b="1">
                          <a:solidFill>
                            <a:srgbClr val="1B1B1B"/>
                          </a:solidFill>
                          <a:latin typeface="Arial"/>
                        </a:rPr>
                        <a:t>) (</a:t>
                      </a:r>
                      <a:r>
                        <a:rPr sz="860" i="0" b="1">
                          <a:solidFill>
                            <a:srgbClr val="0E2841"/>
                          </a:solidFill>
                          <a:latin typeface="Arial"/>
                        </a:rPr>
                        <a:t>Control + Mech</a:t>
                      </a:r>
                      <a:r>
                        <a:rPr sz="860" i="0" b="1">
                          <a:solidFill>
                            <a:srgbClr val="1B1B1B"/>
                          </a:solidFill>
                          <a:latin typeface="Arial"/>
                        </a:rPr>
                        <a:t>)</a:t>
                      </a:r>
                    </a:p>
                  </a:txBody>
                  <a:tcPr anchor="ctr" marT="19050" marB="19050" marL="50800" marR="50800">
                    <a:solidFill>
                      <a:srgbClr val="FDEDEC"/>
                    </a:solidFill>
                  </a:tcPr>
                </a:tc>
              </a:tr>
              <a:tr h="624953">
                <a:tc>
                  <a:txBody>
                    <a:bodyPr wrap="square"/>
                    <a:lstStyle/>
                    <a:p>
                      <a:pPr algn="ctr"/>
                      <a:r>
                        <a:rPr sz="860" i="0" b="1">
                          <a:solidFill>
                            <a:srgbClr val="0E2841"/>
                          </a:solidFill>
                          <a:latin typeface="Arial"/>
                        </a:rPr>
                        <a:t>SRS-PERM-04</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EC-08</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PRD-07</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GAP-06:</a:t>
                      </a:r>
                      <a:r>
                        <a:rPr sz="860" i="0" b="1">
                          <a:solidFill>
                            <a:srgbClr val="1B1B1B"/>
                          </a:solidFill>
                          <a:latin typeface="Arial"/>
                        </a:rPr>
                        <a:t> Chọn động cơ theo S1 gây dư công suất hoặc thiếu kiểm nhiệt.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CF5</a:t>
                      </a:r>
                      <a:r>
                        <a:rPr sz="860" i="0" b="1">
                          <a:solidFill>
                            <a:srgbClr val="1B1B1B"/>
                          </a:solidFill>
                          <a:latin typeface="Arial"/>
                        </a:rPr>
                        <a:t> (</a:t>
                      </a:r>
                      <a:r>
                        <a:rPr sz="860" i="0" b="1">
                          <a:solidFill>
                            <a:srgbClr val="0E2841"/>
                          </a:solidFill>
                          <a:latin typeface="Arial"/>
                        </a:rPr>
                        <a:t>k_dt ∈ [1.20; 1.50]</a:t>
                      </a:r>
                      <a:r>
                        <a:rPr sz="860" i="0" b="1">
                          <a:solidFill>
                            <a:srgbClr val="1B1B1B"/>
                          </a:solidFill>
                          <a:latin typeface="Arial"/>
                        </a:rPr>
                        <a:t>) kháng </a:t>
                      </a:r>
                      <a:r>
                        <a:rPr sz="860" i="0" b="1">
                          <a:solidFill>
                            <a:srgbClr val="0E2841"/>
                          </a:solidFill>
                          <a:latin typeface="Arial"/>
                        </a:rPr>
                        <a:t>N1, N4 (40°C)</a:t>
                      </a:r>
                      <a:r>
                        <a:rPr sz="860" i="0" b="1">
                          <a:solidFill>
                            <a:srgbClr val="1B1B1B"/>
                          </a:solidFill>
                          <a:latin typeface="Arial"/>
                        </a:rPr>
                        <a:t>; chặn </a:t>
                      </a:r>
                      <a:r>
                        <a:rPr sz="860" i="0" b="1">
                          <a:solidFill>
                            <a:srgbClr val="C00000"/>
                          </a:solidFill>
                          <a:latin typeface="Arial"/>
                        </a:rPr>
                        <a:t>E4</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RRM-04</a:t>
                      </a:r>
                      <a:r>
                        <a:rPr sz="860" i="0" b="1">
                          <a:solidFill>
                            <a:srgbClr val="1B1B1B"/>
                          </a:solidFill>
                          <a:latin typeface="Arial"/>
                        </a:rPr>
                        <a:t>
(Quá nhiệt cuộn dây)</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WBS 2.1, 2.2</a:t>
                      </a:r>
                      <a:r>
                        <a:rPr sz="860" i="0" b="1">
                          <a:solidFill>
                            <a:srgbClr val="1B1B1B"/>
                          </a:solidFill>
                          <a:latin typeface="Arial"/>
                        </a:rPr>
                        <a:t> (Biểu đồ phụ tải &amp; công suất </a:t>
                      </a:r>
                      <a:r>
                        <a:rPr sz="860" i="0" b="1">
                          <a:solidFill>
                            <a:srgbClr val="0E2841"/>
                          </a:solidFill>
                          <a:latin typeface="Arial"/>
                        </a:rPr>
                        <a:t>P_eq,S340%</a:t>
                      </a:r>
                      <a:r>
                        <a:rPr sz="860" i="0" b="1">
                          <a:solidFill>
                            <a:srgbClr val="1B1B1B"/>
                          </a:solidFill>
                          <a:latin typeface="Arial"/>
                        </a:rPr>
                        <a:t>) (</a:t>
                      </a:r>
                      <a:r>
                        <a:rPr sz="860" i="0" b="1">
                          <a:solidFill>
                            <a:srgbClr val="0E2841"/>
                          </a:solidFill>
                          <a:latin typeface="Arial"/>
                        </a:rPr>
                        <a:t>Drive Lead</a:t>
                      </a:r>
                      <a:r>
                        <a:rPr sz="86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SRS-PERM-05</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EC-08</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PRD-06</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GAP-06:</a:t>
                      </a:r>
                      <a:r>
                        <a:rPr sz="860" i="0" b="0">
                          <a:solidFill>
                            <a:srgbClr val="1B1B1B"/>
                          </a:solidFill>
                          <a:latin typeface="Arial"/>
                        </a:rPr>
                        <a:t> Chưa kiểm tra bội số mô-men quá tải </a:t>
                      </a:r>
                      <a:r>
                        <a:rPr sz="860" i="0" b="1">
                          <a:solidFill>
                            <a:srgbClr val="0E2841"/>
                          </a:solidFill>
                          <a:latin typeface="Arial"/>
                        </a:rPr>
                        <a:t>λ_max ≥ 2.0</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CF5</a:t>
                      </a:r>
                      <a:r>
                        <a:rPr sz="860" i="0" b="0">
                          <a:solidFill>
                            <a:srgbClr val="1B1B1B"/>
                          </a:solidFill>
                          <a:latin typeface="Arial"/>
                        </a:rPr>
                        <a:t> kháng </a:t>
                      </a:r>
                      <a:r>
                        <a:rPr sz="860" i="0" b="1">
                          <a:solidFill>
                            <a:srgbClr val="0E2841"/>
                          </a:solidFill>
                          <a:latin typeface="Arial"/>
                        </a:rPr>
                        <a:t>N1</a:t>
                      </a:r>
                      <a:r>
                        <a:rPr sz="860" i="0" b="0">
                          <a:solidFill>
                            <a:srgbClr val="1B1B1B"/>
                          </a:solidFill>
                          <a:latin typeface="Arial"/>
                        </a:rPr>
                        <a:t> (tải đỉnh mở máy </a:t>
                      </a:r>
                      <a:r>
                        <a:rPr sz="860" i="0" b="1">
                          <a:solidFill>
                            <a:srgbClr val="0E2841"/>
                          </a:solidFill>
                          <a:latin typeface="Arial"/>
                        </a:rPr>
                        <a:t>14,244 kg</a:t>
                      </a:r>
                      <a:r>
                        <a:rPr sz="860" i="0" b="0">
                          <a:solidFill>
                            <a:srgbClr val="1B1B1B"/>
                          </a:solidFill>
                          <a:latin typeface="Arial"/>
                        </a:rPr>
                        <a:t>); đạt </a:t>
                      </a:r>
                      <a:r>
                        <a:rPr sz="860" i="0" b="1">
                          <a:solidFill>
                            <a:srgbClr val="0E2841"/>
                          </a:solidFill>
                          <a:latin typeface="Arial"/>
                        </a:rPr>
                        <a:t>CTQ-08</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RRM-01</a:t>
                      </a:r>
                      <a:r>
                        <a:rPr sz="860" i="0" b="0">
                          <a:solidFill>
                            <a:srgbClr val="1B1B1B"/>
                          </a:solidFill>
                          <a:latin typeface="Arial"/>
                        </a:rPr>
                        <a:t>
(Lật tốc khi gia tốc)</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WBS 2.2</a:t>
                      </a:r>
                      <a:r>
                        <a:rPr sz="860" i="0" b="0">
                          <a:solidFill>
                            <a:srgbClr val="1B1B1B"/>
                          </a:solidFill>
                          <a:latin typeface="Arial"/>
                        </a:rPr>
                        <a:t> (Kiểm nghiệm quá tải động cơ &amp; biến tần) (</a:t>
                      </a:r>
                      <a:r>
                        <a:rPr sz="860" i="0" b="1">
                          <a:solidFill>
                            <a:srgbClr val="0E2841"/>
                          </a:solidFill>
                          <a:latin typeface="Arial"/>
                        </a:rPr>
                        <a:t>Drive Lead</a:t>
                      </a:r>
                      <a:r>
                        <a:rPr sz="860" i="0" b="0">
                          <a:solidFill>
                            <a:srgbClr val="1B1B1B"/>
                          </a:solidFill>
                          <a:latin typeface="Arial"/>
                        </a:rPr>
                        <a:t>)</a:t>
                      </a:r>
                    </a:p>
                  </a:txBody>
                  <a:tcPr anchor="ctr" marT="19050" marB="19050" marL="50800" marR="50800">
                    <a:solidFill>
                      <a:srgbClr val="FFFFFF"/>
                    </a:solidFill>
                  </a:tcPr>
                </a:tc>
              </a:tr>
              <a:tr h="624953">
                <a:tc>
                  <a:txBody>
                    <a:bodyPr wrap="square"/>
                    <a:lstStyle/>
                    <a:p>
                      <a:pPr algn="ctr"/>
                      <a:r>
                        <a:rPr sz="860" i="0" b="1">
                          <a:solidFill>
                            <a:srgbClr val="0E2841"/>
                          </a:solidFill>
                          <a:latin typeface="Arial"/>
                        </a:rPr>
                        <a:t>SRS-PERM-06</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ASM-02</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PRD-08</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GAP-07:</a:t>
                      </a:r>
                      <a:r>
                        <a:rPr sz="860" i="0" b="1">
                          <a:solidFill>
                            <a:srgbClr val="1B1B1B"/>
                          </a:solidFill>
                          <a:latin typeface="Arial"/>
                        </a:rPr>
                        <a:t> Bỏ qua ảnh hưởng sụt áp lưới </a:t>
                      </a:r>
                      <a:r>
                        <a:rPr sz="860" i="0" b="1">
                          <a:solidFill>
                            <a:srgbClr val="0E2841"/>
                          </a:solidFill>
                          <a:latin typeface="Arial"/>
                        </a:rPr>
                        <a:t>-10% (342V AC)</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CF2, CF4</a:t>
                      </a:r>
                      <a:r>
                        <a:rPr sz="860" i="0" b="1">
                          <a:solidFill>
                            <a:srgbClr val="1B1B1B"/>
                          </a:solidFill>
                          <a:latin typeface="Arial"/>
                        </a:rPr>
                        <a:t> kháng </a:t>
                      </a:r>
                      <a:r>
                        <a:rPr sz="860" i="0" b="1">
                          <a:solidFill>
                            <a:srgbClr val="0E2841"/>
                          </a:solidFill>
                          <a:latin typeface="Arial"/>
                        </a:rPr>
                        <a:t>N2 (342÷418V AC)</a:t>
                      </a:r>
                      <a:r>
                        <a:rPr sz="860" i="0" b="1">
                          <a:solidFill>
                            <a:srgbClr val="1B1B1B"/>
                          </a:solidFill>
                          <a:latin typeface="Arial"/>
                        </a:rPr>
                        <a:t>; chặn lỗi </a:t>
                      </a:r>
                      <a:r>
                        <a:rPr sz="860" i="0" b="1">
                          <a:solidFill>
                            <a:srgbClr val="C00000"/>
                          </a:solidFill>
                          <a:latin typeface="Arial"/>
                        </a:rPr>
                        <a:t>E3, E4</a:t>
                      </a:r>
                      <a:r>
                        <a:rPr sz="860" i="0" b="1">
                          <a:solidFill>
                            <a:srgbClr val="1B1B1B"/>
                          </a:solidFill>
                          <a:latin typeface="Arial"/>
                        </a:rPr>
                        <a:t>.</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C00000"/>
                          </a:solidFill>
                          <a:latin typeface="Arial"/>
                        </a:rPr>
                        <a:t>RRM-04</a:t>
                      </a:r>
                      <a:r>
                        <a:rPr sz="860" i="0" b="1">
                          <a:solidFill>
                            <a:srgbClr val="1B1B1B"/>
                          </a:solidFill>
                          <a:latin typeface="Arial"/>
                        </a:rPr>
                        <a:t>
(Bão hòa áp khi sụt lưới)</a:t>
                      </a:r>
                    </a:p>
                  </a:txBody>
                  <a:tcPr anchor="ctr" marT="19050" marB="19050" marL="50800" marR="50800">
                    <a:solidFill>
                      <a:srgbClr val="FEF9E7"/>
                    </a:solidFill>
                  </a:tcPr>
                </a:tc>
                <a:tc>
                  <a:txBody>
                    <a:bodyPr wrap="square"/>
                    <a:lstStyle/>
                    <a:p>
                      <a:pPr algn="l"/>
                      <a:r>
                        <a:rPr sz="860" i="0" b="1">
                          <a:solidFill>
                            <a:srgbClr val="1B1B1B"/>
                          </a:solidFill>
                          <a:latin typeface="Arial"/>
                        </a:rPr>
                        <a:t>→ </a:t>
                      </a:r>
                      <a:r>
                        <a:rPr sz="860" i="0" b="1">
                          <a:solidFill>
                            <a:srgbClr val="0E2841"/>
                          </a:solidFill>
                          <a:latin typeface="Arial"/>
                        </a:rPr>
                        <a:t>WBS 2.3, 4.2</a:t>
                      </a:r>
                      <a:r>
                        <a:rPr sz="860" i="0" b="1">
                          <a:solidFill>
                            <a:srgbClr val="1B1B1B"/>
                          </a:solidFill>
                          <a:latin typeface="Arial"/>
                        </a:rPr>
                        <a:t> (Mô phỏng tại biên áp </a:t>
                      </a:r>
                      <a:r>
                        <a:rPr sz="860" i="0" b="1">
                          <a:solidFill>
                            <a:srgbClr val="0E2841"/>
                          </a:solidFill>
                          <a:latin typeface="Arial"/>
                        </a:rPr>
                        <a:t>342V &amp; 418V</a:t>
                      </a:r>
                      <a:r>
                        <a:rPr sz="860" i="0" b="1">
                          <a:solidFill>
                            <a:srgbClr val="1B1B1B"/>
                          </a:solidFill>
                          <a:latin typeface="Arial"/>
                        </a:rPr>
                        <a:t>) (</a:t>
                      </a:r>
                      <a:r>
                        <a:rPr sz="860" i="0" b="1">
                          <a:solidFill>
                            <a:srgbClr val="0E2841"/>
                          </a:solidFill>
                          <a:latin typeface="Arial"/>
                        </a:rPr>
                        <a:t>Drive Lead</a:t>
                      </a:r>
                      <a:r>
                        <a:rPr sz="860" i="0" b="1">
                          <a:solidFill>
                            <a:srgbClr val="1B1B1B"/>
                          </a:solidFill>
                          <a:latin typeface="Arial"/>
                        </a:rPr>
                        <a:t>)</a:t>
                      </a:r>
                    </a:p>
                  </a:txBody>
                  <a:tcPr anchor="ctr" marT="19050" marB="19050" marL="50800" marR="50800">
                    <a:solidFill>
                      <a:srgbClr val="FEF9E7"/>
                    </a:solidFill>
                  </a:tcPr>
                </a:tc>
              </a:tr>
              <a:tr h="624953">
                <a:tc>
                  <a:txBody>
                    <a:bodyPr wrap="square"/>
                    <a:lstStyle/>
                    <a:p>
                      <a:pPr algn="ctr"/>
                      <a:r>
                        <a:rPr sz="860" i="0" b="1">
                          <a:solidFill>
                            <a:srgbClr val="0E2841"/>
                          </a:solidFill>
                          <a:latin typeface="Arial"/>
                        </a:rPr>
                        <a:t>SRS-PERM-07</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INP-01..04</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PRD-01</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GAP-07:</a:t>
                      </a:r>
                      <a:r>
                        <a:rPr sz="860" i="0" b="0">
                          <a:solidFill>
                            <a:srgbClr val="1B1B1B"/>
                          </a:solidFill>
                          <a:latin typeface="Arial"/>
                        </a:rPr>
                        <a:t> Sai lệch quy đổi quán tính &amp; lực cản khi tải đổi </a:t>
                      </a:r>
                      <a:r>
                        <a:rPr sz="860" i="0" b="1">
                          <a:solidFill>
                            <a:srgbClr val="0E2841"/>
                          </a:solidFill>
                          <a:latin typeface="Arial"/>
                        </a:rPr>
                        <a:t>7.04×</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CF6</a:t>
                      </a:r>
                      <a:r>
                        <a:rPr sz="860" i="0" b="0">
                          <a:solidFill>
                            <a:srgbClr val="1B1B1B"/>
                          </a:solidFill>
                          <a:latin typeface="Arial"/>
                        </a:rPr>
                        <a:t> (</a:t>
                      </a:r>
                      <a:r>
                        <a:rPr sz="860" i="0" b="1">
                          <a:solidFill>
                            <a:srgbClr val="0E2841"/>
                          </a:solidFill>
                          <a:latin typeface="Arial"/>
                        </a:rPr>
                        <a:t>d=0.25m, η=0.96</a:t>
                      </a:r>
                      <a:r>
                        <a:rPr sz="860" i="0" b="0">
                          <a:solidFill>
                            <a:srgbClr val="1B1B1B"/>
                          </a:solidFill>
                          <a:latin typeface="Arial"/>
                        </a:rPr>
                        <a:t>) kháng </a:t>
                      </a:r>
                      <a:r>
                        <a:rPr sz="860" i="0" b="1">
                          <a:solidFill>
                            <a:srgbClr val="0E2841"/>
                          </a:solidFill>
                          <a:latin typeface="Arial"/>
                        </a:rPr>
                        <a:t>N1, N3</a:t>
                      </a:r>
                      <a:r>
                        <a:rPr sz="860" i="0" b="0">
                          <a:solidFill>
                            <a:srgbClr val="1B1B1B"/>
                          </a:solidFill>
                          <a:latin typeface="Arial"/>
                        </a:rPr>
                        <a:t>; đạt </a:t>
                      </a:r>
                      <a:r>
                        <a:rPr sz="860" i="0" b="1">
                          <a:solidFill>
                            <a:srgbClr val="0E2841"/>
                          </a:solidFill>
                          <a:latin typeface="Arial"/>
                        </a:rPr>
                        <a:t>CTQ-08</a:t>
                      </a:r>
                      <a:r>
                        <a:rPr sz="860" i="0" b="0">
                          <a:solidFill>
                            <a:srgbClr val="1B1B1B"/>
                          </a:solidFill>
                          <a:latin typeface="Arial"/>
                        </a:rPr>
                        <a:t>.</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C00000"/>
                          </a:solidFill>
                          <a:latin typeface="Arial"/>
                        </a:rPr>
                        <a:t>RRM-01</a:t>
                      </a:r>
                      <a:r>
                        <a:rPr sz="860" i="0" b="0">
                          <a:solidFill>
                            <a:srgbClr val="1B1B1B"/>
                          </a:solidFill>
                          <a:latin typeface="Arial"/>
                        </a:rPr>
                        <a:t>
(Sai lệch tỷ số truyền)</a:t>
                      </a:r>
                    </a:p>
                  </a:txBody>
                  <a:tcPr anchor="ctr" marT="19050" marB="19050" marL="50800" marR="50800">
                    <a:solidFill>
                      <a:srgbClr val="FFFFFF"/>
                    </a:solidFill>
                  </a:tcPr>
                </a:tc>
                <a:tc>
                  <a:txBody>
                    <a:bodyPr wrap="square"/>
                    <a:lstStyle/>
                    <a:p>
                      <a:pPr algn="l"/>
                      <a:r>
                        <a:rPr sz="860" i="0" b="0">
                          <a:solidFill>
                            <a:srgbClr val="1B1B1B"/>
                          </a:solidFill>
                          <a:latin typeface="Arial"/>
                        </a:rPr>
                        <a:t>→ </a:t>
                      </a:r>
                      <a:r>
                        <a:rPr sz="860" i="0" b="1">
                          <a:solidFill>
                            <a:srgbClr val="0E2841"/>
                          </a:solidFill>
                          <a:latin typeface="Arial"/>
                        </a:rPr>
                        <a:t>WBS 2.1</a:t>
                      </a:r>
                      <a:r>
                        <a:rPr sz="860" i="0" b="0">
                          <a:solidFill>
                            <a:srgbClr val="1B1B1B"/>
                          </a:solidFill>
                          <a:latin typeface="Arial"/>
                        </a:rPr>
                        <a:t> (Tính chọn hộp giảm tốc </a:t>
                      </a:r>
                      <a:r>
                        <a:rPr sz="860" i="0" b="1">
                          <a:solidFill>
                            <a:srgbClr val="0E2841"/>
                          </a:solidFill>
                          <a:latin typeface="Arial"/>
                        </a:rPr>
                        <a:t>i</a:t>
                      </a:r>
                      <a:r>
                        <a:rPr sz="860" i="0" b="0">
                          <a:solidFill>
                            <a:srgbClr val="1B1B1B"/>
                          </a:solidFill>
                          <a:latin typeface="Arial"/>
                        </a:rPr>
                        <a:t> &amp; mô-men quy đổi) (</a:t>
                      </a:r>
                      <a:r>
                        <a:rPr sz="860" i="0" b="1">
                          <a:solidFill>
                            <a:srgbClr val="0E2841"/>
                          </a:solidFill>
                          <a:latin typeface="Arial"/>
                        </a:rPr>
                        <a:t>Mech Lead</a:t>
                      </a:r>
                      <a:r>
                        <a:rPr sz="860" i="0" b="0">
                          <a:solidFill>
                            <a:srgbClr val="1B1B1B"/>
                          </a:solidFill>
                          <a:latin typeface="Arial"/>
                        </a:rPr>
                        <a:t>)</a:t>
                      </a:r>
                    </a:p>
                  </a:txBody>
                  <a:tcPr anchor="ctr" marT="19050" marB="19050" marL="50800" marR="50800">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B1-6] CẤU TRÚC KÉP DVP&amp;R (PLAN &amp; REPORT) &amp; CƠ CHẾ TIÊM NHIỄU N1 ÷ N4</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Thiết kế sẵn biểu mẫu </a:t>
            </a:r>
            <a:r>
              <a:rPr sz="1350" i="0" b="1">
                <a:solidFill>
                  <a:srgbClr val="0E2841"/>
                </a:solidFill>
                <a:latin typeface="Arial"/>
              </a:rPr>
              <a:t>Dual-Structure DVP&amp;R</a:t>
            </a:r>
            <a:r>
              <a:rPr sz="1350" i="0" b="1">
                <a:solidFill>
                  <a:srgbClr val="C00000"/>
                </a:solidFill>
                <a:latin typeface="Arial"/>
              </a:rPr>
              <a:t> (Khối 1 lập Plan → Khối 5 điền Report) &amp; phương trình tiêm nhiễu vật lý</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B1-6 — Dual-Structure DVP&amp;R Template &amp; Noise Injection Physics | Backup B1-6 (22/23)</a:t>
            </a:r>
          </a:p>
        </p:txBody>
      </p:sp>
      <p:graphicFrame>
        <p:nvGraphicFramePr>
          <p:cNvPr id="5" name="Table 4"/>
          <p:cNvGraphicFramePr>
            <a:graphicFrameLocks noGrp="1"/>
          </p:cNvGraphicFramePr>
          <p:nvPr/>
        </p:nvGraphicFramePr>
        <p:xfrm>
          <a:off x="310896" y="1234440"/>
          <a:ext cx="11567160" cy="2664560"/>
        </p:xfrm>
        <a:graphic>
          <a:graphicData uri="http://schemas.openxmlformats.org/drawingml/2006/table">
            <a:tbl>
              <a:tblPr firstRow="1" bandRow="1">
                <a:tableStyleId>{5C22544A-7EE6-4342-B048-85BDC9FD1C3A}</a:tableStyleId>
              </a:tblPr>
              <a:tblGrid>
                <a:gridCol w="1143000"/>
                <a:gridCol w="2606040"/>
                <a:gridCol w="6080760"/>
                <a:gridCol w="1737360"/>
              </a:tblGrid>
              <a:tr h="292608">
                <a:tc>
                  <a:txBody>
                    <a:bodyPr wrap="square"/>
                    <a:lstStyle/>
                    <a:p>
                      <a:pPr algn="ctr"/>
                      <a:r>
                        <a:rPr sz="1000" b="1">
                          <a:solidFill>
                            <a:srgbClr val="FFFFFF"/>
                          </a:solidFill>
                          <a:latin typeface="Arial"/>
                        </a:rPr>
                        <a:t>Mã Nhiễu</a:t>
                      </a:r>
                    </a:p>
                  </a:txBody>
                  <a:tcPr anchor="ctr" marT="19050" marB="19050" marL="50800" marR="50800">
                    <a:solidFill>
                      <a:srgbClr val="0E2841"/>
                    </a:solidFill>
                  </a:tcPr>
                </a:tc>
                <a:tc>
                  <a:txBody>
                    <a:bodyPr wrap="square"/>
                    <a:lstStyle/>
                    <a:p>
                      <a:pPr algn="ctr"/>
                      <a:r>
                        <a:rPr sz="1000" b="1">
                          <a:solidFill>
                            <a:srgbClr val="FFFFFF"/>
                          </a:solidFill>
                          <a:latin typeface="Arial"/>
                        </a:rPr>
                        <a:t>Tên Yếu tố Nhiễu trên P-Diagram</a:t>
                      </a:r>
                    </a:p>
                  </a:txBody>
                  <a:tcPr anchor="ctr" marT="19050" marB="19050" marL="50800" marR="50800">
                    <a:solidFill>
                      <a:srgbClr val="0E2841"/>
                    </a:solidFill>
                  </a:tcPr>
                </a:tc>
                <a:tc>
                  <a:txBody>
                    <a:bodyPr wrap="square"/>
                    <a:lstStyle/>
                    <a:p>
                      <a:pPr algn="ctr"/>
                      <a:r>
                        <a:rPr sz="1000" b="1">
                          <a:solidFill>
                            <a:srgbClr val="FFFFFF"/>
                          </a:solidFill>
                          <a:latin typeface="Arial"/>
                        </a:rPr>
                        <a:t>Phương trình / Cơ chế Tiêm Nhiễu vào Mô hình Simulink (Khối 4 &amp; Khối 5)</a:t>
                      </a:r>
                    </a:p>
                  </a:txBody>
                  <a:tcPr anchor="ctr" marT="19050" marB="19050" marL="50800" marR="50800">
                    <a:solidFill>
                      <a:srgbClr val="0E2841"/>
                    </a:solidFill>
                  </a:tcPr>
                </a:tc>
                <a:tc>
                  <a:txBody>
                    <a:bodyPr wrap="square"/>
                    <a:lstStyle/>
                    <a:p>
                      <a:pPr algn="ctr"/>
                      <a:r>
                        <a:rPr sz="1000" b="1">
                          <a:solidFill>
                            <a:srgbClr val="FFFFFF"/>
                          </a:solidFill>
                          <a:latin typeface="Arial"/>
                        </a:rPr>
                        <a:t>Kịch bản Áp dụng</a:t>
                      </a:r>
                    </a:p>
                  </a:txBody>
                  <a:tcPr anchor="ctr" marT="19050" marB="19050" marL="50800" marR="50800">
                    <a:solidFill>
                      <a:srgbClr val="0E2841"/>
                    </a:solidFill>
                  </a:tcPr>
                </a:tc>
              </a:tr>
              <a:tr h="592988">
                <a:tc>
                  <a:txBody>
                    <a:bodyPr wrap="square"/>
                    <a:lstStyle/>
                    <a:p>
                      <a:pPr algn="ctr"/>
                      <a:r>
                        <a:rPr sz="890" i="0" b="1">
                          <a:solidFill>
                            <a:srgbClr val="0E2841"/>
                          </a:solidFill>
                          <a:latin typeface="Arial"/>
                        </a:rPr>
                        <a:t>Noise N1</a:t>
                      </a:r>
                    </a:p>
                  </a:txBody>
                  <a:tcPr anchor="ctr" marT="19050" marB="19050" marL="50800" marR="50800">
                    <a:solidFill>
                      <a:srgbClr val="FEF9E7"/>
                    </a:solidFill>
                  </a:tcPr>
                </a:tc>
                <a:tc>
                  <a:txBody>
                    <a:bodyPr wrap="square"/>
                    <a:lstStyle/>
                    <a:p>
                      <a:pPr algn="l"/>
                      <a:r>
                        <a:rPr sz="890" i="0" b="1">
                          <a:solidFill>
                            <a:srgbClr val="1B1B1B"/>
                          </a:solidFill>
                          <a:latin typeface="Arial"/>
                        </a:rPr>
                        <a:t>Biến thiên khối lượng </a:t>
                      </a:r>
                      <a:r>
                        <a:rPr sz="890" i="0" b="1">
                          <a:solidFill>
                            <a:srgbClr val="0E2841"/>
                          </a:solidFill>
                          <a:latin typeface="Arial"/>
                        </a:rPr>
                        <a:t>7.04 lần</a:t>
                      </a:r>
                      <a:r>
                        <a:rPr sz="890" i="0" b="1">
                          <a:solidFill>
                            <a:srgbClr val="1B1B1B"/>
                          </a:solidFill>
                          <a:latin typeface="Arial"/>
                        </a:rPr>
                        <a:t> &amp; Dao động con lắc cáp </a:t>
                      </a:r>
                      <a:r>
                        <a:rPr sz="890" i="0" b="1">
                          <a:solidFill>
                            <a:srgbClr val="0E2841"/>
                          </a:solidFill>
                          <a:latin typeface="Arial"/>
                        </a:rPr>
                        <a:t>h = 12 m</a:t>
                      </a:r>
                    </a:p>
                  </a:txBody>
                  <a:tcPr anchor="ctr" marT="19050" marB="19050" marL="50800" marR="50800">
                    <a:solidFill>
                      <a:srgbClr val="FEF9E7"/>
                    </a:solidFill>
                  </a:tcPr>
                </a:tc>
                <a:tc>
                  <a:txBody>
                    <a:bodyPr wrap="square"/>
                    <a:lstStyle/>
                    <a:p>
                      <a:pPr algn="l"/>
                      <a:r>
                        <a:rPr sz="890" i="0" b="1">
                          <a:solidFill>
                            <a:srgbClr val="1B1B1B"/>
                          </a:solidFill>
                          <a:latin typeface="Arial"/>
                        </a:rPr>
                        <a:t>• Quét 2 trường hợp biên quán tính: </a:t>
                      </a:r>
                      <a:r>
                        <a:rPr sz="890" i="0" b="1">
                          <a:solidFill>
                            <a:srgbClr val="0E2841"/>
                          </a:solidFill>
                          <a:latin typeface="Arial"/>
                        </a:rPr>
                        <a:t>m_tĩnh = 2,022 kg</a:t>
                      </a:r>
                      <a:r>
                        <a:rPr sz="890" i="0" b="1">
                          <a:solidFill>
                            <a:srgbClr val="1B1B1B"/>
                          </a:solidFill>
                          <a:latin typeface="Arial"/>
                        </a:rPr>
                        <a:t> (không tải) và </a:t>
                      </a:r>
                      <a:r>
                        <a:rPr sz="890" i="0" b="1">
                          <a:solidFill>
                            <a:srgbClr val="0E2841"/>
                          </a:solidFill>
                          <a:latin typeface="Arial"/>
                        </a:rPr>
                        <a:t>M_Σ = 14,244 kg</a:t>
                      </a:r>
                      <a:r>
                        <a:rPr sz="890" i="0" b="1">
                          <a:solidFill>
                            <a:srgbClr val="1B1B1B"/>
                          </a:solidFill>
                          <a:latin typeface="Arial"/>
                        </a:rPr>
                        <a:t> (đầy tải </a:t>
                      </a:r>
                      <a:r>
                        <a:rPr sz="890" i="0" b="1">
                          <a:solidFill>
                            <a:srgbClr val="0E2841"/>
                          </a:solidFill>
                          <a:latin typeface="Arial"/>
                        </a:rPr>
                        <a:t>Q = 12,222 kg</a:t>
                      </a:r>
                      <a:r>
                        <a:rPr sz="890" i="0" b="1">
                          <a:solidFill>
                            <a:srgbClr val="1B1B1B"/>
                          </a:solidFill>
                          <a:latin typeface="Arial"/>
                        </a:rPr>
                        <a:t>).
• Cộng phản lực ngang của cáp lắc </a:t>
                      </a:r>
                      <a:r>
                        <a:rPr sz="890" i="0" b="1">
                          <a:solidFill>
                            <a:srgbClr val="0E2841"/>
                          </a:solidFill>
                          <a:latin typeface="Arial"/>
                        </a:rPr>
                        <a:t>F_lắc(t) = (Q + m_nh)·g·θ(t)</a:t>
                      </a:r>
                      <a:r>
                        <a:rPr sz="890" i="0" b="1">
                          <a:solidFill>
                            <a:srgbClr val="1B1B1B"/>
                          </a:solidFill>
                          <a:latin typeface="Arial"/>
                        </a:rPr>
                        <a:t> với phương trình con lắc </a:t>
                      </a:r>
                      <a:r>
                        <a:rPr sz="890" i="0" b="1">
                          <a:solidFill>
                            <a:srgbClr val="0E2841"/>
                          </a:solidFill>
                          <a:latin typeface="Arial"/>
                        </a:rPr>
                        <a:t>h·θ'' + b_p·θ' + g·θ = a_xe(t)</a:t>
                      </a:r>
                      <a:r>
                        <a:rPr sz="890" i="0" b="1">
                          <a:solidFill>
                            <a:srgbClr val="1B1B1B"/>
                          </a:solidFill>
                          <a:latin typeface="Arial"/>
                        </a:rPr>
                        <a:t> (</a:t>
                      </a:r>
                      <a:r>
                        <a:rPr sz="890" i="0" b="1">
                          <a:solidFill>
                            <a:srgbClr val="0E2841"/>
                          </a:solidFill>
                          <a:latin typeface="Arial"/>
                        </a:rPr>
                        <a:t>ω_p = 0.904 rad/s</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TS-01, TS-02, TS-03</a:t>
                      </a:r>
                    </a:p>
                  </a:txBody>
                  <a:tcPr anchor="ctr" marT="19050" marB="19050" marL="50800" marR="50800">
                    <a:solidFill>
                      <a:srgbClr val="FEF9E7"/>
                    </a:solidFill>
                  </a:tcPr>
                </a:tc>
              </a:tr>
              <a:tr h="592988">
                <a:tc>
                  <a:txBody>
                    <a:bodyPr wrap="square"/>
                    <a:lstStyle/>
                    <a:p>
                      <a:pPr algn="ctr"/>
                      <a:r>
                        <a:rPr sz="890" i="0" b="1">
                          <a:solidFill>
                            <a:srgbClr val="0E2841"/>
                          </a:solidFill>
                          <a:latin typeface="Arial"/>
                        </a:rPr>
                        <a:t>Noise N2</a:t>
                      </a:r>
                    </a:p>
                  </a:txBody>
                  <a:tcPr anchor="ctr" marT="19050" marB="19050" marL="50800" marR="50800">
                    <a:solidFill>
                      <a:srgbClr val="FEF9E7"/>
                    </a:solidFill>
                  </a:tcPr>
                </a:tc>
                <a:tc>
                  <a:txBody>
                    <a:bodyPr wrap="square"/>
                    <a:lstStyle/>
                    <a:p>
                      <a:pPr algn="l"/>
                      <a:r>
                        <a:rPr sz="890" i="0" b="1">
                          <a:solidFill>
                            <a:srgbClr val="1B1B1B"/>
                          </a:solidFill>
                          <a:latin typeface="Arial"/>
                        </a:rPr>
                        <a:t>Dao động điện áp lưới </a:t>
                      </a:r>
                      <a:r>
                        <a:rPr sz="890" i="0" b="1">
                          <a:solidFill>
                            <a:srgbClr val="0E2841"/>
                          </a:solidFill>
                          <a:latin typeface="Arial"/>
                        </a:rPr>
                        <a:t>380V ± 10%</a:t>
                      </a:r>
                      <a:r>
                        <a:rPr sz="890" i="0" b="1">
                          <a:solidFill>
                            <a:srgbClr val="1B1B1B"/>
                          </a:solidFill>
                          <a:latin typeface="Arial"/>
                        </a:rPr>
                        <a:t> (</a:t>
                      </a:r>
                      <a:r>
                        <a:rPr sz="890" i="0" b="1">
                          <a:solidFill>
                            <a:srgbClr val="0E2841"/>
                          </a:solidFill>
                          <a:latin typeface="Arial"/>
                        </a:rPr>
                        <a:t>342 V ÷ 418 V AC, 50 Hz</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1B1B1B"/>
                          </a:solidFill>
                          <a:latin typeface="Arial"/>
                        </a:rPr>
                        <a:t>• Cài đặt nguồn áp 3 pha đầu vào chỉnh lưu ở </a:t>
                      </a:r>
                      <a:r>
                        <a:rPr sz="890" i="0" b="1">
                          <a:solidFill>
                            <a:srgbClr val="0E2841"/>
                          </a:solidFill>
                          <a:latin typeface="Arial"/>
                        </a:rPr>
                        <a:t>342 V AC (-10%)</a:t>
                      </a:r>
                      <a:r>
                        <a:rPr sz="890" i="0" b="1">
                          <a:solidFill>
                            <a:srgbClr val="1B1B1B"/>
                          </a:solidFill>
                          <a:latin typeface="Arial"/>
                        </a:rPr>
                        <a:t> trong </a:t>
                      </a:r>
                      <a:r>
                        <a:rPr sz="890" i="0" b="1">
                          <a:solidFill>
                            <a:srgbClr val="0E2841"/>
                          </a:solidFill>
                          <a:latin typeface="Arial"/>
                        </a:rPr>
                        <a:t>TS-04</a:t>
                      </a:r>
                      <a:r>
                        <a:rPr sz="890" i="0" b="1">
                          <a:solidFill>
                            <a:srgbClr val="1B1B1B"/>
                          </a:solidFill>
                          <a:latin typeface="Arial"/>
                        </a:rPr>
                        <a:t> để kiểm tra dự trữ áp PWM khi gia tốc đầy tải.
• Cài đặt nguồn ở </a:t>
                      </a:r>
                      <a:r>
                        <a:rPr sz="890" i="0" b="1">
                          <a:solidFill>
                            <a:srgbClr val="0E2841"/>
                          </a:solidFill>
                          <a:latin typeface="Arial"/>
                        </a:rPr>
                        <a:t>418 V AC (+10%, tương ứng U_dc0 ≈ 591 V DC)</a:t>
                      </a:r>
                      <a:r>
                        <a:rPr sz="890" i="0" b="1">
                          <a:solidFill>
                            <a:srgbClr val="1B1B1B"/>
                          </a:solidFill>
                          <a:latin typeface="Arial"/>
                        </a:rPr>
                        <a:t> trong </a:t>
                      </a:r>
                      <a:r>
                        <a:rPr sz="890" i="0" b="1">
                          <a:solidFill>
                            <a:srgbClr val="0E2841"/>
                          </a:solidFill>
                          <a:latin typeface="Arial"/>
                        </a:rPr>
                        <a:t>TS-03</a:t>
                      </a:r>
                      <a:r>
                        <a:rPr sz="890" i="0" b="1">
                          <a:solidFill>
                            <a:srgbClr val="1B1B1B"/>
                          </a:solidFill>
                          <a:latin typeface="Arial"/>
                        </a:rPr>
                        <a:t> để kiểm tra ngưỡng kẹp áp </a:t>
                      </a:r>
                      <a:r>
                        <a:rPr sz="890" i="0" b="1">
                          <a:solidFill>
                            <a:srgbClr val="0E2841"/>
                          </a:solidFill>
                          <a:latin typeface="Arial"/>
                        </a:rPr>
                        <a:t>&lt; 780 V DC</a:t>
                      </a:r>
                      <a:r>
                        <a:rPr sz="890" i="0" b="1">
                          <a:solidFill>
                            <a:srgbClr val="1B1B1B"/>
                          </a:solidFill>
                          <a:latin typeface="Arial"/>
                        </a:rPr>
                        <a:t> của Chopper khi hãm.</a:t>
                      </a:r>
                    </a:p>
                  </a:txBody>
                  <a:tcPr anchor="ctr" marT="19050" marB="19050" marL="50800" marR="50800">
                    <a:solidFill>
                      <a:srgbClr val="FEF9E7"/>
                    </a:solidFill>
                  </a:tcPr>
                </a:tc>
                <a:tc>
                  <a:txBody>
                    <a:bodyPr wrap="square"/>
                    <a:lstStyle/>
                    <a:p>
                      <a:pPr algn="l"/>
                      <a:r>
                        <a:rPr sz="890" i="0" b="1">
                          <a:solidFill>
                            <a:srgbClr val="0E2841"/>
                          </a:solidFill>
                          <a:latin typeface="Arial"/>
                        </a:rPr>
                        <a:t>TS-03 (+10%)</a:t>
                      </a:r>
                      <a:r>
                        <a:rPr sz="890" i="0" b="1">
                          <a:solidFill>
                            <a:srgbClr val="1B1B1B"/>
                          </a:solidFill>
                          <a:latin typeface="Arial"/>
                        </a:rPr>
                        <a:t>
</a:t>
                      </a:r>
                      <a:r>
                        <a:rPr sz="890" i="0" b="1">
                          <a:solidFill>
                            <a:srgbClr val="0E2841"/>
                          </a:solidFill>
                          <a:latin typeface="Arial"/>
                        </a:rPr>
                        <a:t>TS-04 (-10%)</a:t>
                      </a:r>
                    </a:p>
                  </a:txBody>
                  <a:tcPr anchor="ctr" marT="19050" marB="19050" marL="50800" marR="50800">
                    <a:solidFill>
                      <a:srgbClr val="FEF9E7"/>
                    </a:solidFill>
                  </a:tcPr>
                </a:tc>
              </a:tr>
              <a:tr h="592988">
                <a:tc>
                  <a:txBody>
                    <a:bodyPr wrap="square"/>
                    <a:lstStyle/>
                    <a:p>
                      <a:pPr algn="ctr"/>
                      <a:r>
                        <a:rPr sz="890" i="0" b="1">
                          <a:solidFill>
                            <a:srgbClr val="0E2841"/>
                          </a:solidFill>
                          <a:latin typeface="Arial"/>
                        </a:rPr>
                        <a:t>Noise N3</a:t>
                      </a:r>
                    </a:p>
                  </a:txBody>
                  <a:tcPr anchor="ctr" marT="19050" marB="19050" marL="50800" marR="50800">
                    <a:solidFill>
                      <a:srgbClr val="FFFFFF"/>
                    </a:solidFill>
                  </a:tcPr>
                </a:tc>
                <a:tc>
                  <a:txBody>
                    <a:bodyPr wrap="square"/>
                    <a:lstStyle/>
                    <a:p>
                      <a:pPr algn="l"/>
                      <a:r>
                        <a:rPr sz="890" i="0" b="0">
                          <a:solidFill>
                            <a:srgbClr val="1B1B1B"/>
                          </a:solidFill>
                          <a:latin typeface="Arial"/>
                        </a:rPr>
                        <a:t>Biến thiên lực cản lăn &amp; Suy giảm hệ số bám ray (</a:t>
                      </a:r>
                      <a:r>
                        <a:rPr sz="890" i="0" b="1">
                          <a:solidFill>
                            <a:srgbClr val="0E2841"/>
                          </a:solidFill>
                          <a:latin typeface="Arial"/>
                        </a:rPr>
                        <a:t>μ = 0.20 → 0.12</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0">
                          <a:solidFill>
                            <a:srgbClr val="1B1B1B"/>
                          </a:solidFill>
                          <a:latin typeface="Arial"/>
                        </a:rPr>
                        <a:t>• Thay đổi lực cản tĩnh quy đổi từ </a:t>
                      </a:r>
                      <a:r>
                        <a:rPr sz="890" i="0" b="1">
                          <a:solidFill>
                            <a:srgbClr val="0E2841"/>
                          </a:solidFill>
                          <a:latin typeface="Arial"/>
                        </a:rPr>
                        <a:t>F_c,không = 3,967 N</a:t>
                      </a:r>
                      <a:r>
                        <a:rPr sz="890" i="0" b="0">
                          <a:solidFill>
                            <a:srgbClr val="1B1B1B"/>
                          </a:solidFill>
                          <a:latin typeface="Arial"/>
                        </a:rPr>
                        <a:t> lên </a:t>
                      </a:r>
                      <a:r>
                        <a:rPr sz="890" i="0" b="1">
                          <a:solidFill>
                            <a:srgbClr val="0E2841"/>
                          </a:solidFill>
                          <a:latin typeface="Arial"/>
                        </a:rPr>
                        <a:t>F_c,đầy = 27,947 N</a:t>
                      </a:r>
                      <a:r>
                        <a:rPr sz="890" i="0" b="0">
                          <a:solidFill>
                            <a:srgbClr val="1B1B1B"/>
                          </a:solidFill>
                          <a:latin typeface="Arial"/>
                        </a:rPr>
                        <a:t>.
• Kiểm tra điều kiện không trượt bánh xe ngay cả khi ray ẩm/dính dầu làm </a:t>
                      </a:r>
                      <a:r>
                        <a:rPr sz="890" i="0" b="1">
                          <a:solidFill>
                            <a:srgbClr val="0E2841"/>
                          </a:solidFill>
                          <a:latin typeface="Arial"/>
                        </a:rPr>
                        <a:t>μ</a:t>
                      </a:r>
                      <a:r>
                        <a:rPr sz="890" i="0" b="0">
                          <a:solidFill>
                            <a:srgbClr val="1B1B1B"/>
                          </a:solidFill>
                          <a:latin typeface="Arial"/>
                        </a:rPr>
                        <a:t> giảm từ </a:t>
                      </a:r>
                      <a:r>
                        <a:rPr sz="890" i="0" b="1">
                          <a:solidFill>
                            <a:srgbClr val="0E2841"/>
                          </a:solidFill>
                          <a:latin typeface="Arial"/>
                        </a:rPr>
                        <a:t>0.20</a:t>
                      </a:r>
                      <a:r>
                        <a:rPr sz="890" i="0" b="0">
                          <a:solidFill>
                            <a:srgbClr val="1B1B1B"/>
                          </a:solidFill>
                          <a:latin typeface="Arial"/>
                        </a:rPr>
                        <a:t> xuống </a:t>
                      </a:r>
                      <a:r>
                        <a:rPr sz="890" i="0" b="1">
                          <a:solidFill>
                            <a:srgbClr val="0E2841"/>
                          </a:solidFill>
                          <a:latin typeface="Arial"/>
                        </a:rPr>
                        <a:t>0.12</a:t>
                      </a:r>
                      <a:r>
                        <a:rPr sz="890" i="0" b="0">
                          <a:solidFill>
                            <a:srgbClr val="1B1B1B"/>
                          </a:solidFill>
                          <a:latin typeface="Arial"/>
                        </a:rPr>
                        <a:t> (</a:t>
                      </a:r>
                      <a:r>
                        <a:rPr sz="890" i="0" b="1">
                          <a:solidFill>
                            <a:srgbClr val="0E2841"/>
                          </a:solidFill>
                          <a:latin typeface="Arial"/>
                        </a:rPr>
                        <a:t>μ_min·g = 1.18 m/s² &gt; a_max = 0.50 m/s²</a:t>
                      </a:r>
                      <a:r>
                        <a:rPr sz="890" i="0" b="0">
                          <a:solidFill>
                            <a:srgbClr val="1B1B1B"/>
                          </a:solidFill>
                          <a:latin typeface="Arial"/>
                        </a:rPr>
                        <a:t>).</a:t>
                      </a:r>
                    </a:p>
                  </a:txBody>
                  <a:tcPr anchor="ctr" marT="19050" marB="19050" marL="50800" marR="50800">
                    <a:solidFill>
                      <a:srgbClr val="FFFFFF"/>
                    </a:solidFill>
                  </a:tcPr>
                </a:tc>
                <a:tc>
                  <a:txBody>
                    <a:bodyPr wrap="square"/>
                    <a:lstStyle/>
                    <a:p>
                      <a:pPr algn="l"/>
                      <a:r>
                        <a:rPr sz="890" i="0" b="1">
                          <a:solidFill>
                            <a:srgbClr val="0E2841"/>
                          </a:solidFill>
                          <a:latin typeface="Arial"/>
                        </a:rPr>
                        <a:t>TS-01, TS-02</a:t>
                      </a:r>
                    </a:p>
                  </a:txBody>
                  <a:tcPr anchor="ctr" marT="19050" marB="19050" marL="50800" marR="50800">
                    <a:solidFill>
                      <a:srgbClr val="FFFFFF"/>
                    </a:solidFill>
                  </a:tcPr>
                </a:tc>
              </a:tr>
              <a:tr h="592988">
                <a:tc>
                  <a:txBody>
                    <a:bodyPr wrap="square"/>
                    <a:lstStyle/>
                    <a:p>
                      <a:pPr algn="ctr"/>
                      <a:r>
                        <a:rPr sz="890" i="0" b="1">
                          <a:solidFill>
                            <a:srgbClr val="0E2841"/>
                          </a:solidFill>
                          <a:latin typeface="Arial"/>
                        </a:rPr>
                        <a:t>Noise N4</a:t>
                      </a:r>
                    </a:p>
                  </a:txBody>
                  <a:tcPr anchor="ctr" marT="19050" marB="19050" marL="50800" marR="50800">
                    <a:solidFill>
                      <a:srgbClr val="FEF9E7"/>
                    </a:solidFill>
                  </a:tcPr>
                </a:tc>
                <a:tc>
                  <a:txBody>
                    <a:bodyPr wrap="square"/>
                    <a:lstStyle/>
                    <a:p>
                      <a:pPr algn="l"/>
                      <a:r>
                        <a:rPr sz="890" i="0" b="1">
                          <a:solidFill>
                            <a:srgbClr val="1B1B1B"/>
                          </a:solidFill>
                          <a:latin typeface="Arial"/>
                        </a:rPr>
                        <a:t>Nhiệt độ môi trường </a:t>
                      </a:r>
                      <a:r>
                        <a:rPr sz="890" i="0" b="1">
                          <a:solidFill>
                            <a:srgbClr val="0E2841"/>
                          </a:solidFill>
                          <a:latin typeface="Arial"/>
                        </a:rPr>
                        <a:t>40°C</a:t>
                      </a:r>
                      <a:r>
                        <a:rPr sz="890" i="0" b="1">
                          <a:solidFill>
                            <a:srgbClr val="1B1B1B"/>
                          </a:solidFill>
                          <a:latin typeface="Arial"/>
                        </a:rPr>
                        <a:t> làm trôi điện trở rô-to </a:t>
                      </a:r>
                      <a:r>
                        <a:rPr sz="890" i="0" b="1">
                          <a:solidFill>
                            <a:srgbClr val="0E2841"/>
                          </a:solidFill>
                          <a:latin typeface="Arial"/>
                        </a:rPr>
                        <a:t>R_r (+20% ÷ 25%)</a:t>
                      </a:r>
                    </a:p>
                  </a:txBody>
                  <a:tcPr anchor="ctr" marT="19050" marB="19050" marL="50800" marR="50800">
                    <a:solidFill>
                      <a:srgbClr val="FEF9E7"/>
                    </a:solidFill>
                  </a:tcPr>
                </a:tc>
                <a:tc>
                  <a:txBody>
                    <a:bodyPr wrap="square"/>
                    <a:lstStyle/>
                    <a:p>
                      <a:pPr algn="l"/>
                      <a:r>
                        <a:rPr sz="890" i="0" b="1">
                          <a:solidFill>
                            <a:srgbClr val="1B1B1B"/>
                          </a:solidFill>
                          <a:latin typeface="Arial"/>
                        </a:rPr>
                        <a:t>• Tăng tham số điện trở rô-to và stato trong mô hình động cơ KĐB thêm </a:t>
                      </a:r>
                      <a:r>
                        <a:rPr sz="890" i="0" b="1">
                          <a:solidFill>
                            <a:srgbClr val="0E2841"/>
                          </a:solidFill>
                          <a:latin typeface="Arial"/>
                        </a:rPr>
                        <a:t>+25%</a:t>
                      </a:r>
                      <a:r>
                        <a:rPr sz="890" i="0" b="1">
                          <a:solidFill>
                            <a:srgbClr val="1B1B1B"/>
                          </a:solidFill>
                          <a:latin typeface="Arial"/>
                        </a:rPr>
                        <a:t> tương ứng với độ tăng nhiệt ở chế độ </a:t>
                      </a:r>
                      <a:r>
                        <a:rPr sz="890" i="0" b="1">
                          <a:solidFill>
                            <a:srgbClr val="0E2841"/>
                          </a:solidFill>
                          <a:latin typeface="Arial"/>
                        </a:rPr>
                        <a:t>S3-40% (T_amb = 40°C)</a:t>
                      </a:r>
                      <a:r>
                        <a:rPr sz="890" i="0" b="1">
                          <a:solidFill>
                            <a:srgbClr val="1B1B1B"/>
                          </a:solidFill>
                          <a:latin typeface="Arial"/>
                        </a:rPr>
                        <a:t> để kiểm chứng độ bền vững của vòng điều chỉnh </a:t>
                      </a:r>
                      <a:r>
                        <a:rPr sz="890" i="0" b="1">
                          <a:solidFill>
                            <a:srgbClr val="0E2841"/>
                          </a:solidFill>
                          <a:latin typeface="Arial"/>
                        </a:rPr>
                        <a:t>RFOC</a:t>
                      </a:r>
                      <a:r>
                        <a:rPr sz="890" i="0" b="1">
                          <a:solidFill>
                            <a:srgbClr val="1B1B1B"/>
                          </a:solidFill>
                          <a:latin typeface="Arial"/>
                        </a:rPr>
                        <a:t>.</a:t>
                      </a:r>
                    </a:p>
                  </a:txBody>
                  <a:tcPr anchor="ctr" marT="19050" marB="19050" marL="50800" marR="50800">
                    <a:solidFill>
                      <a:srgbClr val="FEF9E7"/>
                    </a:solidFill>
                  </a:tcPr>
                </a:tc>
                <a:tc>
                  <a:txBody>
                    <a:bodyPr wrap="square"/>
                    <a:lstStyle/>
                    <a:p>
                      <a:pPr algn="l"/>
                      <a:r>
                        <a:rPr sz="890" i="0" b="1">
                          <a:solidFill>
                            <a:srgbClr val="0E2841"/>
                          </a:solidFill>
                          <a:latin typeface="Arial"/>
                        </a:rPr>
                        <a:t>TS-04</a:t>
                      </a:r>
                    </a:p>
                  </a:txBody>
                  <a:tcPr anchor="ctr" marT="19050" marB="19050" marL="50800" marR="50800">
                    <a:solidFill>
                      <a:srgbClr val="FEF9E7"/>
                    </a:solidFill>
                  </a:tcPr>
                </a:tc>
              </a:tr>
            </a:tbl>
          </a:graphicData>
        </a:graphic>
      </p:graphicFrame>
      <p:sp>
        <p:nvSpPr>
          <p:cNvPr id="6" name="Rounded Rectangle 5"/>
          <p:cNvSpPr/>
          <p:nvPr/>
        </p:nvSpPr>
        <p:spPr>
          <a:xfrm>
            <a:off x="310896" y="4187952"/>
            <a:ext cx="11567160" cy="2011680"/>
          </a:xfrm>
          <a:prstGeom prst="roundRect">
            <a:avLst>
              <a:gd name="adj" fmla="val 3000"/>
            </a:avLst>
          </a:prstGeom>
          <a:solidFill>
            <a:srgbClr val="FEF9E7"/>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noAutofit/>
          </a:bodyPr>
          <a:lstStyle/>
          <a:p>
            <a:pPr algn="ctr">
              <a:spcAft>
                <a:spcPts val="200"/>
              </a:spcAft>
            </a:pPr>
            <a:r>
              <a:rPr sz="1080" b="1">
                <a:solidFill>
                  <a:srgbClr val="0E2841"/>
                </a:solidFill>
                <a:latin typeface="Arial"/>
              </a:rPr>
              <a:t>MINH HỌA CẤU TRÚC KÉP (DUAL-STRUCTURE DVP&amp;R): NHÁNH TRÁI V-MODEL (PLAN @ GATE 2) ↔ NHÁNH PHẢI V-MODEL (REPORT @ GATE 5)</a:t>
            </a:r>
          </a:p>
          <a:p>
            <a:pPr>
              <a:spcAft>
                <a:spcPts val="150"/>
              </a:spcAft>
            </a:pPr>
            <a:r>
              <a:rPr sz="980" i="0" b="0">
                <a:solidFill>
                  <a:srgbClr val="1B1B1B"/>
                </a:solidFill>
                <a:latin typeface="Arial"/>
              </a:rPr>
              <a:t>• </a:t>
            </a:r>
            <a:r>
              <a:rPr sz="980" i="0" b="1">
                <a:solidFill>
                  <a:srgbClr val="0E2841"/>
                </a:solidFill>
                <a:latin typeface="Arial"/>
              </a:rPr>
              <a:t>Tại Cổng Gate 2 (Khối 1 — SRR-EVT hiện tại):</a:t>
            </a:r>
            <a:r>
              <a:rPr sz="980" i="0" b="0">
                <a:solidFill>
                  <a:srgbClr val="1B1B1B"/>
                </a:solidFill>
                <a:latin typeface="Arial"/>
              </a:rPr>
              <a:t> Khóa cứng 6 cột thuộc </a:t>
            </a:r>
            <a:r>
              <a:rPr sz="980" i="0" b="1">
                <a:solidFill>
                  <a:srgbClr val="0E2841"/>
                </a:solidFill>
                <a:latin typeface="Arial"/>
              </a:rPr>
              <a:t>Kế hoạch Kiểm chứng (DVP — Design Verification Plan)</a:t>
            </a:r>
            <a:r>
              <a:rPr sz="980" i="0" b="0">
                <a:solidFill>
                  <a:srgbClr val="1B1B1B"/>
                </a:solidFill>
                <a:latin typeface="Arial"/>
              </a:rPr>
              <a:t>: `[1. Mã DVP-L0]` → `[2. Mã SRS &amp; CTQ/CTS]` → `[3. Phương pháp (A/S/I)]` → `[4. Kịch bản TS-01..04 &amp; Nhiễu N1..N4]` → `[5. Đại lượng đo &amp; Chuẩn trích xuất Simulink]` → `[6. Tiêu chí Nghiệm thu PASS/FAIL định lượng]`.</a:t>
            </a:r>
          </a:p>
          <a:p>
            <a:pPr>
              <a:spcAft>
                <a:spcPts val="150"/>
              </a:spcAft>
            </a:pPr>
            <a:r>
              <a:rPr sz="980" i="0" b="0">
                <a:solidFill>
                  <a:srgbClr val="1B1B1B"/>
                </a:solidFill>
                <a:latin typeface="Arial"/>
              </a:rPr>
              <a:t>• </a:t>
            </a:r>
            <a:r>
              <a:rPr sz="980" i="0" b="1">
                <a:solidFill>
                  <a:srgbClr val="0E2841"/>
                </a:solidFill>
                <a:latin typeface="Arial"/>
              </a:rPr>
              <a:t>Tại Cổng Gate 5 (Khối 5 — ORR-EVT cuối kỳ):</a:t>
            </a:r>
            <a:r>
              <a:rPr sz="980" i="0" b="0">
                <a:solidFill>
                  <a:srgbClr val="1B1B1B"/>
                </a:solidFill>
                <a:latin typeface="Arial"/>
              </a:rPr>
              <a:t> Điền kết quả thực tế vào 3 cột thuộc </a:t>
            </a:r>
            <a:r>
              <a:rPr sz="980" i="0" b="1">
                <a:solidFill>
                  <a:srgbClr val="0E2841"/>
                </a:solidFill>
                <a:latin typeface="Arial"/>
              </a:rPr>
              <a:t>Báo cáo Kiểm chứng (&amp;R — and Report)</a:t>
            </a:r>
            <a:r>
              <a:rPr sz="980" i="0" b="0">
                <a:solidFill>
                  <a:srgbClr val="1B1B1B"/>
                </a:solidFill>
                <a:latin typeface="Arial"/>
              </a:rPr>
              <a:t>: `[7. Giá trị Đo được từ Simulink (Measured Value)]` → `[8. Độ dự trữ An toàn (Design Margin %)]` → `[9. Kết luận Nghiệm thu (PASS / FAIL)]`.</a:t>
            </a:r>
          </a:p>
          <a:p>
            <a:pPr>
              <a:spcAft>
                <a:spcPts val="150"/>
              </a:spcAft>
            </a:pPr>
            <a:r>
              <a:rPr sz="980" i="0" b="0">
                <a:solidFill>
                  <a:srgbClr val="1B1B1B"/>
                </a:solidFill>
                <a:latin typeface="Arial"/>
              </a:rPr>
              <a:t>• </a:t>
            </a:r>
            <a:r>
              <a:rPr sz="980" i="0" b="1">
                <a:solidFill>
                  <a:srgbClr val="0E2841"/>
                </a:solidFill>
                <a:latin typeface="Arial"/>
              </a:rPr>
              <a:t>Ý nghĩa SE:</a:t>
            </a:r>
            <a:r>
              <a:rPr sz="980" i="0" b="0">
                <a:solidFill>
                  <a:srgbClr val="1B1B1B"/>
                </a:solidFill>
                <a:latin typeface="Arial"/>
              </a:rPr>
              <a:t> Ngăn chặn triệt để hiện tượng *'chạy mô phỏng ra số bao nhiêu rồi mới sửa lại tiêu chí nghiệm thu cho khớp'* — đảm bảo tính khách quan 100% theo chuẩn </a:t>
            </a:r>
            <a:r>
              <a:rPr sz="980" i="0" b="1">
                <a:solidFill>
                  <a:srgbClr val="0E2841"/>
                </a:solidFill>
                <a:latin typeface="Arial"/>
              </a:rPr>
              <a:t>NASA SP-2016-6105</a:t>
            </a:r>
            <a:r>
              <a:rPr sz="980" i="0" b="0">
                <a:solidFill>
                  <a:srgbClr val="1B1B1B"/>
                </a:solidFill>
                <a:latin typeface="Arial"/>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73152"/>
            <a:ext cx="11612880" cy="457200"/>
          </a:xfrm>
          <a:prstGeom prst="rect">
            <a:avLst/>
          </a:prstGeom>
          <a:noFill/>
        </p:spPr>
        <p:txBody>
          <a:bodyPr wrap="square" anchor="ctr" lIns="25400" tIns="25400" rIns="25400" bIns="25400">
            <a:spAutoFit/>
          </a:bodyPr>
          <a:lstStyle/>
          <a:p>
            <a:r>
              <a:rPr sz="2000" b="1">
                <a:solidFill>
                  <a:srgbClr val="FFFFFF"/>
                </a:solidFill>
                <a:latin typeface="Arial"/>
              </a:rPr>
              <a:t>[BACKUP B1-7] SƠ ĐỒ 10 GIAO DIỆN VẬT LÝ (IF-01÷10) &amp; V-MODEL TRUY VẾT DỰ ÁN</a:t>
            </a:r>
          </a:p>
        </p:txBody>
      </p:sp>
      <p:sp>
        <p:nvSpPr>
          <p:cNvPr id="3" name="TextBox 2"/>
          <p:cNvSpPr txBox="1"/>
          <p:nvPr/>
        </p:nvSpPr>
        <p:spPr>
          <a:xfrm>
            <a:off x="310896" y="768096"/>
            <a:ext cx="11567160" cy="438912"/>
          </a:xfrm>
          <a:prstGeom prst="rect">
            <a:avLst/>
          </a:prstGeom>
          <a:noFill/>
        </p:spPr>
        <p:txBody>
          <a:bodyPr wrap="square" anchor="ctr" lIns="12700" tIns="12700" rIns="12700" bIns="12700">
            <a:spAutoFit/>
          </a:bodyPr>
          <a:lstStyle/>
          <a:p>
            <a:r>
              <a:rPr sz="1350" i="0" b="1">
                <a:solidFill>
                  <a:srgbClr val="C00000"/>
                </a:solidFill>
                <a:latin typeface="Arial"/>
              </a:rPr>
              <a:t>Bản vẽ chuẩn </a:t>
            </a:r>
            <a:r>
              <a:rPr sz="1350" i="0" b="1">
                <a:solidFill>
                  <a:srgbClr val="0E2841"/>
                </a:solidFill>
                <a:latin typeface="Arial"/>
              </a:rPr>
              <a:t>Draw.io (300 DPI)</a:t>
            </a:r>
            <a:r>
              <a:rPr sz="1350" i="0" b="1">
                <a:solidFill>
                  <a:srgbClr val="C00000"/>
                </a:solidFill>
                <a:latin typeface="Arial"/>
              </a:rPr>
              <a:t> mô tả </a:t>
            </a:r>
            <a:r>
              <a:rPr sz="1350" i="0" b="1">
                <a:solidFill>
                  <a:srgbClr val="0E2841"/>
                </a:solidFill>
                <a:latin typeface="Arial"/>
              </a:rPr>
              <a:t>10 luồng Giao diện Vật lý</a:t>
            </a:r>
            <a:r>
              <a:rPr sz="1350" i="0" b="1">
                <a:solidFill>
                  <a:srgbClr val="C00000"/>
                </a:solidFill>
                <a:latin typeface="Arial"/>
              </a:rPr>
              <a:t> và vị trí </a:t>
            </a:r>
            <a:r>
              <a:rPr sz="1350" i="0" b="1">
                <a:solidFill>
                  <a:srgbClr val="0E2841"/>
                </a:solidFill>
                <a:latin typeface="Arial"/>
              </a:rPr>
              <a:t>Khối 1 (Gate 2: SRR-EVT)</a:t>
            </a:r>
            <a:r>
              <a:rPr sz="1350" i="0" b="1">
                <a:solidFill>
                  <a:srgbClr val="C00000"/>
                </a:solidFill>
                <a:latin typeface="Arial"/>
              </a:rPr>
              <a:t> trong </a:t>
            </a:r>
            <a:r>
              <a:rPr sz="1350" i="0" b="1">
                <a:solidFill>
                  <a:srgbClr val="0E2841"/>
                </a:solidFill>
                <a:latin typeface="Arial"/>
              </a:rPr>
              <a:t>V-Model</a:t>
            </a:r>
          </a:p>
        </p:txBody>
      </p:sp>
      <p:sp>
        <p:nvSpPr>
          <p:cNvPr id="4" name="TextBox 3"/>
          <p:cNvSpPr txBox="1"/>
          <p:nvPr/>
        </p:nvSpPr>
        <p:spPr>
          <a:xfrm>
            <a:off x="3840480" y="6510528"/>
            <a:ext cx="8092440" cy="274320"/>
          </a:xfrm>
          <a:prstGeom prst="rect">
            <a:avLst/>
          </a:prstGeom>
          <a:noFill/>
        </p:spPr>
        <p:txBody>
          <a:bodyPr wrap="none" lIns="12700" tIns="12700" rIns="12700" bIns="12700">
            <a:spAutoFit/>
          </a:bodyPr>
          <a:lstStyle/>
          <a:p>
            <a:pPr algn="r"/>
            <a:r>
              <a:rPr sz="1050" b="1">
                <a:solidFill>
                  <a:srgbClr val="595959"/>
                </a:solidFill>
                <a:latin typeface="Arial"/>
              </a:rPr>
              <a:t>Nhóm 8.5-EMG (Đề x=2: Q=12,222 kg) | Backup B1-7 — 10 Physical Interfaces &amp; Full V-Model Traceability (Draw.io 06 &amp; 02) | Backup B1-7 (23/23)</a:t>
            </a:r>
          </a:p>
        </p:txBody>
      </p:sp>
      <p:sp>
        <p:nvSpPr>
          <p:cNvPr id="5" name="Rounded Rectangle 4"/>
          <p:cNvSpPr/>
          <p:nvPr/>
        </p:nvSpPr>
        <p:spPr>
          <a:xfrm>
            <a:off x="310896" y="1234440"/>
            <a:ext cx="5669280" cy="4965192"/>
          </a:xfrm>
          <a:prstGeom prst="roundRect">
            <a:avLst>
              <a:gd name="adj" fmla="val 2000"/>
            </a:avLst>
          </a:prstGeom>
          <a:solidFill>
            <a:srgbClr val="FFFFFF"/>
          </a:solidFill>
          <a:ln w="12700">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5888736"/>
            <a:ext cx="5596128" cy="292608"/>
          </a:xfrm>
          <a:prstGeom prst="rect">
            <a:avLst/>
          </a:prstGeom>
          <a:noFill/>
        </p:spPr>
        <p:txBody>
          <a:bodyPr wrap="square" anchor="ctr" lIns="12700" tIns="12700" rIns="12700" bIns="12700">
            <a:spAutoFit/>
          </a:bodyPr>
          <a:lstStyle/>
          <a:p>
            <a:pPr algn="ctr"/>
            <a:r>
              <a:rPr sz="880" b="1" i="1">
                <a:solidFill>
                  <a:srgbClr val="0E2841"/>
                </a:solidFill>
                <a:latin typeface="Arial"/>
              </a:rPr>
              <a:t>Sơ đồ 06 (Draw.io 300 DPI): Bản đồ 10 Giao diện Vật lý IF-01 ÷ IF-10 ([P], [E], [I], [M])</a:t>
            </a:r>
          </a:p>
        </p:txBody>
      </p:sp>
      <p:sp>
        <p:nvSpPr>
          <p:cNvPr id="7" name="Rounded Rectangle 6"/>
          <p:cNvSpPr/>
          <p:nvPr/>
        </p:nvSpPr>
        <p:spPr>
          <a:xfrm>
            <a:off x="6172200" y="1234440"/>
            <a:ext cx="5705856" cy="4965192"/>
          </a:xfrm>
          <a:prstGeom prst="roundRect">
            <a:avLst>
              <a:gd name="adj" fmla="val 2000"/>
            </a:avLst>
          </a:prstGeom>
          <a:solidFill>
            <a:srgbClr val="FFFFFF"/>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rawio_02_vmodel_full.png"/>
          <p:cNvPicPr>
            <a:picLocks noChangeAspect="1"/>
          </p:cNvPicPr>
          <p:nvPr/>
        </p:nvPicPr>
        <p:blipFill>
          <a:blip r:embed="rId3"/>
          <a:stretch>
            <a:fillRect/>
          </a:stretch>
        </p:blipFill>
        <p:spPr>
          <a:xfrm>
            <a:off x="6217920" y="1757922"/>
            <a:ext cx="5614416" cy="3630190"/>
          </a:xfrm>
          <a:prstGeom prst="rect">
            <a:avLst/>
          </a:prstGeom>
        </p:spPr>
      </p:pic>
      <p:sp>
        <p:nvSpPr>
          <p:cNvPr id="9" name="TextBox 8"/>
          <p:cNvSpPr txBox="1"/>
          <p:nvPr/>
        </p:nvSpPr>
        <p:spPr>
          <a:xfrm>
            <a:off x="6208776" y="5888736"/>
            <a:ext cx="5632704" cy="292608"/>
          </a:xfrm>
          <a:prstGeom prst="rect">
            <a:avLst/>
          </a:prstGeom>
          <a:noFill/>
        </p:spPr>
        <p:txBody>
          <a:bodyPr wrap="square" anchor="ctr" lIns="12700" tIns="12700" rIns="12700" bIns="12700">
            <a:spAutoFit/>
          </a:bodyPr>
          <a:lstStyle/>
          <a:p>
            <a:pPr algn="ctr"/>
            <a:r>
              <a:rPr sz="880" b="1" i="1">
                <a:solidFill>
                  <a:srgbClr val="0E2841"/>
                </a:solidFill>
                <a:latin typeface="Arial"/>
              </a:rPr>
              <a:t>Sơ đồ 02 (Draw.io 300 DPI): Chuỗi Truy xuất Tài liệu &amp; Đối xứng V-Model (Gate 2 ↔ Gate 5)</a:t>
            </a:r>
          </a:p>
        </p:txBody>
      </p:sp>
    </p:spTree>
  </p:cSld>
  <p:clrMapOvr>
    <a:masterClrMapping/>
  </p:clrMapOvr>
</p:sld>
</file>

<file path=ppt/theme/theme1.xml><?xml version="1.0" encoding="utf-8"?>
<a:theme xmlns:a="http://schemas.openxmlformats.org/drawingml/2006/main" name="Chủ đề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14991816B2FA4A94D7FC0BF0811C1F" ma:contentTypeVersion="13" ma:contentTypeDescription="Create a new document." ma:contentTypeScope="" ma:versionID="40cdf67a8bbbe16265aea6c2950646b3">
  <xsd:schema xmlns:xsd="http://www.w3.org/2001/XMLSchema" xmlns:xs="http://www.w3.org/2001/XMLSchema" xmlns:p="http://schemas.microsoft.com/office/2006/metadata/properties" xmlns:ns3="f75319bb-6edc-40ae-a8a9-28adcf06fbad" targetNamespace="http://schemas.microsoft.com/office/2006/metadata/properties" ma:root="true" ma:fieldsID="bdc2ad66483802274ab917d2fd2b4f69" ns3:_="">
    <xsd:import namespace="f75319bb-6edc-40ae-a8a9-28adcf06fba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ServiceOCR" minOccurs="0"/>
                <xsd:element ref="ns3:_activity" minOccurs="0"/>
                <xsd:element ref="ns3:MediaLengthInSeconds"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5319bb-6edc-40ae-a8a9-28adcf06fb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75319bb-6edc-40ae-a8a9-28adcf06fbad" xsi:nil="true"/>
  </documentManagement>
</p:properties>
</file>

<file path=customXml/itemProps1.xml><?xml version="1.0" encoding="utf-8"?>
<ds:datastoreItem xmlns:ds="http://schemas.openxmlformats.org/officeDocument/2006/customXml" ds:itemID="{D147D9E5-1ECD-4F82-A752-A247019433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5319bb-6edc-40ae-a8a9-28adcf06f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0E43D1-23FD-4B01-9D15-7C21257B7506}">
  <ds:schemaRefs>
    <ds:schemaRef ds:uri="http://schemas.microsoft.com/sharepoint/v3/contenttype/forms"/>
  </ds:schemaRefs>
</ds:datastoreItem>
</file>

<file path=customXml/itemProps3.xml><?xml version="1.0" encoding="utf-8"?>
<ds:datastoreItem xmlns:ds="http://schemas.openxmlformats.org/officeDocument/2006/customXml" ds:itemID="{FEDA8138-F0F9-437E-84EB-8FE67C0C1AF5}">
  <ds:schemaRefs>
    <ds:schemaRef ds:uri="http://purl.org/dc/dcmitype/"/>
    <ds:schemaRef ds:uri="http://purl.org/dc/terms/"/>
    <ds:schemaRef ds:uri="http://schemas.microsoft.com/office/2006/documentManagement/types"/>
    <ds:schemaRef ds:uri="http://schemas.openxmlformats.org/package/2006/metadata/core-properties"/>
    <ds:schemaRef ds:uri="f75319bb-6edc-40ae-a8a9-28adcf06fbad"/>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361</TotalTime>
  <Words>3953</Words>
  <Application>Microsoft Office PowerPoint</Application>
  <PresentationFormat>Widescreen</PresentationFormat>
  <Paragraphs>258</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Wingdings</vt:lpstr>
      <vt:lpstr>Times New Roman</vt:lpstr>
      <vt:lpstr>Lato</vt:lpstr>
      <vt:lpstr>Play</vt:lpstr>
      <vt:lpstr>Arial</vt:lpstr>
      <vt:lpstr>Noto Sans Symbols</vt:lpstr>
      <vt:lpstr>Cambria Math</vt:lpstr>
      <vt:lpstr>Chủ đề Office</vt:lpstr>
      <vt:lpstr>PowerPoint Presentation</vt:lpstr>
      <vt:lpstr>NỘI DUNG CHÍNH</vt:lpstr>
      <vt:lpstr>PowerPoint Presentation</vt:lpstr>
      <vt:lpstr>PowerPoint Presentation</vt:lpstr>
      <vt:lpstr>1. TÀI LIỆU YÊU CẦU SẢN PHẨM</vt:lpstr>
      <vt:lpstr>1. TÀI LIỆU YÊU CẦU SẢN PHẨM</vt:lpstr>
      <vt:lpstr>1. TÀI LIỆU YÊU CẦU SẢN PHẨM</vt:lpstr>
      <vt:lpstr>1. TÀI LIỆU YÊU CẦU SẢN PHẨM</vt:lpstr>
      <vt:lpstr>1. TÀI LIỆU YÊU CẦU SẢN PHẨM</vt:lpstr>
      <vt:lpstr>2. PHÂN TÍCH CASE STUDY</vt:lpstr>
      <vt:lpstr>2. PHÂN TÍCH CASE STUDY</vt:lpstr>
      <vt:lpstr>2. PHÂN TÍCH CASE STUDY</vt:lpstr>
      <vt:lpstr>2. PHÂN TÍCH CASE STUDY</vt:lpstr>
      <vt:lpstr>2. PHÂN TÍCH CASE STUDY</vt:lpstr>
      <vt:lpstr>3. MÔ TẢ NGUYÊN LÝ CÔNG NGHỆ</vt:lpstr>
      <vt:lpstr>3. MÔ TẢ NGUYÊN LÝ CÔNG NGHỆ</vt:lpstr>
      <vt:lpstr>3. MÔ TẢ NGUYÊN LÝ CÔNG NGHỆ</vt:lpstr>
      <vt:lpstr>PowerPoint Presentation</vt:lpstr>
      <vt:lpstr>PowerPoint Presentation</vt:lpstr>
      <vt:lpstr>PowerPoint Presentation</vt:lpstr>
      <vt:lpstr>PowerPoint Presentation</vt:lpstr>
      <vt:lpstr>PowerPoint Presentation</vt:lpstr>
      <vt:lpstr>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Tran Duc Huan 20212823</dc:creator>
  <cp:lastModifiedBy>Nghiem Trong Dong 20232001</cp:lastModifiedBy>
  <cp:revision>35</cp:revision>
  <dcterms:created xsi:type="dcterms:W3CDTF">2024-11-11T01:18:40Z</dcterms:created>
  <dcterms:modified xsi:type="dcterms:W3CDTF">2026-10-17T04:36:40Z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0x0101003F14991816B2FA4A94D7FC0BF0811C1F</vt:lpwstr>
  </property>
</Properties>
</file>